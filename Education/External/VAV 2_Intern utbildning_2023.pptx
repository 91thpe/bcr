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Override19.xml" ContentType="application/vnd.openxmlformats-officedocument.themeOverr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18.xml" ContentType="application/vnd.openxmlformats-officedocument.themeOverride+xml"/>
  <Override PartName="/ppt/theme/themeOverride3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17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5.xml" ContentType="application/vnd.openxmlformats-officedocument.presentationml.tags+xml"/>
  <Override PartName="/ppt/tags/tag21.xml" ContentType="application/vnd.openxmlformats-officedocument.presentationml.tags+xml"/>
  <Override PartName="/ppt/tags/tag23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9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2.xml" ContentType="application/vnd.openxmlformats-officedocument.presentationml.tags+xml"/>
  <Override PartName="/ppt/tags/tag17.xml" ContentType="application/vnd.openxmlformats-officedocument.presentationml.tags+xml"/>
  <Override PartName="/ppt/tags/tag20.xml" ContentType="application/vnd.openxmlformats-officedocument.presentationml.tags+xml"/>
  <Override PartName="/ppt/tags/tag24.xml" ContentType="application/vnd.openxmlformats-officedocument.presentationml.tags+xml"/>
  <Override PartName="/ppt/tags/tag18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81" r:id="rId4"/>
    <p:sldId id="266" r:id="rId5"/>
    <p:sldId id="262" r:id="rId6"/>
    <p:sldId id="263" r:id="rId7"/>
    <p:sldId id="267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0" r:id="rId16"/>
    <p:sldId id="289" r:id="rId17"/>
    <p:sldId id="264" r:id="rId18"/>
    <p:sldId id="278" r:id="rId19"/>
    <p:sldId id="279" r:id="rId20"/>
    <p:sldId id="260" r:id="rId21"/>
  </p:sldIdLst>
  <p:sldSz cx="12192000" cy="6858000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2/21/2023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sv-SE" dirty="0"/>
              <a:t>Effekten</a:t>
            </a:r>
            <a:r>
              <a:rPr lang="sv-SE" baseline="0" dirty="0"/>
              <a:t> ökar i kubik med luftflödet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1EE94-93F6-41DF-9CD5-7BE2E44F2B80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18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26 april, 2021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Klicka</a:t>
            </a:r>
            <a:r>
              <a:rPr lang="en-US" dirty="0"/>
              <a:t> om du </a:t>
            </a:r>
            <a:r>
              <a:rPr lang="en-US" dirty="0" err="1"/>
              <a:t>vill</a:t>
            </a:r>
            <a:r>
              <a:rPr lang="en-US" dirty="0"/>
              <a:t> </a:t>
            </a:r>
            <a:r>
              <a:rPr lang="en-US" dirty="0" err="1"/>
              <a:t>redigera</a:t>
            </a:r>
            <a:r>
              <a:rPr lang="en-US" dirty="0"/>
              <a:t> mall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26 april, 2021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Klicka</a:t>
            </a:r>
            <a:r>
              <a:rPr lang="en-US" dirty="0"/>
              <a:t> om du </a:t>
            </a:r>
            <a:r>
              <a:rPr lang="en-US" dirty="0" err="1"/>
              <a:t>vill</a:t>
            </a:r>
            <a:r>
              <a:rPr lang="en-US" dirty="0"/>
              <a:t> </a:t>
            </a:r>
            <a:r>
              <a:rPr lang="en-US" dirty="0" err="1"/>
              <a:t>redigera</a:t>
            </a:r>
            <a:r>
              <a:rPr lang="en-US" dirty="0"/>
              <a:t> mall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Klicka</a:t>
            </a:r>
            <a:r>
              <a:rPr lang="en-US" dirty="0"/>
              <a:t> om du </a:t>
            </a:r>
            <a:r>
              <a:rPr lang="en-US" dirty="0" err="1"/>
              <a:t>vill</a:t>
            </a:r>
            <a:r>
              <a:rPr lang="en-US" dirty="0"/>
              <a:t> </a:t>
            </a:r>
            <a:r>
              <a:rPr lang="en-US" dirty="0" err="1"/>
              <a:t>redigera</a:t>
            </a:r>
            <a:r>
              <a:rPr lang="en-US" dirty="0"/>
              <a:t> mall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26 april, 2021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53465F-7260-4619-8C97-4B4D11A110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89224B0-563C-45A5-A8DA-70570522BFC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4F4C60-AA0B-44F0-B983-109F0564B7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B7042A-5EDC-42AD-BD99-197728222F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1C03AC-235F-4814-A387-ACDB2ED61A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9101ED-B3CD-4E42-B608-ED767A76E93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614167-F99B-4CF7-803C-8DC5E27E10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9814C6-798C-4BB4-BD9E-A2ABD37005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C94398-7602-4CD1-A2A7-ED13174A9D8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medieklipp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5CF704-F8B3-440A-83E0-548F505B31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  <a:p>
            <a:pPr lvl="1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två</a:t>
            </a:r>
            <a:endParaRPr lang="en-US" dirty="0"/>
          </a:p>
          <a:p>
            <a:pPr lvl="2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tre</a:t>
            </a:r>
            <a:endParaRPr lang="en-US" dirty="0"/>
          </a:p>
          <a:p>
            <a:pPr lvl="3"/>
            <a:r>
              <a:rPr lang="en-US" dirty="0" err="1"/>
              <a:t>Nivå</a:t>
            </a:r>
            <a:r>
              <a:rPr lang="en-US" dirty="0"/>
              <a:t> </a:t>
            </a:r>
            <a:r>
              <a:rPr lang="en-US" dirty="0" err="1"/>
              <a:t>fyra</a:t>
            </a:r>
            <a:endParaRPr lang="en-US" dirty="0"/>
          </a:p>
          <a:p>
            <a:pPr lvl="4"/>
            <a:r>
              <a:rPr lang="en-US" dirty="0" err="1"/>
              <a:t>Nivå</a:t>
            </a:r>
            <a:r>
              <a:rPr lang="en-US" dirty="0"/>
              <a:t> fem</a:t>
            </a:r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E9F2F8-BE6B-4A61-93E5-9D5902FFCF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6EC058-C928-44B3-BC30-362E7FA8525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Redigera</a:t>
            </a:r>
            <a:r>
              <a:rPr lang="en-US" dirty="0"/>
              <a:t> format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bakgrundstext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ikonen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lägga</a:t>
            </a:r>
            <a:r>
              <a:rPr lang="en-US" dirty="0"/>
              <a:t> till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80B0A3-2230-4758-99BD-E35DCEE7EE9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6089C1-E22D-40BB-B6E8-15B9DCBD06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Klicka</a:t>
            </a:r>
            <a:r>
              <a:rPr lang="en-US" dirty="0"/>
              <a:t> </a:t>
            </a:r>
            <a:r>
              <a:rPr lang="en-US" dirty="0" err="1"/>
              <a:t>här</a:t>
            </a:r>
            <a:r>
              <a:rPr lang="en-US" dirty="0"/>
              <a:t> </a:t>
            </a:r>
            <a:r>
              <a:rPr lang="en-US" dirty="0" err="1"/>
              <a:t>för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ändra</a:t>
            </a:r>
            <a:r>
              <a:rPr lang="en-US" dirty="0"/>
              <a:t> format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C4393A-DDE2-46A9-BCFD-36AFEDA607C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Rubrik oc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914401" y="609600"/>
            <a:ext cx="10363200" cy="1143000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iagram 2"/>
          <p:cNvSpPr>
            <a:spLocks noGrp="1"/>
          </p:cNvSpPr>
          <p:nvPr>
            <p:ph type="chart" idx="1"/>
          </p:nvPr>
        </p:nvSpPr>
        <p:spPr>
          <a:xfrm>
            <a:off x="914401" y="1981200"/>
            <a:ext cx="10363200" cy="4114800"/>
          </a:xfrm>
        </p:spPr>
        <p:txBody>
          <a:bodyPr/>
          <a:lstStyle/>
          <a:p>
            <a:pPr lvl="0"/>
            <a:endParaRPr lang="sv-SE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6C6DF-5417-42EC-9A26-DE4330B5E550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755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4"/>
            </p:custDataLst>
          </p:nvPr>
        </p:nvPicPr>
        <p:blipFill>
          <a:blip r:embed="rId2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sv-SE"/>
              <a:t>Belimo AB Utbildning, 26 april, 2021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CDF4C1D1-F28C-458F-A752-57C0A86876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7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  <p:sldLayoutId id="2147483684" r:id="rId22"/>
  </p:sldLayoutIdLst>
  <p:hf hdr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slide" Target="slide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2.xml"/><Relationship Id="rId4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Ulf Björkland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Zaki Abdo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/>
              <a:t>Belimo Education</a:t>
            </a:r>
            <a:br>
              <a:rPr lang="en-US" sz="2800" dirty="0"/>
            </a:br>
            <a:r>
              <a:rPr lang="en-US" sz="3200" dirty="0"/>
              <a:t>VAV del 2</a:t>
            </a:r>
            <a:endParaRPr lang="en-US" sz="20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 dirty="0"/>
              <a:t>21/2 2023</a:t>
            </a:r>
          </a:p>
        </p:txBody>
      </p:sp>
    </p:spTree>
    <p:extLst>
      <p:ext uri="{BB962C8B-B14F-4D97-AF65-F5344CB8AC3E}">
        <p14:creationId xmlns:p14="http://schemas.microsoft.com/office/powerpoint/2010/main" val="331707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8B9763-9854-4D15-A1A7-C50C829D90A5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Repetition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från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del 1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Applikationer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Compact/ Universal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Konfigurera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med Belimo Assistant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och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ZTH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65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Syfte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8B9763-9854-4D15-A1A7-C50C829D90A5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Fördjupad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förståelse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för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typiska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VAV-termer</a:t>
            </a:r>
          </a:p>
          <a:p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Installation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av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VAV-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ställdon</a:t>
            </a:r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Konfiguration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av</a:t>
            </a:r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 VAV-</a:t>
            </a:r>
            <a:r>
              <a:rPr lang="en-US" sz="2800" b="1" dirty="0" err="1">
                <a:solidFill>
                  <a:schemeClr val="bg1">
                    <a:lumMod val="50000"/>
                  </a:schemeClr>
                </a:solidFill>
              </a:rPr>
              <a:t>ställdon</a:t>
            </a:r>
            <a:endParaRPr 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715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Defintion</a:t>
            </a:r>
            <a:r>
              <a:rPr lang="en-US" dirty="0"/>
              <a:t> VAV - </a:t>
            </a:r>
            <a:r>
              <a:rPr lang="en-GB" dirty="0">
                <a:solidFill>
                  <a:schemeClr val="lt2"/>
                </a:solidFill>
              </a:rPr>
              <a:t>V</a:t>
            </a:r>
            <a:r>
              <a:rPr lang="en-GB" dirty="0"/>
              <a:t>ariable </a:t>
            </a:r>
            <a:r>
              <a:rPr lang="en-GB" dirty="0">
                <a:solidFill>
                  <a:schemeClr val="lt2"/>
                </a:solidFill>
              </a:rPr>
              <a:t>A</a:t>
            </a:r>
            <a:r>
              <a:rPr lang="en-GB" dirty="0"/>
              <a:t>ir </a:t>
            </a:r>
            <a:r>
              <a:rPr lang="en-GB" dirty="0">
                <a:solidFill>
                  <a:schemeClr val="lt2"/>
                </a:solidFill>
              </a:rPr>
              <a:t>V</a:t>
            </a:r>
            <a:r>
              <a:rPr lang="en-GB" dirty="0"/>
              <a:t>olume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563AC0-EF6F-433A-877D-6DAADAB032C2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425992"/>
            <a:ext cx="4463469" cy="4595295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sv-SE" dirty="0"/>
              <a:t>VAV säkerställer en behovsbaserad och tryckoberoende tillförsel av den önskade luftmängden.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 err="1"/>
              <a:t>Börvärdet</a:t>
            </a:r>
            <a:r>
              <a:rPr lang="sv-SE" dirty="0"/>
              <a:t> anges via rumstemperatur, CO</a:t>
            </a:r>
            <a:r>
              <a:rPr lang="sv-SE" baseline="-25000" dirty="0"/>
              <a:t>2</a:t>
            </a:r>
            <a:r>
              <a:rPr lang="sv-SE" dirty="0"/>
              <a:t> eller VOC.</a:t>
            </a:r>
          </a:p>
          <a:p>
            <a:pPr marL="0" indent="0">
              <a:buNone/>
            </a:pPr>
            <a:endParaRPr lang="sv-SE" dirty="0"/>
          </a:p>
          <a:p>
            <a:r>
              <a:rPr lang="sv-SE" dirty="0"/>
              <a:t>VAV stödjer energieffektiva och bulleroptimerade rumslösningar.</a:t>
            </a:r>
            <a:endParaRPr lang="en-US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B78292E-79C5-4AE6-8BA7-D68D00794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0016" y="2117742"/>
            <a:ext cx="5009524" cy="2666667"/>
          </a:xfrm>
          <a:prstGeom prst="rect">
            <a:avLst/>
          </a:prstGeom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EB864B4E-1E3E-4A0E-B411-67D6E75DDD7B}"/>
              </a:ext>
            </a:extLst>
          </p:cNvPr>
          <p:cNvSpPr/>
          <p:nvPr/>
        </p:nvSpPr>
        <p:spPr>
          <a:xfrm>
            <a:off x="6194891" y="2314998"/>
            <a:ext cx="1531188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DE" sz="1100" dirty="0"/>
              <a:t>GLT/Room </a:t>
            </a:r>
            <a:r>
              <a:rPr lang="de-DE" sz="1100" dirty="0" err="1"/>
              <a:t>controller</a:t>
            </a:r>
            <a:endParaRPr lang="de-CH" sz="1100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051C9A0B-6791-4408-A7FC-91FF7C0BED54}"/>
              </a:ext>
            </a:extLst>
          </p:cNvPr>
          <p:cNvSpPr/>
          <p:nvPr/>
        </p:nvSpPr>
        <p:spPr>
          <a:xfrm>
            <a:off x="6194891" y="3626268"/>
            <a:ext cx="970137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DE" sz="1100" dirty="0"/>
              <a:t>Guide </a:t>
            </a:r>
            <a:r>
              <a:rPr lang="de-DE" sz="1100" dirty="0" err="1"/>
              <a:t>signal</a:t>
            </a:r>
            <a:endParaRPr lang="de-CH" sz="1100" dirty="0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F6E934F5-05CC-4632-9FD8-1C511223A4A2}"/>
              </a:ext>
            </a:extLst>
          </p:cNvPr>
          <p:cNvSpPr/>
          <p:nvPr/>
        </p:nvSpPr>
        <p:spPr>
          <a:xfrm>
            <a:off x="8586731" y="4641554"/>
            <a:ext cx="790601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DE" sz="1100" b="1" dirty="0"/>
              <a:t>ABL-Box</a:t>
            </a:r>
            <a:endParaRPr lang="de-CH" sz="1100" b="1" dirty="0"/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4A3C6AED-EFA2-4BA0-9523-D65A63CAEF88}"/>
              </a:ext>
            </a:extLst>
          </p:cNvPr>
          <p:cNvSpPr/>
          <p:nvPr/>
        </p:nvSpPr>
        <p:spPr>
          <a:xfrm>
            <a:off x="6240016" y="3027819"/>
            <a:ext cx="655949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DE" sz="1100" b="1" dirty="0"/>
              <a:t>23.2 °C</a:t>
            </a:r>
            <a:endParaRPr lang="de-CH" sz="1100" b="1" dirty="0"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C4C71652-213A-425C-891F-87D415026EEB}"/>
              </a:ext>
            </a:extLst>
          </p:cNvPr>
          <p:cNvSpPr/>
          <p:nvPr/>
        </p:nvSpPr>
        <p:spPr>
          <a:xfrm>
            <a:off x="8572711" y="3027819"/>
            <a:ext cx="1867819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CH" sz="1100" b="1" dirty="0"/>
              <a:t>Volume </a:t>
            </a:r>
            <a:r>
              <a:rPr lang="de-CH" sz="1100" b="1" dirty="0" err="1"/>
              <a:t>requirement</a:t>
            </a:r>
            <a:r>
              <a:rPr lang="de-CH" sz="1100" b="1" dirty="0"/>
              <a:t> 45%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CB62CAA5-C257-437B-8052-4248EAC5AEE0}"/>
              </a:ext>
            </a:extLst>
          </p:cNvPr>
          <p:cNvSpPr/>
          <p:nvPr/>
        </p:nvSpPr>
        <p:spPr>
          <a:xfrm>
            <a:off x="7411789" y="4173783"/>
            <a:ext cx="787395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DE" sz="1100" b="1" dirty="0"/>
              <a:t>496 m</a:t>
            </a:r>
            <a:r>
              <a:rPr lang="de-DE" sz="1100" b="1" baseline="30000" dirty="0"/>
              <a:t>3</a:t>
            </a:r>
            <a:r>
              <a:rPr lang="de-DE" sz="1100" b="1" dirty="0"/>
              <a:t>/h</a:t>
            </a: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6E7BABCC-CC8D-4892-8960-87EABCDDA46B}"/>
              </a:ext>
            </a:extLst>
          </p:cNvPr>
          <p:cNvSpPr/>
          <p:nvPr/>
        </p:nvSpPr>
        <p:spPr>
          <a:xfrm>
            <a:off x="9682200" y="4641554"/>
            <a:ext cx="1649811" cy="43088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de-DE" sz="1100" b="1" dirty="0" err="1"/>
              <a:t>Damper</a:t>
            </a:r>
            <a:r>
              <a:rPr lang="de-DE" sz="1100" b="1" dirty="0"/>
              <a:t> </a:t>
            </a:r>
            <a:r>
              <a:rPr lang="de-DE" sz="1100" b="1" dirty="0" err="1"/>
              <a:t>position</a:t>
            </a:r>
            <a:r>
              <a:rPr lang="de-DE" sz="1100" b="1" dirty="0"/>
              <a:t> 69%</a:t>
            </a:r>
          </a:p>
          <a:p>
            <a:r>
              <a:rPr lang="de-DE" sz="1100" b="1" dirty="0"/>
              <a:t>[DCV Demand Signal]</a:t>
            </a:r>
          </a:p>
        </p:txBody>
      </p:sp>
    </p:spTree>
    <p:extLst>
      <p:ext uri="{BB962C8B-B14F-4D97-AF65-F5344CB8AC3E}">
        <p14:creationId xmlns:p14="http://schemas.microsoft.com/office/powerpoint/2010/main" val="403654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Belimo VAV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FF1792-3977-47DB-AE2E-81C46C3CA7A1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Text Placeholder 59">
            <a:hlinkClick r:id="" action="ppaction://noaction"/>
            <a:extLst>
              <a:ext uri="{FF2B5EF4-FFF2-40B4-BE49-F238E27FC236}">
                <a16:creationId xmlns:a16="http://schemas.microsoft.com/office/drawing/2014/main" id="{D6EAF8E5-9C92-4397-9334-73D8BEAB9070}"/>
              </a:ext>
            </a:extLst>
          </p:cNvPr>
          <p:cNvSpPr txBox="1">
            <a:spLocks/>
          </p:cNvSpPr>
          <p:nvPr/>
        </p:nvSpPr>
        <p:spPr>
          <a:xfrm>
            <a:off x="7104112" y="1412776"/>
            <a:ext cx="2043112" cy="4414837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254000" algn="ctr" rotWithShape="0">
              <a:srgbClr val="000000">
                <a:alpha val="20000"/>
              </a:srgbClr>
            </a:outerShdw>
          </a:effectLst>
        </p:spPr>
        <p:txBody>
          <a:bodyPr vert="horz" lIns="180000" tIns="2232000" rIns="180000" bIns="180000" rtlCol="0" anchor="t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600" b="1" spc="-10" baseline="0">
                <a:solidFill>
                  <a:schemeClr val="bg1"/>
                </a:solidFill>
              </a:defRPr>
            </a:lvl1pPr>
            <a:lvl2pPr marL="180000" lvl="1" indent="-180000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400" spc="-10" baseline="0">
                <a:solidFill>
                  <a:schemeClr val="bg1"/>
                </a:solidFill>
              </a:defRPr>
            </a:lvl2pPr>
            <a:lvl3pPr marL="702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3pPr>
            <a:lvl4pPr marL="936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4pPr>
            <a:lvl5pPr marL="1170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5pPr>
            <a:lvl6pPr marL="1404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6pPr>
            <a:lvl7pPr marL="1638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7pPr>
            <a:lvl8pPr marL="1872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8pPr>
            <a:lvl9pPr marL="2106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9pPr>
          </a:lstStyle>
          <a:p>
            <a:endParaRPr lang="en-GB" dirty="0">
              <a:solidFill>
                <a:schemeClr val="tx1"/>
              </a:solidFill>
            </a:endParaRPr>
          </a:p>
          <a:p>
            <a:pPr marL="163800" lvl="1" indent="-1638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accent3"/>
                </a:solidFill>
              </a:rPr>
              <a:t>CMV</a:t>
            </a:r>
          </a:p>
        </p:txBody>
      </p:sp>
      <p:sp>
        <p:nvSpPr>
          <p:cNvPr id="10" name="Text Placeholder 53">
            <a:extLst>
              <a:ext uri="{FF2B5EF4-FFF2-40B4-BE49-F238E27FC236}">
                <a16:creationId xmlns:a16="http://schemas.microsoft.com/office/drawing/2014/main" id="{DB153E79-7B4C-4570-B100-EA6D1088E033}"/>
              </a:ext>
            </a:extLst>
          </p:cNvPr>
          <p:cNvSpPr txBox="1">
            <a:spLocks/>
          </p:cNvSpPr>
          <p:nvPr/>
        </p:nvSpPr>
        <p:spPr>
          <a:xfrm>
            <a:off x="1803915" y="1412777"/>
            <a:ext cx="2043112" cy="441483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254000" algn="ctr" rotWithShape="0">
              <a:srgbClr val="000000">
                <a:alpha val="20000"/>
              </a:srgbClr>
            </a:outerShdw>
          </a:effectLst>
        </p:spPr>
        <p:txBody>
          <a:bodyPr vert="horz" lIns="180000" tIns="2232000" rIns="180000" bIns="180000" rtlCol="0" anchor="t">
            <a:noAutofit/>
          </a:bodyPr>
          <a:lstStyle>
            <a:lvl1pPr indent="0" algn="ctr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600" b="1" spc="-10" baseline="0">
                <a:solidFill>
                  <a:schemeClr val="bg1"/>
                </a:solidFill>
              </a:defRPr>
            </a:lvl1pPr>
            <a:lvl2pPr marL="234000" indent="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None/>
              <a:defRPr spc="-10" baseline="0"/>
            </a:lvl2pPr>
            <a:lvl3pPr marL="702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3pPr>
            <a:lvl4pPr marL="936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4pPr>
            <a:lvl5pPr marL="1170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5pPr>
            <a:lvl6pPr marL="1404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6pPr>
            <a:lvl7pPr marL="1638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7pPr>
            <a:lvl8pPr marL="1872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8pPr>
            <a:lvl9pPr marL="2106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9pPr>
          </a:lstStyle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GB" dirty="0">
              <a:solidFill>
                <a:schemeClr val="tx1"/>
              </a:solidFill>
            </a:endParaRPr>
          </a:p>
          <a:p>
            <a:pPr marL="163800" lvl="1" indent="-1638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accent3"/>
                </a:solidFill>
              </a:rPr>
              <a:t>VAV Compact</a:t>
            </a:r>
          </a:p>
          <a:p>
            <a:pPr marL="0"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</a:pPr>
            <a:r>
              <a:rPr lang="en-GB" sz="1200" dirty="0">
                <a:solidFill>
                  <a:schemeClr val="accent3"/>
                </a:solidFill>
              </a:rPr>
              <a:t>NMV-D3-MP/ -MOD/ -RE</a:t>
            </a:r>
          </a:p>
          <a:p>
            <a:pPr marL="0"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</a:pPr>
            <a:endParaRPr lang="en-GB" sz="1600" dirty="0">
              <a:solidFill>
                <a:schemeClr val="accent3"/>
              </a:solidFill>
            </a:endParaRPr>
          </a:p>
        </p:txBody>
      </p:sp>
      <p:pic>
        <p:nvPicPr>
          <p:cNvPr id="11" name="Picture Placeholder 25">
            <a:hlinkClick r:id="rId2" action="ppaction://hlinksldjump"/>
            <a:extLst>
              <a:ext uri="{FF2B5EF4-FFF2-40B4-BE49-F238E27FC236}">
                <a16:creationId xmlns:a16="http://schemas.microsoft.com/office/drawing/2014/main" id="{56FF0E2D-661F-4F32-A909-FD19ABBB2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7718" y="1505553"/>
            <a:ext cx="1875506" cy="1941842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  <p:sp>
        <p:nvSpPr>
          <p:cNvPr id="12" name="Text Placeholder 55">
            <a:hlinkClick r:id="rId4" action="ppaction://hlinksldjump"/>
            <a:extLst>
              <a:ext uri="{FF2B5EF4-FFF2-40B4-BE49-F238E27FC236}">
                <a16:creationId xmlns:a16="http://schemas.microsoft.com/office/drawing/2014/main" id="{AC23D931-0F81-4515-B8B7-CEA5C063F517}"/>
              </a:ext>
            </a:extLst>
          </p:cNvPr>
          <p:cNvSpPr txBox="1">
            <a:spLocks/>
          </p:cNvSpPr>
          <p:nvPr/>
        </p:nvSpPr>
        <p:spPr>
          <a:xfrm>
            <a:off x="4456447" y="1412777"/>
            <a:ext cx="2043113" cy="4414835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blurRad="254000" algn="ctr" rotWithShape="0">
              <a:srgbClr val="000000">
                <a:alpha val="20000"/>
              </a:srgbClr>
            </a:outerShdw>
          </a:effectLst>
        </p:spPr>
        <p:txBody>
          <a:bodyPr vert="horz" lIns="180000" tIns="2232000" rIns="180000" bIns="180000" rtlCol="0" anchor="t">
            <a:noAutofit/>
          </a:bodyPr>
          <a:lstStyle>
            <a:defPPr>
              <a:defRPr lang="en-US"/>
            </a:defPPr>
            <a:lvl1pPr indent="0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None/>
              <a:defRPr sz="1600" b="1" spc="-10" baseline="0">
                <a:solidFill>
                  <a:schemeClr val="bg1"/>
                </a:solidFill>
              </a:defRPr>
            </a:lvl1pPr>
            <a:lvl2pPr marL="180000" lvl="1" indent="-180000" defTabSz="9144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400" spc="-10" baseline="0">
                <a:solidFill>
                  <a:schemeClr val="bg1"/>
                </a:solidFill>
              </a:defRPr>
            </a:lvl2pPr>
            <a:lvl3pPr marL="702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3pPr>
            <a:lvl4pPr marL="936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4pPr>
            <a:lvl5pPr marL="1170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spc="-10" baseline="0"/>
            </a:lvl5pPr>
            <a:lvl6pPr marL="1404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6pPr>
            <a:lvl7pPr marL="1638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7pPr>
            <a:lvl8pPr marL="1872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8pPr>
            <a:lvl9pPr marL="2106000" indent="-234000" defTabSz="9144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/>
            </a:lvl9pPr>
          </a:lstStyle>
          <a:p>
            <a:endParaRPr lang="en-GB" dirty="0">
              <a:solidFill>
                <a:schemeClr val="tx1"/>
              </a:solidFill>
            </a:endParaRPr>
          </a:p>
          <a:p>
            <a:pPr marL="163800" lvl="1" indent="-163800">
              <a:buClr>
                <a:srgbClr val="FF6600"/>
              </a:buClr>
              <a:buSzPct val="80000"/>
            </a:pPr>
            <a:r>
              <a:rPr lang="en-GB" sz="1600" dirty="0">
                <a:solidFill>
                  <a:schemeClr val="accent3"/>
                </a:solidFill>
              </a:rPr>
              <a:t>VAV Universal</a:t>
            </a:r>
          </a:p>
          <a:p>
            <a:pPr marL="0" lvl="1" indent="0">
              <a:buClr>
                <a:srgbClr val="FF6600"/>
              </a:buClr>
              <a:buSzPct val="80000"/>
              <a:buNone/>
            </a:pPr>
            <a:r>
              <a:rPr lang="en-GB" sz="1200" dirty="0">
                <a:solidFill>
                  <a:schemeClr val="accent3"/>
                </a:solidFill>
              </a:rPr>
              <a:t>VRU-D3-BAC</a:t>
            </a:r>
          </a:p>
          <a:p>
            <a:pPr marL="0" lvl="1" indent="0">
              <a:buClr>
                <a:srgbClr val="FF6600"/>
              </a:buClr>
              <a:buSzPct val="80000"/>
              <a:buNone/>
            </a:pPr>
            <a:endParaRPr lang="en-GB" sz="1600" dirty="0">
              <a:solidFill>
                <a:schemeClr val="accent3"/>
              </a:solidFill>
            </a:endParaRPr>
          </a:p>
        </p:txBody>
      </p:sp>
      <p:pic>
        <p:nvPicPr>
          <p:cNvPr id="13" name="Picture Placeholder 25">
            <a:hlinkClick r:id="rId4" action="ppaction://hlinksldjump"/>
            <a:extLst>
              <a:ext uri="{FF2B5EF4-FFF2-40B4-BE49-F238E27FC236}">
                <a16:creationId xmlns:a16="http://schemas.microsoft.com/office/drawing/2014/main" id="{56FF0E2D-661F-4F32-A909-FD19ABBB2F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8163" y="1505555"/>
            <a:ext cx="1875505" cy="1941841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  <p:pic>
        <p:nvPicPr>
          <p:cNvPr id="14" name="Picture Placeholder 25">
            <a:hlinkClick r:id="" action="ppaction://noaction"/>
            <a:extLst>
              <a:ext uri="{FF2B5EF4-FFF2-40B4-BE49-F238E27FC236}">
                <a16:creationId xmlns:a16="http://schemas.microsoft.com/office/drawing/2014/main" id="{56FF0E2D-661F-4F32-A909-FD19ABBB2F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7915" y="1510515"/>
            <a:ext cx="1875505" cy="1941841"/>
          </a:xfrm>
          <a:prstGeom prst="rect">
            <a:avLst/>
          </a:prstGeom>
          <a:ln w="12700" cap="sq">
            <a:solidFill>
              <a:schemeClr val="bg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230918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Belimo VAV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A71396-EFF5-42C4-A381-760DAAFF83D7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425992"/>
            <a:ext cx="4463469" cy="4595295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sv-SE" dirty="0"/>
              <a:t>VAV </a:t>
            </a:r>
            <a:r>
              <a:rPr lang="sv-SE" dirty="0" err="1"/>
              <a:t>Compact</a:t>
            </a:r>
            <a:r>
              <a:rPr lang="sv-SE" dirty="0"/>
              <a:t>:</a:t>
            </a:r>
          </a:p>
          <a:p>
            <a:pPr marL="0" indent="0">
              <a:buNone/>
            </a:pPr>
            <a:endParaRPr lang="sv-SE" dirty="0"/>
          </a:p>
          <a:p>
            <a:pPr lvl="3"/>
            <a:r>
              <a:rPr lang="sv-SE" dirty="0"/>
              <a:t>NMV-D3-MP/ -MOD/ -RE</a:t>
            </a:r>
          </a:p>
          <a:p>
            <a:pPr marL="0" indent="0">
              <a:buNone/>
            </a:pPr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r>
              <a:rPr lang="sv-SE" dirty="0"/>
              <a:t>VAV Universal:</a:t>
            </a:r>
          </a:p>
          <a:p>
            <a:pPr marL="0" indent="0">
              <a:buNone/>
            </a:pPr>
            <a:endParaRPr lang="sv-SE" dirty="0"/>
          </a:p>
          <a:p>
            <a:pPr lvl="3"/>
            <a:r>
              <a:rPr lang="sv-SE" dirty="0"/>
              <a:t>VRU-D3-BAC</a:t>
            </a:r>
          </a:p>
          <a:p>
            <a:pPr marL="0" indent="0">
              <a:buNone/>
            </a:pPr>
            <a:endParaRPr lang="sv-SE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928" y="1196752"/>
            <a:ext cx="3133333" cy="2314286"/>
          </a:xfrm>
          <a:prstGeom prst="rect">
            <a:avLst/>
          </a:prstGeom>
        </p:spPr>
      </p:pic>
      <p:pic>
        <p:nvPicPr>
          <p:cNvPr id="7" name="Bildobjek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022" y="3789040"/>
            <a:ext cx="2657143" cy="2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17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Begrepp</a:t>
            </a:r>
            <a:r>
              <a:rPr lang="en-US" dirty="0"/>
              <a:t> </a:t>
            </a:r>
            <a:r>
              <a:rPr lang="en-US" dirty="0" err="1"/>
              <a:t>inom</a:t>
            </a:r>
            <a:r>
              <a:rPr lang="en-US" dirty="0"/>
              <a:t> VAV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9120BE-C081-4C4B-B9D2-F904B196C1D7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r>
              <a:rPr lang="en-US" sz="3200" dirty="0" err="1"/>
              <a:t>V</a:t>
            </a:r>
            <a:r>
              <a:rPr lang="en-US" sz="3200" baseline="-25000" dirty="0" err="1"/>
              <a:t>nom</a:t>
            </a:r>
            <a:r>
              <a:rPr lang="en-US" sz="3200" dirty="0"/>
              <a:t> = </a:t>
            </a:r>
            <a:r>
              <a:rPr lang="en-US" sz="3200" dirty="0" err="1"/>
              <a:t>nominellt</a:t>
            </a:r>
            <a:r>
              <a:rPr lang="en-US" sz="3200" dirty="0"/>
              <a:t> </a:t>
            </a:r>
            <a:r>
              <a:rPr lang="en-US" sz="3200" dirty="0" err="1"/>
              <a:t>flöde</a:t>
            </a:r>
            <a:endParaRPr lang="en-US" sz="3200" baseline="-25000" dirty="0"/>
          </a:p>
          <a:p>
            <a:endParaRPr lang="en-US" sz="3200" baseline="-25000" dirty="0"/>
          </a:p>
          <a:p>
            <a:r>
              <a:rPr lang="en-US" sz="3200" dirty="0" err="1"/>
              <a:t>V</a:t>
            </a:r>
            <a:r>
              <a:rPr lang="en-US" sz="3200" baseline="-25000" dirty="0" err="1"/>
              <a:t>max</a:t>
            </a:r>
            <a:r>
              <a:rPr lang="en-US" sz="3200" dirty="0"/>
              <a:t> = </a:t>
            </a:r>
            <a:r>
              <a:rPr lang="en-US" sz="3200" dirty="0" err="1"/>
              <a:t>maximalt</a:t>
            </a:r>
            <a:r>
              <a:rPr lang="en-US" sz="3200" dirty="0"/>
              <a:t> </a:t>
            </a:r>
            <a:r>
              <a:rPr lang="en-US" sz="3200" dirty="0" err="1"/>
              <a:t>flöde</a:t>
            </a:r>
            <a:endParaRPr lang="en-US" sz="3200" dirty="0"/>
          </a:p>
          <a:p>
            <a:endParaRPr lang="en-US" sz="3200" baseline="-25000" dirty="0"/>
          </a:p>
          <a:p>
            <a:r>
              <a:rPr lang="en-US" sz="3200" dirty="0" err="1"/>
              <a:t>V</a:t>
            </a:r>
            <a:r>
              <a:rPr lang="en-US" sz="3200" baseline="-25000" dirty="0" err="1"/>
              <a:t>min</a:t>
            </a:r>
            <a:r>
              <a:rPr lang="en-US" sz="3200" dirty="0"/>
              <a:t> = </a:t>
            </a:r>
            <a:r>
              <a:rPr lang="en-US" sz="3200" dirty="0" err="1"/>
              <a:t>minimalt</a:t>
            </a:r>
            <a:r>
              <a:rPr lang="en-US" sz="3200" dirty="0"/>
              <a:t> </a:t>
            </a:r>
            <a:r>
              <a:rPr lang="en-US" sz="3200" dirty="0" err="1"/>
              <a:t>flöde</a:t>
            </a:r>
            <a:endParaRPr lang="en-US" sz="3200" baseline="-25000" dirty="0"/>
          </a:p>
          <a:p>
            <a:endParaRPr lang="en-US" sz="3200" baseline="-25000" dirty="0"/>
          </a:p>
          <a:p>
            <a:r>
              <a:rPr lang="en-US" sz="3200" dirty="0"/>
              <a:t>∆p@ </a:t>
            </a:r>
            <a:r>
              <a:rPr lang="en-US" sz="3200" dirty="0" err="1"/>
              <a:t>V</a:t>
            </a:r>
            <a:r>
              <a:rPr lang="en-US" sz="3200" baseline="-25000" dirty="0" err="1"/>
              <a:t>nom</a:t>
            </a:r>
            <a:r>
              <a:rPr lang="en-US" sz="3200" dirty="0"/>
              <a:t> = </a:t>
            </a:r>
            <a:r>
              <a:rPr lang="en-US" sz="3200" dirty="0" err="1"/>
              <a:t>trycket</a:t>
            </a:r>
            <a:r>
              <a:rPr lang="en-US" sz="3200" dirty="0"/>
              <a:t> </a:t>
            </a:r>
            <a:r>
              <a:rPr lang="en-US" sz="3200" dirty="0" err="1"/>
              <a:t>över</a:t>
            </a:r>
            <a:r>
              <a:rPr lang="en-US" sz="3200" dirty="0"/>
              <a:t> </a:t>
            </a:r>
            <a:r>
              <a:rPr lang="en-US" sz="3200" dirty="0" err="1"/>
              <a:t>V</a:t>
            </a:r>
            <a:r>
              <a:rPr lang="en-US" sz="3200" baseline="-25000" dirty="0" err="1"/>
              <a:t>nom</a:t>
            </a:r>
            <a:r>
              <a:rPr lang="en-US" sz="2400" dirty="0"/>
              <a:t> 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26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Användningsområden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2D9968-ACF2-455F-B150-04C89CAACDCF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quarter" idx="12"/>
          </p:nvPr>
        </p:nvSpPr>
        <p:spPr>
          <a:xfrm>
            <a:off x="624419" y="1893888"/>
            <a:ext cx="5327566" cy="4414838"/>
          </a:xfrm>
        </p:spPr>
        <p:txBody>
          <a:bodyPr/>
          <a:lstStyle/>
          <a:p>
            <a:pPr>
              <a:buClr>
                <a:srgbClr val="FF6600"/>
              </a:buClr>
              <a:buSzPct val="80000"/>
            </a:pPr>
            <a:r>
              <a:rPr lang="en-GB" b="1" dirty="0" err="1"/>
              <a:t>Applikation</a:t>
            </a:r>
            <a:r>
              <a:rPr lang="en-GB" b="1" dirty="0"/>
              <a:t>: </a:t>
            </a:r>
            <a:r>
              <a:rPr lang="en-GB" dirty="0" err="1"/>
              <a:t>klimatkontroll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zoner</a:t>
            </a:r>
            <a:r>
              <a:rPr lang="en-GB" dirty="0"/>
              <a:t>, rum </a:t>
            </a:r>
            <a:r>
              <a:rPr lang="en-GB" dirty="0" err="1"/>
              <a:t>och</a:t>
            </a:r>
            <a:r>
              <a:rPr lang="en-GB" dirty="0"/>
              <a:t> </a:t>
            </a:r>
            <a:r>
              <a:rPr lang="en-GB" dirty="0" err="1"/>
              <a:t>lägenheter</a:t>
            </a:r>
            <a:endParaRPr lang="en-GB" dirty="0"/>
          </a:p>
          <a:p>
            <a:pPr>
              <a:buClr>
                <a:srgbClr val="FF6600"/>
              </a:buClr>
              <a:buSzPct val="80000"/>
            </a:pPr>
            <a:r>
              <a:rPr lang="en-GB" b="1" dirty="0" err="1"/>
              <a:t>Styrning</a:t>
            </a:r>
            <a:r>
              <a:rPr lang="en-GB" b="1" dirty="0"/>
              <a:t>: </a:t>
            </a:r>
            <a:r>
              <a:rPr lang="en-GB" dirty="0" err="1"/>
              <a:t>variabel</a:t>
            </a:r>
            <a:r>
              <a:rPr lang="en-GB" dirty="0"/>
              <a:t> </a:t>
            </a:r>
            <a:r>
              <a:rPr lang="en-GB" dirty="0" err="1"/>
              <a:t>och</a:t>
            </a:r>
            <a:r>
              <a:rPr lang="en-GB" dirty="0"/>
              <a:t> </a:t>
            </a:r>
            <a:r>
              <a:rPr lang="en-GB" dirty="0" err="1"/>
              <a:t>konstant</a:t>
            </a:r>
            <a:r>
              <a:rPr lang="en-GB" dirty="0"/>
              <a:t> </a:t>
            </a:r>
            <a:r>
              <a:rPr lang="en-GB" dirty="0" err="1"/>
              <a:t>luftvolym</a:t>
            </a:r>
            <a:endParaRPr lang="en-GB" dirty="0"/>
          </a:p>
          <a:p>
            <a:pPr>
              <a:buClr>
                <a:srgbClr val="FF6600"/>
              </a:buClr>
              <a:buSzPct val="80000"/>
            </a:pPr>
            <a:r>
              <a:rPr lang="en-GB" b="1" dirty="0" err="1"/>
              <a:t>Varianter</a:t>
            </a:r>
            <a:r>
              <a:rPr lang="en-GB" b="1" dirty="0"/>
              <a:t>: </a:t>
            </a:r>
            <a:r>
              <a:rPr lang="en-GB" dirty="0" err="1"/>
              <a:t>roterande</a:t>
            </a:r>
            <a:r>
              <a:rPr lang="en-GB" dirty="0"/>
              <a:t> </a:t>
            </a:r>
            <a:r>
              <a:rPr lang="en-GB" dirty="0" err="1"/>
              <a:t>och</a:t>
            </a:r>
            <a:r>
              <a:rPr lang="en-GB" dirty="0"/>
              <a:t> </a:t>
            </a:r>
            <a:r>
              <a:rPr lang="en-GB" dirty="0" err="1"/>
              <a:t>linjära</a:t>
            </a:r>
            <a:r>
              <a:rPr lang="en-GB" dirty="0"/>
              <a:t> </a:t>
            </a:r>
            <a:r>
              <a:rPr lang="en-GB" dirty="0" err="1"/>
              <a:t>ställdon</a:t>
            </a:r>
            <a:endParaRPr lang="en-GB" dirty="0"/>
          </a:p>
          <a:p>
            <a:pPr>
              <a:buClr>
                <a:srgbClr val="FF6600"/>
              </a:buClr>
              <a:buSzPct val="80000"/>
            </a:pPr>
            <a:r>
              <a:rPr lang="en-GB" b="1" dirty="0"/>
              <a:t>Tools: </a:t>
            </a:r>
            <a:r>
              <a:rPr lang="en-GB" dirty="0"/>
              <a:t>PC Tool, ZTH </a:t>
            </a:r>
            <a:r>
              <a:rPr lang="en-GB" dirty="0" err="1"/>
              <a:t>och</a:t>
            </a:r>
            <a:r>
              <a:rPr lang="en-GB" dirty="0"/>
              <a:t> NFC via Belimo Assistant App</a:t>
            </a:r>
          </a:p>
          <a:p>
            <a:endParaRPr lang="en-US" dirty="0"/>
          </a:p>
        </p:txBody>
      </p:sp>
      <p:sp>
        <p:nvSpPr>
          <p:cNvPr id="11" name="Platshållare för innehåll 2"/>
          <p:cNvSpPr txBox="1">
            <a:spLocks/>
          </p:cNvSpPr>
          <p:nvPr/>
        </p:nvSpPr>
        <p:spPr>
          <a:xfrm>
            <a:off x="6604006" y="1860054"/>
            <a:ext cx="5327566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4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20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8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8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02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6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70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 spc="-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04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38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2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6000" indent="-234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6600"/>
              </a:buClr>
              <a:buSzPct val="80000"/>
            </a:pPr>
            <a:r>
              <a:rPr lang="en-GB" b="1" dirty="0"/>
              <a:t>VAV </a:t>
            </a:r>
            <a:r>
              <a:rPr lang="en-GB" b="1" dirty="0" err="1"/>
              <a:t>applikationer</a:t>
            </a:r>
            <a:endParaRPr lang="en-GB" b="1" dirty="0"/>
          </a:p>
          <a:p>
            <a:pPr>
              <a:buClr>
                <a:srgbClr val="FF6600"/>
              </a:buClr>
              <a:buSzPct val="80000"/>
            </a:pPr>
            <a:r>
              <a:rPr lang="en-US" b="1" dirty="0" err="1"/>
              <a:t>Kanal</a:t>
            </a:r>
            <a:r>
              <a:rPr lang="en-US" b="1" dirty="0"/>
              <a:t>- </a:t>
            </a:r>
            <a:r>
              <a:rPr lang="en-US" b="1" dirty="0" err="1"/>
              <a:t>och</a:t>
            </a:r>
            <a:r>
              <a:rPr lang="en-US" b="1" dirty="0"/>
              <a:t> </a:t>
            </a:r>
            <a:r>
              <a:rPr lang="en-US" b="1" dirty="0" err="1"/>
              <a:t>rumstryck</a:t>
            </a:r>
            <a:endParaRPr lang="en-GB" b="1" dirty="0"/>
          </a:p>
          <a:p>
            <a:pPr>
              <a:buClr>
                <a:srgbClr val="FF6600"/>
              </a:buClr>
              <a:buSzPct val="80000"/>
            </a:pPr>
            <a:r>
              <a:rPr lang="el-GR" b="1" dirty="0"/>
              <a:t>Δ</a:t>
            </a:r>
            <a:r>
              <a:rPr lang="de-CH" b="1" dirty="0"/>
              <a:t>p </a:t>
            </a:r>
            <a:r>
              <a:rPr lang="de-CH" b="1" dirty="0" err="1"/>
              <a:t>mätning</a:t>
            </a:r>
            <a:r>
              <a:rPr lang="en-GB" b="1" dirty="0"/>
              <a:t>: </a:t>
            </a:r>
            <a:r>
              <a:rPr lang="en-GB" dirty="0" err="1"/>
              <a:t>flödes</a:t>
            </a:r>
            <a:r>
              <a:rPr lang="en-GB" dirty="0"/>
              <a:t>- </a:t>
            </a:r>
            <a:r>
              <a:rPr lang="en-GB" dirty="0" err="1"/>
              <a:t>och</a:t>
            </a:r>
            <a:r>
              <a:rPr lang="en-GB" dirty="0"/>
              <a:t> </a:t>
            </a:r>
            <a:r>
              <a:rPr lang="en-GB" dirty="0" err="1"/>
              <a:t>membrangivare</a:t>
            </a:r>
            <a:endParaRPr lang="en-GB" sz="1000" dirty="0"/>
          </a:p>
          <a:p>
            <a:pPr>
              <a:buClr>
                <a:srgbClr val="FF6600"/>
              </a:buClr>
              <a:buSzPct val="80000"/>
            </a:pPr>
            <a:r>
              <a:rPr lang="en-GB" b="1" dirty="0" err="1"/>
              <a:t>Varianter</a:t>
            </a:r>
            <a:r>
              <a:rPr lang="en-GB" b="1" dirty="0"/>
              <a:t> </a:t>
            </a:r>
            <a:r>
              <a:rPr lang="en-GB" b="1" dirty="0" err="1"/>
              <a:t>ställdon</a:t>
            </a:r>
            <a:r>
              <a:rPr lang="en-GB" b="1" dirty="0"/>
              <a:t>: </a:t>
            </a:r>
            <a:r>
              <a:rPr lang="en-GB" dirty="0"/>
              <a:t>standard, </a:t>
            </a:r>
            <a:r>
              <a:rPr lang="en-GB" dirty="0" err="1"/>
              <a:t>snabbgående</a:t>
            </a:r>
            <a:r>
              <a:rPr lang="en-GB" dirty="0"/>
              <a:t>, med </a:t>
            </a:r>
            <a:r>
              <a:rPr lang="en-GB" dirty="0" err="1"/>
              <a:t>säkerhetsfunktion</a:t>
            </a:r>
            <a:endParaRPr lang="en-GB" dirty="0"/>
          </a:p>
          <a:p>
            <a:pPr>
              <a:buClr>
                <a:srgbClr val="FF6600"/>
              </a:buClr>
              <a:buSzPct val="80000"/>
            </a:pPr>
            <a:r>
              <a:rPr lang="en-GB" b="1" dirty="0"/>
              <a:t>Tools: </a:t>
            </a:r>
            <a:r>
              <a:rPr lang="en-US" dirty="0"/>
              <a:t>PC-Tool, Belimo Assistant App (NFC)</a:t>
            </a:r>
          </a:p>
        </p:txBody>
      </p:sp>
      <p:cxnSp>
        <p:nvCxnSpPr>
          <p:cNvPr id="13" name="Rak koppling 12"/>
          <p:cNvCxnSpPr/>
          <p:nvPr/>
        </p:nvCxnSpPr>
        <p:spPr>
          <a:xfrm>
            <a:off x="6168008" y="1268760"/>
            <a:ext cx="0" cy="48245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2" descr="A screen shot of a living room&#10;&#10;Description automatically generated">
            <a:extLst>
              <a:ext uri="{FF2B5EF4-FFF2-40B4-BE49-F238E27FC236}">
                <a16:creationId xmlns:a16="http://schemas.microsoft.com/office/drawing/2014/main" id="{6C2DD1A3-7C66-4E86-9D13-CD84F52F1B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4" t="51097"/>
          <a:stretch/>
        </p:blipFill>
        <p:spPr>
          <a:xfrm>
            <a:off x="993408" y="4722955"/>
            <a:ext cx="4589588" cy="1547885"/>
          </a:xfrm>
          <a:prstGeom prst="rect">
            <a:avLst/>
          </a:prstGeom>
        </p:spPr>
      </p:pic>
      <p:pic>
        <p:nvPicPr>
          <p:cNvPr id="14" name="Picture 1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BD828938-79AE-490C-8024-0FAF4F321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409" y="4592090"/>
            <a:ext cx="4833175" cy="167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41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9" y="677466"/>
            <a:ext cx="5759614" cy="591294"/>
          </a:xfrm>
        </p:spPr>
        <p:txBody>
          <a:bodyPr/>
          <a:lstStyle/>
          <a:p>
            <a:r>
              <a:rPr lang="en-GB" dirty="0"/>
              <a:t>VAV-Compact </a:t>
            </a:r>
            <a:r>
              <a:rPr lang="en-GB" dirty="0" err="1"/>
              <a:t>systemlösningar</a:t>
            </a:r>
            <a:endParaRPr lang="en-GB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CD1E342-6E6A-4839-8317-D8E9F92967A2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F6613BEC-9C91-47ED-80DA-7F121FC5BA65}" type="slidenum">
              <a:rPr lang="en-GB" smtClean="0">
                <a:solidFill>
                  <a:srgbClr val="000000"/>
                </a:solidFill>
              </a:rPr>
              <a:t>9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172D3CF-81F0-497D-9D8C-9E5B1242BFA1}"/>
              </a:ext>
            </a:extLst>
          </p:cNvPr>
          <p:cNvSpPr>
            <a:spLocks/>
          </p:cNvSpPr>
          <p:nvPr/>
        </p:nvSpPr>
        <p:spPr>
          <a:xfrm>
            <a:off x="8077126" y="1889296"/>
            <a:ext cx="3490987" cy="45958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en-GB" b="1" dirty="0" err="1">
                <a:solidFill>
                  <a:schemeClr val="bg1"/>
                </a:solidFill>
              </a:rPr>
              <a:t>Specifikationer</a:t>
            </a:r>
            <a:r>
              <a:rPr lang="en-GB" b="1" dirty="0">
                <a:solidFill>
                  <a:schemeClr val="bg1"/>
                </a:solidFill>
              </a:rPr>
              <a:t> / </a:t>
            </a:r>
            <a:r>
              <a:rPr lang="en-GB" b="1" dirty="0" err="1">
                <a:solidFill>
                  <a:schemeClr val="bg1"/>
                </a:solidFill>
              </a:rPr>
              <a:t>Egenskaper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Rechteck 10">
            <a:extLst>
              <a:ext uri="{FF2B5EF4-FFF2-40B4-BE49-F238E27FC236}">
                <a16:creationId xmlns:a16="http://schemas.microsoft.com/office/drawing/2014/main" id="{7199B2A1-984D-4B44-8255-0103A1EDCA2B}"/>
              </a:ext>
            </a:extLst>
          </p:cNvPr>
          <p:cNvSpPr/>
          <p:nvPr/>
        </p:nvSpPr>
        <p:spPr>
          <a:xfrm>
            <a:off x="8062913" y="2530304"/>
            <a:ext cx="3505200" cy="377842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chemeClr val="tx1"/>
                </a:solidFill>
              </a:rPr>
              <a:t>Kompakt systemlösning med sensor, styrenhet och ställdon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 err="1">
                <a:solidFill>
                  <a:schemeClr val="tx1"/>
                </a:solidFill>
              </a:rPr>
              <a:t>Hantering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på</a:t>
            </a:r>
            <a:r>
              <a:rPr lang="en-GB" sz="1600" dirty="0">
                <a:solidFill>
                  <a:schemeClr val="tx1"/>
                </a:solidFill>
              </a:rPr>
              <a:t> plats med with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ZTH EU </a:t>
            </a:r>
            <a:r>
              <a:rPr lang="en-GB" sz="1600" dirty="0" err="1">
                <a:solidFill>
                  <a:schemeClr val="tx1"/>
                </a:solidFill>
              </a:rPr>
              <a:t>eller</a:t>
            </a:r>
            <a:r>
              <a:rPr lang="en-GB" sz="1600" dirty="0">
                <a:solidFill>
                  <a:schemeClr val="tx1"/>
                </a:solidFill>
              </a:rPr>
              <a:t> Belimo Assistant App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 err="1">
                <a:solidFill>
                  <a:schemeClr val="tx1"/>
                </a:solidFill>
              </a:rPr>
              <a:t>Idrifttagning</a:t>
            </a:r>
            <a:r>
              <a:rPr lang="en-GB" sz="1600" dirty="0">
                <a:solidFill>
                  <a:schemeClr val="tx1"/>
                </a:solidFill>
              </a:rPr>
              <a:t> med PC-Tool </a:t>
            </a:r>
            <a:r>
              <a:rPr lang="en-GB" sz="1600" dirty="0" err="1">
                <a:solidFill>
                  <a:schemeClr val="tx1"/>
                </a:solidFill>
              </a:rPr>
              <a:t>eller</a:t>
            </a:r>
            <a:r>
              <a:rPr lang="en-GB" sz="1600" dirty="0">
                <a:solidFill>
                  <a:schemeClr val="tx1"/>
                </a:solidFill>
              </a:rPr>
              <a:t> Belimo Assistant App, </a:t>
            </a:r>
            <a:r>
              <a:rPr lang="en-GB" sz="1600" dirty="0" err="1">
                <a:solidFill>
                  <a:schemeClr val="tx1"/>
                </a:solidFill>
              </a:rPr>
              <a:t>inklusive</a:t>
            </a:r>
            <a:r>
              <a:rPr lang="en-GB" sz="1600" dirty="0">
                <a:solidFill>
                  <a:schemeClr val="tx1"/>
                </a:solidFill>
              </a:rPr>
              <a:t> “</a:t>
            </a:r>
            <a:r>
              <a:rPr lang="en-GB" sz="1600" dirty="0" err="1">
                <a:solidFill>
                  <a:schemeClr val="tx1"/>
                </a:solidFill>
              </a:rPr>
              <a:t>trendfunktion</a:t>
            </a:r>
            <a:r>
              <a:rPr lang="en-GB" sz="1600" dirty="0">
                <a:solidFill>
                  <a:schemeClr val="tx1"/>
                </a:solidFill>
              </a:rPr>
              <a:t>”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de-DE" sz="1600" dirty="0" err="1">
                <a:solidFill>
                  <a:schemeClr val="tx1"/>
                </a:solidFill>
              </a:rPr>
              <a:t>Kontroll</a:t>
            </a:r>
            <a:r>
              <a:rPr lang="de-DE" sz="1600" dirty="0">
                <a:solidFill>
                  <a:schemeClr val="tx1"/>
                </a:solidFill>
              </a:rPr>
              <a:t> 0…10 V / 2…10 V</a:t>
            </a:r>
            <a:endParaRPr lang="en-GB" sz="1600" dirty="0">
              <a:solidFill>
                <a:schemeClr val="tx1"/>
              </a:solidFill>
            </a:endParaRP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Integration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de-DE" sz="1600" dirty="0" err="1">
                <a:solidFill>
                  <a:schemeClr val="tx1"/>
                </a:solidFill>
              </a:rPr>
              <a:t>BACnet</a:t>
            </a:r>
            <a:r>
              <a:rPr lang="de-DE" sz="1600" dirty="0">
                <a:solidFill>
                  <a:schemeClr val="tx1"/>
                </a:solidFill>
              </a:rPr>
              <a:t>, Modbus, KNX </a:t>
            </a:r>
            <a:r>
              <a:rPr lang="de-DE" sz="1600" dirty="0" err="1">
                <a:solidFill>
                  <a:schemeClr val="tx1"/>
                </a:solidFill>
              </a:rPr>
              <a:t>eller</a:t>
            </a:r>
            <a:r>
              <a:rPr lang="de-DE" sz="1600" dirty="0">
                <a:solidFill>
                  <a:schemeClr val="tx1"/>
                </a:solidFill>
              </a:rPr>
              <a:t> MP-Bus </a:t>
            </a:r>
            <a:r>
              <a:rPr lang="de-DE" sz="1600" dirty="0" err="1">
                <a:solidFill>
                  <a:schemeClr val="tx1"/>
                </a:solidFill>
              </a:rPr>
              <a:t>networks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Rechteck 11">
            <a:extLst>
              <a:ext uri="{FF2B5EF4-FFF2-40B4-BE49-F238E27FC236}">
                <a16:creationId xmlns:a16="http://schemas.microsoft.com/office/drawing/2014/main" id="{1CCC95B6-2F82-47E9-878B-DDCF0D583C98}"/>
              </a:ext>
            </a:extLst>
          </p:cNvPr>
          <p:cNvSpPr>
            <a:spLocks/>
          </p:cNvSpPr>
          <p:nvPr/>
        </p:nvSpPr>
        <p:spPr>
          <a:xfrm>
            <a:off x="4405313" y="1889296"/>
            <a:ext cx="3490987" cy="47290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en-GB" b="1" dirty="0" err="1">
                <a:solidFill>
                  <a:schemeClr val="bg1"/>
                </a:solidFill>
              </a:rPr>
              <a:t>Applikationer</a:t>
            </a:r>
            <a:r>
              <a:rPr lang="en-GB" b="1" dirty="0">
                <a:solidFill>
                  <a:schemeClr val="bg1"/>
                </a:solidFill>
              </a:rPr>
              <a:t> / </a:t>
            </a:r>
            <a:r>
              <a:rPr lang="en-GB" b="1" dirty="0" err="1">
                <a:solidFill>
                  <a:schemeClr val="bg1"/>
                </a:solidFill>
              </a:rPr>
              <a:t>Storlek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2" name="Rechteck 12">
            <a:extLst>
              <a:ext uri="{FF2B5EF4-FFF2-40B4-BE49-F238E27FC236}">
                <a16:creationId xmlns:a16="http://schemas.microsoft.com/office/drawing/2014/main" id="{A85E5E9C-F1E6-4476-8F2F-9F2874452AEA}"/>
              </a:ext>
            </a:extLst>
          </p:cNvPr>
          <p:cNvSpPr/>
          <p:nvPr/>
        </p:nvSpPr>
        <p:spPr>
          <a:xfrm>
            <a:off x="4424363" y="2514600"/>
            <a:ext cx="3486150" cy="3794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en-GB" sz="1600" b="1" dirty="0">
                <a:solidFill>
                  <a:schemeClr val="tx1"/>
                </a:solidFill>
              </a:rPr>
              <a:t>VAV </a:t>
            </a:r>
            <a:r>
              <a:rPr lang="en-GB" sz="1600" b="1" dirty="0" err="1">
                <a:solidFill>
                  <a:schemeClr val="tx1"/>
                </a:solidFill>
              </a:rPr>
              <a:t>roterande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sz="1600" b="1" dirty="0" err="1">
                <a:solidFill>
                  <a:schemeClr val="tx1"/>
                </a:solidFill>
              </a:rPr>
              <a:t>ställdon</a:t>
            </a:r>
            <a:r>
              <a:rPr lang="en-GB" sz="1600" dirty="0">
                <a:solidFill>
                  <a:schemeClr val="tx1"/>
                </a:solidFill>
              </a:rPr>
              <a:t>: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LMV (5 Nm)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NMV (10 Nm)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SMV (20 Nm)</a:t>
            </a:r>
            <a:br>
              <a:rPr lang="en-GB" sz="1600" dirty="0">
                <a:solidFill>
                  <a:schemeClr val="tx1"/>
                </a:solidFill>
              </a:rPr>
            </a:br>
            <a:endParaRPr lang="en-GB" sz="1600" dirty="0">
              <a:solidFill>
                <a:schemeClr val="tx1"/>
              </a:solidFill>
            </a:endParaRPr>
          </a:p>
          <a:p>
            <a:pPr marL="0" lvl="1"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en-GB" sz="1600" b="1" dirty="0">
                <a:solidFill>
                  <a:schemeClr val="tx1"/>
                </a:solidFill>
              </a:rPr>
              <a:t>VAV </a:t>
            </a:r>
            <a:r>
              <a:rPr lang="en-GB" sz="1600" b="1" dirty="0" err="1">
                <a:solidFill>
                  <a:schemeClr val="tx1"/>
                </a:solidFill>
              </a:rPr>
              <a:t>linjära</a:t>
            </a:r>
            <a:r>
              <a:rPr lang="en-GB" sz="1600" b="1" dirty="0">
                <a:solidFill>
                  <a:schemeClr val="tx1"/>
                </a:solidFill>
              </a:rPr>
              <a:t> </a:t>
            </a:r>
            <a:r>
              <a:rPr lang="en-GB" sz="1600" b="1" dirty="0" err="1">
                <a:solidFill>
                  <a:schemeClr val="tx1"/>
                </a:solidFill>
              </a:rPr>
              <a:t>ställdon</a:t>
            </a:r>
            <a:r>
              <a:rPr lang="en-GB" sz="1600" dirty="0">
                <a:solidFill>
                  <a:schemeClr val="tx1"/>
                </a:solidFill>
              </a:rPr>
              <a:t>: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LHV (150 N)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8E2E4C-2609-4A0B-91BF-FE52EEEFF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2276872"/>
            <a:ext cx="2325441" cy="18567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514004-F0D4-4652-A5CA-6ED28B70E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26" y="4170464"/>
            <a:ext cx="3011609" cy="174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331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/>
              <a:t>VAV-Universal </a:t>
            </a:r>
            <a:r>
              <a:rPr lang="en-GB" dirty="0" err="1"/>
              <a:t>ställdon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3A37651-5C6B-4C06-838F-50598261C2B0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D900564C-69AB-4CEA-BBC0-E0FD0B01118C}" type="slidenum">
              <a:rPr lang="en-GB" smtClean="0">
                <a:solidFill>
                  <a:srgbClr val="000000"/>
                </a:solidFill>
              </a:rPr>
              <a:t>10</a:t>
            </a:fld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Rechteck 16">
            <a:extLst>
              <a:ext uri="{FF2B5EF4-FFF2-40B4-BE49-F238E27FC236}">
                <a16:creationId xmlns:a16="http://schemas.microsoft.com/office/drawing/2014/main" id="{1CCC95B6-2F82-47E9-878B-DDCF0D583C98}"/>
              </a:ext>
            </a:extLst>
          </p:cNvPr>
          <p:cNvSpPr>
            <a:spLocks/>
          </p:cNvSpPr>
          <p:nvPr/>
        </p:nvSpPr>
        <p:spPr>
          <a:xfrm>
            <a:off x="4353001" y="1889296"/>
            <a:ext cx="3490987" cy="472903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en-GB" b="1" dirty="0" err="1">
                <a:solidFill>
                  <a:schemeClr val="bg1"/>
                </a:solidFill>
              </a:rPr>
              <a:t>Applikationer</a:t>
            </a:r>
            <a:r>
              <a:rPr lang="en-GB" b="1" dirty="0">
                <a:solidFill>
                  <a:schemeClr val="bg1"/>
                </a:solidFill>
              </a:rPr>
              <a:t> / </a:t>
            </a:r>
            <a:r>
              <a:rPr lang="en-GB" b="1" dirty="0" err="1">
                <a:solidFill>
                  <a:schemeClr val="bg1"/>
                </a:solidFill>
              </a:rPr>
              <a:t>Typer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Rechteck 19">
            <a:extLst>
              <a:ext uri="{FF2B5EF4-FFF2-40B4-BE49-F238E27FC236}">
                <a16:creationId xmlns:a16="http://schemas.microsoft.com/office/drawing/2014/main" id="{A85E5E9C-F1E6-4476-8F2F-9F2874452AEA}"/>
              </a:ext>
            </a:extLst>
          </p:cNvPr>
          <p:cNvSpPr/>
          <p:nvPr/>
        </p:nvSpPr>
        <p:spPr>
          <a:xfrm>
            <a:off x="4352925" y="2514600"/>
            <a:ext cx="3486150" cy="3794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sv-SE" sz="1600" dirty="0">
                <a:solidFill>
                  <a:schemeClr val="tx1"/>
                </a:solidFill>
              </a:rPr>
              <a:t>Ställdon för användning med VRU-styrenheter.</a:t>
            </a:r>
            <a:endParaRPr lang="en-GB" sz="1600" dirty="0">
              <a:solidFill>
                <a:schemeClr val="tx1"/>
              </a:solidFill>
            </a:endParaRPr>
          </a:p>
          <a:p>
            <a:pPr marL="187200" lvl="1" indent="-187200">
              <a:spcBef>
                <a:spcPts val="12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LM/NM/SM24A-VST (5...20 Nm)</a:t>
            </a:r>
          </a:p>
          <a:p>
            <a:pPr marL="187200" lvl="1" indent="-187200">
              <a:spcBef>
                <a:spcPts val="3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LMQ/NMQ24A-VST (</a:t>
            </a:r>
            <a:r>
              <a:rPr lang="en-GB" sz="1600" dirty="0" err="1">
                <a:solidFill>
                  <a:schemeClr val="tx1"/>
                </a:solidFill>
              </a:rPr>
              <a:t>snabbgående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ställdon</a:t>
            </a:r>
            <a:r>
              <a:rPr lang="en-GB" sz="1600" dirty="0">
                <a:solidFill>
                  <a:schemeClr val="tx1"/>
                </a:solidFill>
              </a:rPr>
              <a:t> 4/8 Nm)</a:t>
            </a:r>
          </a:p>
          <a:p>
            <a:pPr marL="187200" lvl="1" indent="-187200">
              <a:spcBef>
                <a:spcPts val="3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LF/NF/SF24A-VST (med </a:t>
            </a:r>
            <a:r>
              <a:rPr lang="en-GB" sz="1600" dirty="0" err="1">
                <a:solidFill>
                  <a:schemeClr val="tx1"/>
                </a:solidFill>
              </a:rPr>
              <a:t>säkerhetsfunk</a:t>
            </a:r>
            <a:r>
              <a:rPr lang="en-GB" sz="1600" dirty="0">
                <a:solidFill>
                  <a:schemeClr val="tx1"/>
                </a:solidFill>
              </a:rPr>
              <a:t>. 4/10/20 Nm)</a:t>
            </a:r>
          </a:p>
          <a:p>
            <a:pPr marL="187200" lvl="1" indent="-187200">
              <a:spcBef>
                <a:spcPts val="3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NKQ24A-VST (med </a:t>
            </a:r>
            <a:r>
              <a:rPr lang="en-GB" sz="1600" dirty="0" err="1">
                <a:solidFill>
                  <a:schemeClr val="tx1"/>
                </a:solidFill>
              </a:rPr>
              <a:t>säkerhetsfunktion</a:t>
            </a:r>
            <a:r>
              <a:rPr lang="en-GB" sz="1600" dirty="0">
                <a:solidFill>
                  <a:schemeClr val="tx1"/>
                </a:solidFill>
              </a:rPr>
              <a:t> 6 Nm)</a:t>
            </a:r>
          </a:p>
        </p:txBody>
      </p:sp>
      <p:sp>
        <p:nvSpPr>
          <p:cNvPr id="11" name="Rechteck 21">
            <a:extLst>
              <a:ext uri="{FF2B5EF4-FFF2-40B4-BE49-F238E27FC236}">
                <a16:creationId xmlns:a16="http://schemas.microsoft.com/office/drawing/2014/main" id="{C172D3CF-81F0-497D-9D8C-9E5B1242BFA1}"/>
              </a:ext>
            </a:extLst>
          </p:cNvPr>
          <p:cNvSpPr>
            <a:spLocks/>
          </p:cNvSpPr>
          <p:nvPr/>
        </p:nvSpPr>
        <p:spPr>
          <a:xfrm>
            <a:off x="8076598" y="1889296"/>
            <a:ext cx="3490987" cy="472903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bg2"/>
              </a:buClr>
            </a:pPr>
            <a:r>
              <a:rPr lang="en-GB" b="1" dirty="0" err="1">
                <a:solidFill>
                  <a:schemeClr val="bg1"/>
                </a:solidFill>
              </a:rPr>
              <a:t>Specifikationer</a:t>
            </a:r>
            <a:r>
              <a:rPr lang="en-GB" b="1" dirty="0">
                <a:solidFill>
                  <a:schemeClr val="bg1"/>
                </a:solidFill>
              </a:rPr>
              <a:t> / </a:t>
            </a:r>
            <a:r>
              <a:rPr lang="en-GB" b="1" dirty="0" err="1">
                <a:solidFill>
                  <a:schemeClr val="bg1"/>
                </a:solidFill>
              </a:rPr>
              <a:t>Egenskaper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2" name="Rechteck 22">
            <a:extLst>
              <a:ext uri="{FF2B5EF4-FFF2-40B4-BE49-F238E27FC236}">
                <a16:creationId xmlns:a16="http://schemas.microsoft.com/office/drawing/2014/main" id="{7199B2A1-984D-4B44-8255-0103A1EDCA2B}"/>
              </a:ext>
            </a:extLst>
          </p:cNvPr>
          <p:cNvSpPr/>
          <p:nvPr/>
        </p:nvSpPr>
        <p:spPr>
          <a:xfrm>
            <a:off x="8081435" y="2514599"/>
            <a:ext cx="3486150" cy="37941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</a:ln>
          <a:effectLst>
            <a:outerShdw blurRad="254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GB" sz="1600" dirty="0">
                <a:solidFill>
                  <a:schemeClr val="tx1"/>
                </a:solidFill>
              </a:rPr>
              <a:t>Plug and play </a:t>
            </a:r>
            <a:r>
              <a:rPr lang="en-GB" sz="1600" dirty="0" err="1">
                <a:solidFill>
                  <a:schemeClr val="tx1"/>
                </a:solidFill>
              </a:rPr>
              <a:t>ställdon</a:t>
            </a:r>
            <a:endParaRPr lang="en-GB" sz="1600" dirty="0">
              <a:solidFill>
                <a:schemeClr val="tx1"/>
              </a:solidFill>
            </a:endParaRP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chemeClr val="tx1"/>
                </a:solidFill>
              </a:rPr>
              <a:t>Digital kontroll med statusinformation (frånkoppling, körtid, driftstid, fel)</a:t>
            </a:r>
          </a:p>
          <a:p>
            <a:pPr marL="187200" lvl="1" indent="-187200">
              <a:spcBef>
                <a:spcPts val="600"/>
              </a:spcBef>
              <a:spcAft>
                <a:spcPts val="6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sv-SE" sz="1600" dirty="0">
                <a:solidFill>
                  <a:schemeClr val="tx1"/>
                </a:solidFill>
              </a:rPr>
              <a:t>Gångtid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standard 120 s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 err="1">
                <a:solidFill>
                  <a:schemeClr val="tx1"/>
                </a:solidFill>
              </a:rPr>
              <a:t>snabbgående</a:t>
            </a:r>
            <a:r>
              <a:rPr lang="en-US" sz="1600" dirty="0">
                <a:solidFill>
                  <a:schemeClr val="tx1"/>
                </a:solidFill>
              </a:rPr>
              <a:t>: 2.5 / 4 s</a:t>
            </a:r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15" y="4733530"/>
            <a:ext cx="2303759" cy="157519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157" y="1930089"/>
            <a:ext cx="2052273" cy="126830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15" y="3216475"/>
            <a:ext cx="2301631" cy="157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Bildobjekt 1" descr="Pages from Fläktdiagram_sid 7.eps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61911" y="-1404938"/>
            <a:ext cx="6516631" cy="867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Rak pil 3"/>
          <p:cNvCxnSpPr/>
          <p:nvPr/>
        </p:nvCxnSpPr>
        <p:spPr>
          <a:xfrm rot="10800000" flipV="1">
            <a:off x="4883604" y="1714501"/>
            <a:ext cx="1288172" cy="1000125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Rak pil 8"/>
          <p:cNvCxnSpPr/>
          <p:nvPr/>
        </p:nvCxnSpPr>
        <p:spPr>
          <a:xfrm rot="5400000">
            <a:off x="4813669" y="3072607"/>
            <a:ext cx="271621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Rak 12"/>
          <p:cNvCxnSpPr/>
          <p:nvPr/>
        </p:nvCxnSpPr>
        <p:spPr>
          <a:xfrm rot="10800000">
            <a:off x="3671207" y="4429125"/>
            <a:ext cx="25005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k 18"/>
          <p:cNvCxnSpPr/>
          <p:nvPr/>
        </p:nvCxnSpPr>
        <p:spPr>
          <a:xfrm rot="10800000">
            <a:off x="3671208" y="3643313"/>
            <a:ext cx="121239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ak pil 20"/>
          <p:cNvCxnSpPr/>
          <p:nvPr/>
        </p:nvCxnSpPr>
        <p:spPr>
          <a:xfrm rot="5400000">
            <a:off x="3429009" y="4036966"/>
            <a:ext cx="785813" cy="168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Rak 24"/>
          <p:cNvCxnSpPr/>
          <p:nvPr/>
        </p:nvCxnSpPr>
        <p:spPr>
          <a:xfrm>
            <a:off x="4807829" y="4429125"/>
            <a:ext cx="969917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ak pil 28"/>
          <p:cNvCxnSpPr/>
          <p:nvPr/>
        </p:nvCxnSpPr>
        <p:spPr>
          <a:xfrm rot="5400000">
            <a:off x="4417626" y="3178922"/>
            <a:ext cx="930275" cy="168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624418" y="677466"/>
            <a:ext cx="2519253" cy="73531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2900"/>
              </a:lnSpc>
              <a:spcBef>
                <a:spcPct val="0"/>
              </a:spcBef>
              <a:buNone/>
              <a:defRPr sz="2700" b="1" kern="1200" spc="-4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err="1"/>
              <a:t>Energi</a:t>
            </a:r>
            <a:r>
              <a:rPr lang="en-GB" dirty="0"/>
              <a:t>-</a:t>
            </a:r>
          </a:p>
          <a:p>
            <a:r>
              <a:rPr lang="en-GB" dirty="0" err="1"/>
              <a:t>effektivisering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039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26C6DF-5417-42EC-9A26-DE4330B5E550}" type="slidenum">
              <a:rPr lang="sv-SE" smtClean="0"/>
              <a:pPr>
                <a:defRPr/>
              </a:pPr>
              <a:t>12</a:t>
            </a:fld>
            <a:endParaRPr lang="sv-SE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67999" y="260648"/>
            <a:ext cx="9699171" cy="2085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609" tIns="157632" rIns="94609" bIns="39408">
            <a:spAutoFit/>
          </a:bodyPr>
          <a:lstStyle/>
          <a:p>
            <a:pPr algn="l">
              <a:buNone/>
            </a:pPr>
            <a:r>
              <a:rPr lang="sv-SE" sz="2700" b="1" spc="-4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Elkostnader fläktdrift: </a:t>
            </a:r>
          </a:p>
          <a:p>
            <a:pPr algn="l">
              <a:buNone/>
            </a:pPr>
            <a:r>
              <a:rPr lang="sv-SE" sz="2700" b="1" spc="-4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Exempel :10 h drift 5 dagar per vecka</a:t>
            </a:r>
          </a:p>
          <a:p>
            <a:pPr algn="l">
              <a:buNone/>
            </a:pPr>
            <a:endParaRPr lang="sv-SE" sz="2400" dirty="0">
              <a:cs typeface="Arial" charset="0"/>
            </a:endParaRPr>
          </a:p>
          <a:p>
            <a:pPr algn="l" eaLnBrk="0" hangingPunct="0">
              <a:buNone/>
            </a:pPr>
            <a:endParaRPr lang="sv-SE" sz="1714" dirty="0">
              <a:latin typeface="Arial" charset="0"/>
              <a:cs typeface="Arial" charset="0"/>
            </a:endParaRPr>
          </a:p>
          <a:p>
            <a:pPr algn="ctr" eaLnBrk="0" hangingPunct="0">
              <a:buNone/>
            </a:pPr>
            <a:r>
              <a:rPr lang="sv-SE" sz="1200" dirty="0">
                <a:cs typeface="Arial" charset="0"/>
              </a:rPr>
              <a:t> </a:t>
            </a:r>
          </a:p>
          <a:p>
            <a:pPr eaLnBrk="0" hangingPunct="0"/>
            <a:endParaRPr lang="sv-SE" sz="1543" dirty="0">
              <a:latin typeface="Arial" charset="0"/>
              <a:cs typeface="Arial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2265581"/>
            <a:ext cx="10441160" cy="5257800"/>
          </a:xfrm>
        </p:spPr>
        <p:txBody>
          <a:bodyPr/>
          <a:lstStyle/>
          <a:p>
            <a:pPr eaLnBrk="1" hangingPunct="1"/>
            <a:endParaRPr lang="sv-SE" sz="2400" b="1" dirty="0">
              <a:latin typeface="Arial" charset="0"/>
              <a:cs typeface="Arial" charset="0"/>
            </a:endParaRPr>
          </a:p>
          <a:p>
            <a:pPr eaLnBrk="0" hangingPunct="0">
              <a:buNone/>
            </a:pPr>
            <a:r>
              <a:rPr lang="sv-SE" b="1" dirty="0"/>
              <a:t>10000m3/h  tryckhöjning 1000Pa		2000m3/h  tryckhöjning 200Pa</a:t>
            </a:r>
          </a:p>
          <a:p>
            <a:pPr eaLnBrk="0" hangingPunct="0">
              <a:buNone/>
            </a:pPr>
            <a:r>
              <a:rPr lang="sv-SE" b="1" dirty="0"/>
              <a:t>Ca  4kW					Ca 1kW</a:t>
            </a:r>
          </a:p>
          <a:p>
            <a:pPr eaLnBrk="0" hangingPunct="0">
              <a:buNone/>
            </a:pPr>
            <a:r>
              <a:rPr lang="de-DE" b="1" dirty="0"/>
              <a:t>220x10x4=8800kWh			              220x10x1= 2200 kWh</a:t>
            </a:r>
          </a:p>
          <a:p>
            <a:pPr eaLnBrk="0" hangingPunct="0">
              <a:buNone/>
            </a:pPr>
            <a:endParaRPr lang="de-DE" b="1" dirty="0"/>
          </a:p>
          <a:p>
            <a:pPr eaLnBrk="0" hangingPunct="0">
              <a:buNone/>
            </a:pPr>
            <a:r>
              <a:rPr lang="sv-SE" b="1" dirty="0"/>
              <a:t>ca 9000kr/år				               ca 2200 kr/år </a:t>
            </a:r>
          </a:p>
          <a:p>
            <a:pPr eaLnBrk="1" hangingPunct="1"/>
            <a:endParaRPr lang="sv-SE" sz="1714" dirty="0">
              <a:latin typeface="Arial" charset="0"/>
              <a:cs typeface="Arial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993418" y="3980093"/>
            <a:ext cx="9699171" cy="125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609" tIns="157632" rIns="94609" bIns="39408">
            <a:spAutoFit/>
          </a:bodyPr>
          <a:lstStyle/>
          <a:p>
            <a:pPr algn="l">
              <a:buNone/>
            </a:pPr>
            <a:endParaRPr lang="sv-SE" sz="2400" dirty="0">
              <a:cs typeface="Arial" charset="0"/>
            </a:endParaRPr>
          </a:p>
          <a:p>
            <a:pPr algn="l" eaLnBrk="0" hangingPunct="0">
              <a:buNone/>
            </a:pPr>
            <a:endParaRPr lang="sv-SE" sz="1714" dirty="0">
              <a:latin typeface="Arial" charset="0"/>
              <a:cs typeface="Arial" charset="0"/>
            </a:endParaRPr>
          </a:p>
          <a:p>
            <a:pPr algn="ctr" eaLnBrk="0" hangingPunct="0">
              <a:buNone/>
            </a:pPr>
            <a:r>
              <a:rPr lang="sv-SE" sz="1200" dirty="0">
                <a:cs typeface="Arial" charset="0"/>
              </a:rPr>
              <a:t> </a:t>
            </a:r>
          </a:p>
          <a:p>
            <a:pPr eaLnBrk="0" hangingPunct="0"/>
            <a:endParaRPr lang="sv-SE" sz="1543" dirty="0">
              <a:latin typeface="Arial" charset="0"/>
              <a:cs typeface="Arial" charset="0"/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1564790" y="3000373"/>
            <a:ext cx="9699171" cy="356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endParaRPr lang="sv-SE" sz="1714" dirty="0"/>
          </a:p>
        </p:txBody>
      </p:sp>
    </p:spTree>
    <p:extLst>
      <p:ext uri="{BB962C8B-B14F-4D97-AF65-F5344CB8AC3E}">
        <p14:creationId xmlns:p14="http://schemas.microsoft.com/office/powerpoint/2010/main" val="273918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26C6DF-5417-42EC-9A26-DE4330B5E550}" type="slidenum">
              <a:rPr lang="sv-SE" smtClean="0"/>
              <a:pPr>
                <a:defRPr/>
              </a:pPr>
              <a:t>13</a:t>
            </a:fld>
            <a:endParaRPr lang="sv-SE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95400" y="476672"/>
            <a:ext cx="9699171" cy="171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609" tIns="157632" rIns="94609" bIns="39408">
            <a:spAutoFit/>
          </a:bodyPr>
          <a:lstStyle/>
          <a:p>
            <a:pPr algn="l">
              <a:buNone/>
            </a:pPr>
            <a:r>
              <a:rPr lang="sv-SE" sz="2700" b="1" spc="-4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Uppvärmningskostnader: </a:t>
            </a:r>
          </a:p>
          <a:p>
            <a:pPr algn="l">
              <a:buNone/>
            </a:pPr>
            <a:r>
              <a:rPr lang="sv-SE" sz="2700" b="1" spc="-4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Exempel :10 h drift 5 dagar per vecka</a:t>
            </a:r>
          </a:p>
          <a:p>
            <a:pPr algn="l" eaLnBrk="0" hangingPunct="0">
              <a:buNone/>
            </a:pPr>
            <a:endParaRPr lang="sv-SE" sz="1714" dirty="0">
              <a:latin typeface="Arial" charset="0"/>
              <a:cs typeface="Arial" charset="0"/>
            </a:endParaRPr>
          </a:p>
          <a:p>
            <a:pPr algn="ctr" eaLnBrk="0" hangingPunct="0">
              <a:buNone/>
            </a:pPr>
            <a:r>
              <a:rPr lang="sv-SE" sz="1200" dirty="0">
                <a:cs typeface="Arial" charset="0"/>
              </a:rPr>
              <a:t> </a:t>
            </a:r>
          </a:p>
          <a:p>
            <a:pPr eaLnBrk="0" hangingPunct="0"/>
            <a:endParaRPr lang="sv-SE" sz="1543" dirty="0">
              <a:latin typeface="Arial" charset="0"/>
              <a:cs typeface="Arial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993418" y="2877907"/>
            <a:ext cx="9699171" cy="884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609" tIns="157632" rIns="94609" bIns="39408">
            <a:spAutoFit/>
          </a:bodyPr>
          <a:lstStyle/>
          <a:p>
            <a:pPr algn="l" eaLnBrk="0" hangingPunct="0">
              <a:buNone/>
            </a:pPr>
            <a:endParaRPr lang="sv-SE" sz="1714" dirty="0">
              <a:latin typeface="Arial" charset="0"/>
              <a:cs typeface="Arial" charset="0"/>
            </a:endParaRPr>
          </a:p>
          <a:p>
            <a:pPr algn="ctr" eaLnBrk="0" hangingPunct="0">
              <a:buNone/>
            </a:pPr>
            <a:r>
              <a:rPr lang="sv-SE" sz="1200" dirty="0">
                <a:cs typeface="Arial" charset="0"/>
              </a:rPr>
              <a:t> </a:t>
            </a:r>
          </a:p>
          <a:p>
            <a:pPr eaLnBrk="0" hangingPunct="0"/>
            <a:endParaRPr lang="sv-SE" sz="1543" dirty="0">
              <a:latin typeface="Arial" charset="0"/>
              <a:cs typeface="Arial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993418" y="3980093"/>
            <a:ext cx="9699171" cy="1254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4609" tIns="157632" rIns="94609" bIns="39408">
            <a:spAutoFit/>
          </a:bodyPr>
          <a:lstStyle/>
          <a:p>
            <a:pPr algn="l">
              <a:buNone/>
            </a:pPr>
            <a:endParaRPr lang="sv-SE" sz="2400" dirty="0">
              <a:cs typeface="Arial" charset="0"/>
            </a:endParaRPr>
          </a:p>
          <a:p>
            <a:pPr algn="l" eaLnBrk="0" hangingPunct="0">
              <a:buNone/>
            </a:pPr>
            <a:endParaRPr lang="sv-SE" sz="1714" dirty="0">
              <a:latin typeface="Arial" charset="0"/>
              <a:cs typeface="Arial" charset="0"/>
            </a:endParaRPr>
          </a:p>
          <a:p>
            <a:pPr algn="ctr" eaLnBrk="0" hangingPunct="0">
              <a:buNone/>
            </a:pPr>
            <a:r>
              <a:rPr lang="sv-SE" sz="1200" dirty="0">
                <a:cs typeface="Arial" charset="0"/>
              </a:rPr>
              <a:t> </a:t>
            </a:r>
          </a:p>
          <a:p>
            <a:pPr eaLnBrk="0" hangingPunct="0"/>
            <a:endParaRPr lang="sv-SE" sz="1543" dirty="0">
              <a:latin typeface="Arial" charset="0"/>
              <a:cs typeface="Arial" charset="0"/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695400" y="2755442"/>
            <a:ext cx="1099718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000" b="1" spc="-10" dirty="0"/>
              <a:t>10000m3/h = 2777l/s							2000m3/h =555 l/s</a:t>
            </a:r>
            <a:endParaRPr lang="sv-SE" sz="2000" b="1" spc="-10" dirty="0"/>
          </a:p>
          <a:p>
            <a:pPr algn="l">
              <a:buNone/>
            </a:pPr>
            <a:r>
              <a:rPr lang="de-DE" sz="2000" b="1" spc="-10" dirty="0"/>
              <a:t>1,2x2,77x(20-7)=43 kW/h						1,2x0,555x(20-7)=8,6 kW/h</a:t>
            </a:r>
            <a:endParaRPr lang="sv-SE" sz="2000" b="1" spc="-10" dirty="0"/>
          </a:p>
          <a:p>
            <a:pPr algn="l">
              <a:buNone/>
            </a:pPr>
            <a:r>
              <a:rPr lang="de-DE" sz="2000" b="1" spc="-10" dirty="0"/>
              <a:t>10h </a:t>
            </a:r>
            <a:r>
              <a:rPr lang="de-DE" sz="2000" b="1" spc="-10" dirty="0" err="1"/>
              <a:t>drift</a:t>
            </a:r>
            <a:r>
              <a:rPr lang="de-DE" sz="2000" b="1" spc="-10" dirty="0"/>
              <a:t> 22dgr									10h </a:t>
            </a:r>
            <a:r>
              <a:rPr lang="de-DE" sz="2000" b="1" spc="-10" dirty="0" err="1"/>
              <a:t>drift</a:t>
            </a:r>
            <a:r>
              <a:rPr lang="de-DE" sz="2000" b="1" spc="-10" dirty="0"/>
              <a:t> 22dgr</a:t>
            </a:r>
          </a:p>
          <a:p>
            <a:pPr algn="l">
              <a:buNone/>
            </a:pPr>
            <a:r>
              <a:rPr lang="sv-SE" sz="2000" b="1" spc="-10" dirty="0"/>
              <a:t>220x10x43= 94600kWh =ca95000kr			220x10x8,6=18920kWh =ca19000kr</a:t>
            </a:r>
          </a:p>
          <a:p>
            <a:pPr algn="l">
              <a:buNone/>
            </a:pPr>
            <a:endParaRPr lang="sv-SE" sz="2000" b="1" spc="-10" dirty="0"/>
          </a:p>
          <a:p>
            <a:pPr algn="l">
              <a:buNone/>
            </a:pPr>
            <a:r>
              <a:rPr lang="sv-SE" sz="2000" b="1" spc="-10" dirty="0"/>
              <a:t>med återvinning ca 40.000-50.000kr/år			med återvinning ca 8.500kr/år </a:t>
            </a:r>
          </a:p>
        </p:txBody>
      </p:sp>
    </p:spTree>
    <p:extLst>
      <p:ext uri="{BB962C8B-B14F-4D97-AF65-F5344CB8AC3E}">
        <p14:creationId xmlns:p14="http://schemas.microsoft.com/office/powerpoint/2010/main" val="414854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/>
              <a:t>Hands-on</a:t>
            </a:r>
            <a:br>
              <a:rPr lang="en-GB" dirty="0"/>
            </a:br>
            <a:r>
              <a:rPr lang="en-GB" dirty="0" err="1"/>
              <a:t>Konfigurera</a:t>
            </a:r>
            <a:r>
              <a:rPr lang="en-GB" dirty="0"/>
              <a:t> VAV-</a:t>
            </a:r>
            <a:r>
              <a:rPr lang="en-GB" dirty="0" err="1"/>
              <a:t>ställdon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3A37651-5C6B-4C06-838F-50598261C2B0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D900564C-69AB-4CEA-BBC0-E0FD0B01118C}" type="slidenum">
              <a:rPr lang="en-GB" smtClean="0">
                <a:solidFill>
                  <a:srgbClr val="000000"/>
                </a:solidFill>
              </a:rPr>
              <a:t>14</a:t>
            </a:fld>
            <a:endParaRPr lang="en-GB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65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 err="1"/>
              <a:t>Konfiguration</a:t>
            </a:r>
            <a:r>
              <a:rPr lang="en-GB" dirty="0"/>
              <a:t> via Belimo Assistant app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3A37651-5C6B-4C06-838F-50598261C2B0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D900564C-69AB-4CEA-BBC0-E0FD0B01118C}" type="slidenum">
              <a:rPr lang="en-GB" smtClean="0">
                <a:solidFill>
                  <a:srgbClr val="000000"/>
                </a:solidFill>
              </a:rPr>
              <a:t>15</a:t>
            </a:fld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2" name="Bildobjek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08" y="1916832"/>
            <a:ext cx="2876698" cy="1866996"/>
          </a:xfrm>
          <a:prstGeom prst="rect">
            <a:avLst/>
          </a:prstGeom>
        </p:spPr>
      </p:pic>
      <p:sp>
        <p:nvSpPr>
          <p:cNvPr id="14" name="textruta 13"/>
          <p:cNvSpPr txBox="1"/>
          <p:nvPr/>
        </p:nvSpPr>
        <p:spPr>
          <a:xfrm>
            <a:off x="5447928" y="1700808"/>
            <a:ext cx="4032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200" dirty="0"/>
              <a:t>Expert mode</a:t>
            </a:r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200" dirty="0"/>
              <a:t>Release code</a:t>
            </a:r>
          </a:p>
        </p:txBody>
      </p:sp>
    </p:spTree>
    <p:extLst>
      <p:ext uri="{BB962C8B-B14F-4D97-AF65-F5344CB8AC3E}">
        <p14:creationId xmlns:p14="http://schemas.microsoft.com/office/powerpoint/2010/main" val="361836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70CF5138-4E05-4986-8A4A-7947965FC85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en-GB" dirty="0" err="1"/>
              <a:t>Konfiguration</a:t>
            </a:r>
            <a:r>
              <a:rPr lang="en-GB" dirty="0"/>
              <a:t> via ZTH EU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3A37651-5C6B-4C06-838F-50598261C2B0}"/>
              </a:ext>
            </a:extLst>
          </p:cNvPr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D900564C-69AB-4CEA-BBC0-E0FD0B01118C}" type="slidenum">
              <a:rPr lang="en-GB" smtClean="0">
                <a:solidFill>
                  <a:srgbClr val="000000"/>
                </a:solidFill>
              </a:rPr>
              <a:t>16</a:t>
            </a:fld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3" name="Bildobjek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6" y="1409615"/>
            <a:ext cx="3598661" cy="2379557"/>
          </a:xfrm>
          <a:prstGeom prst="rect">
            <a:avLst/>
          </a:prstGeom>
        </p:spPr>
      </p:pic>
      <p:sp>
        <p:nvSpPr>
          <p:cNvPr id="4" name="textruta 3"/>
          <p:cNvSpPr txBox="1"/>
          <p:nvPr/>
        </p:nvSpPr>
        <p:spPr>
          <a:xfrm>
            <a:off x="5447928" y="1700808"/>
            <a:ext cx="403244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200" dirty="0"/>
              <a:t>Expert mode</a:t>
            </a:r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200" dirty="0"/>
              <a:t>Advanced mode</a:t>
            </a:r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200" dirty="0"/>
              <a:t>OEM-</a:t>
            </a:r>
            <a:r>
              <a:rPr lang="en-US" sz="3200" dirty="0" err="1"/>
              <a:t>kod</a:t>
            </a:r>
            <a:endParaRPr lang="en-US" sz="3200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sz="3200" dirty="0"/>
              <a:t>Retrofit-</a:t>
            </a:r>
            <a:r>
              <a:rPr lang="en-US" sz="3200" dirty="0" err="1"/>
              <a:t>kod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2887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Vanliga</a:t>
            </a:r>
            <a:r>
              <a:rPr lang="en-US" dirty="0"/>
              <a:t> </a:t>
            </a:r>
            <a:r>
              <a:rPr lang="en-US" dirty="0" err="1"/>
              <a:t>frågor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497D8F-1D8B-4601-8224-8C1B6D90A20C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318514"/>
            <a:ext cx="10943167" cy="4414838"/>
          </a:xfrm>
        </p:spPr>
        <p:txBody>
          <a:bodyPr/>
          <a:lstStyle/>
          <a:p>
            <a:r>
              <a:rPr lang="en-US" sz="2400" dirty="0" err="1"/>
              <a:t>Kan</a:t>
            </a:r>
            <a:r>
              <a:rPr lang="en-US" sz="2400" dirty="0"/>
              <a:t> man </a:t>
            </a:r>
            <a:r>
              <a:rPr lang="en-US" sz="2400" dirty="0" err="1"/>
              <a:t>köpa</a:t>
            </a:r>
            <a:r>
              <a:rPr lang="en-US" sz="2400" dirty="0"/>
              <a:t> </a:t>
            </a:r>
            <a:r>
              <a:rPr lang="en-US" sz="2400" dirty="0" err="1"/>
              <a:t>ett</a:t>
            </a:r>
            <a:r>
              <a:rPr lang="en-US" sz="2400" dirty="0"/>
              <a:t> VAV </a:t>
            </a:r>
            <a:r>
              <a:rPr lang="en-US" sz="2400" dirty="0" err="1"/>
              <a:t>ställdon</a:t>
            </a:r>
            <a:r>
              <a:rPr lang="en-US" sz="2400" dirty="0"/>
              <a:t> </a:t>
            </a:r>
            <a:r>
              <a:rPr lang="en-US" sz="2400" dirty="0" err="1"/>
              <a:t>direkt</a:t>
            </a:r>
            <a:r>
              <a:rPr lang="en-US" sz="2400" dirty="0"/>
              <a:t> </a:t>
            </a:r>
            <a:r>
              <a:rPr lang="en-US" sz="2400" dirty="0" err="1"/>
              <a:t>av</a:t>
            </a:r>
            <a:r>
              <a:rPr lang="en-US" sz="2400" dirty="0"/>
              <a:t> </a:t>
            </a:r>
            <a:r>
              <a:rPr lang="en-US" sz="2400" dirty="0" err="1"/>
              <a:t>er</a:t>
            </a:r>
            <a:r>
              <a:rPr lang="en-US" sz="2400" dirty="0"/>
              <a:t>?</a:t>
            </a:r>
          </a:p>
          <a:p>
            <a:pPr marL="982350" lvl="2" indent="-514350">
              <a:buFont typeface="+mj-lt"/>
              <a:buAutoNum type="romanUcPeriod"/>
            </a:pPr>
            <a:r>
              <a:rPr lang="en-US" sz="2000" i="1" dirty="0" err="1"/>
              <a:t>Säljs</a:t>
            </a:r>
            <a:r>
              <a:rPr lang="en-US" sz="2000" i="1" dirty="0"/>
              <a:t> </a:t>
            </a:r>
            <a:r>
              <a:rPr lang="en-US" sz="2000" i="1" dirty="0" err="1"/>
              <a:t>enbart</a:t>
            </a:r>
            <a:r>
              <a:rPr lang="en-US" sz="2000" i="1" dirty="0"/>
              <a:t> till OEM. </a:t>
            </a:r>
            <a:r>
              <a:rPr lang="en-US" sz="2000" i="1" dirty="0" err="1"/>
              <a:t>Undantag</a:t>
            </a:r>
            <a:r>
              <a:rPr lang="en-US" sz="2000" i="1" dirty="0"/>
              <a:t> **–RE</a:t>
            </a:r>
          </a:p>
          <a:p>
            <a:pPr marL="234000" lvl="1" indent="0">
              <a:buNone/>
            </a:pPr>
            <a:endParaRPr lang="en-US" sz="2200" dirty="0"/>
          </a:p>
          <a:p>
            <a:r>
              <a:rPr lang="en-US" sz="2400" dirty="0" err="1"/>
              <a:t>Hur</a:t>
            </a:r>
            <a:r>
              <a:rPr lang="en-US" sz="2400" dirty="0"/>
              <a:t> </a:t>
            </a:r>
            <a:r>
              <a:rPr lang="en-US" sz="2400" dirty="0" err="1"/>
              <a:t>ställer</a:t>
            </a:r>
            <a:r>
              <a:rPr lang="en-US" sz="2400" dirty="0"/>
              <a:t> man in </a:t>
            </a:r>
            <a:r>
              <a:rPr lang="en-US" sz="2400" dirty="0" err="1"/>
              <a:t>V</a:t>
            </a:r>
            <a:r>
              <a:rPr lang="en-US" sz="2400" baseline="-25000" dirty="0" err="1"/>
              <a:t>max</a:t>
            </a:r>
            <a:r>
              <a:rPr lang="en-US" sz="2400" baseline="-25000" dirty="0"/>
              <a:t> </a:t>
            </a:r>
            <a:r>
              <a:rPr lang="en-US" sz="2400" dirty="0" err="1"/>
              <a:t>och</a:t>
            </a:r>
            <a:r>
              <a:rPr lang="en-US" sz="2400" dirty="0"/>
              <a:t> </a:t>
            </a:r>
            <a:r>
              <a:rPr lang="en-US" sz="2400" dirty="0" err="1"/>
              <a:t>V</a:t>
            </a:r>
            <a:r>
              <a:rPr lang="en-US" sz="2400" baseline="-25000" dirty="0" err="1"/>
              <a:t>min</a:t>
            </a:r>
            <a:r>
              <a:rPr lang="en-US" sz="2400" baseline="-25000" dirty="0"/>
              <a:t> </a:t>
            </a:r>
            <a:r>
              <a:rPr lang="en-US" sz="2800" dirty="0"/>
              <a:t> ?</a:t>
            </a:r>
          </a:p>
          <a:p>
            <a:pPr marL="1039500" lvl="2" indent="-571500">
              <a:buFont typeface="+mj-lt"/>
              <a:buAutoNum type="romanUcPeriod"/>
            </a:pPr>
            <a:r>
              <a:rPr lang="en-US" sz="2000" i="1" dirty="0" err="1"/>
              <a:t>Serviceverktyget</a:t>
            </a:r>
            <a:r>
              <a:rPr lang="en-US" sz="2000" i="1" dirty="0"/>
              <a:t> ZTH EU</a:t>
            </a:r>
          </a:p>
          <a:p>
            <a:pPr marL="1039500" lvl="2" indent="-571500">
              <a:buFont typeface="+mj-lt"/>
              <a:buAutoNum type="romanUcPeriod"/>
            </a:pPr>
            <a:r>
              <a:rPr lang="en-US" sz="2000" i="1" dirty="0"/>
              <a:t>PC-Tool</a:t>
            </a:r>
          </a:p>
          <a:p>
            <a:pPr marL="1039500" lvl="2" indent="-571500">
              <a:buFont typeface="+mj-lt"/>
              <a:buAutoNum type="romanUcPeriod"/>
            </a:pPr>
            <a:r>
              <a:rPr lang="en-US" sz="2000" i="1" dirty="0"/>
              <a:t>NFC (om </a:t>
            </a:r>
            <a:r>
              <a:rPr lang="en-US" sz="2000" i="1" dirty="0" err="1"/>
              <a:t>möjligt</a:t>
            </a:r>
            <a:r>
              <a:rPr lang="en-US" sz="2000" i="1" dirty="0"/>
              <a:t>)</a:t>
            </a:r>
          </a:p>
          <a:p>
            <a:pPr marL="1039500" lvl="2" indent="-571500">
              <a:buFont typeface="+mj-lt"/>
              <a:buAutoNum type="romanUcPeriod"/>
            </a:pPr>
            <a:endParaRPr lang="en-US" sz="2400" dirty="0"/>
          </a:p>
          <a:p>
            <a:endParaRPr lang="en-US" sz="2800" dirty="0"/>
          </a:p>
          <a:p>
            <a:endParaRPr lang="en-US" sz="2400" dirty="0"/>
          </a:p>
          <a:p>
            <a:endParaRPr lang="en-US" sz="2800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28" y="4293854"/>
            <a:ext cx="1781644" cy="2061822"/>
          </a:xfrm>
          <a:prstGeom prst="rect">
            <a:avLst/>
          </a:prstGeom>
        </p:spPr>
      </p:pic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572" y="4562326"/>
            <a:ext cx="2037389" cy="1524878"/>
          </a:xfrm>
          <a:prstGeom prst="rect">
            <a:avLst/>
          </a:prstGeom>
        </p:spPr>
      </p:pic>
      <p:pic>
        <p:nvPicPr>
          <p:cNvPr id="11" name="Bildobjekt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840" y="4293854"/>
            <a:ext cx="2371429" cy="1876190"/>
          </a:xfrm>
          <a:prstGeom prst="rect">
            <a:avLst/>
          </a:prstGeom>
        </p:spPr>
      </p:pic>
      <p:sp>
        <p:nvSpPr>
          <p:cNvPr id="3" name="Platshållare för sidfot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61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Vanliga</a:t>
            </a:r>
            <a:r>
              <a:rPr lang="en-US" dirty="0"/>
              <a:t> </a:t>
            </a:r>
            <a:r>
              <a:rPr lang="en-US" dirty="0" err="1"/>
              <a:t>frågor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4CECD9-661E-4934-8981-26E1011BC5F1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318514"/>
            <a:ext cx="10943167" cy="4414838"/>
          </a:xfrm>
        </p:spPr>
        <p:txBody>
          <a:bodyPr/>
          <a:lstStyle/>
          <a:p>
            <a:pPr marL="234000" lvl="1" indent="0">
              <a:buNone/>
            </a:pPr>
            <a:endParaRPr lang="en-US" sz="2200" dirty="0"/>
          </a:p>
          <a:p>
            <a:r>
              <a:rPr lang="en-US" sz="2400" dirty="0" err="1"/>
              <a:t>Varför</a:t>
            </a:r>
            <a:r>
              <a:rPr lang="en-US" sz="2400" dirty="0"/>
              <a:t> </a:t>
            </a:r>
            <a:r>
              <a:rPr lang="en-US" sz="2400" dirty="0" err="1"/>
              <a:t>står</a:t>
            </a:r>
            <a:r>
              <a:rPr lang="en-US" sz="2400" dirty="0"/>
              <a:t> </a:t>
            </a:r>
            <a:r>
              <a:rPr lang="en-US" sz="2400" dirty="0" err="1"/>
              <a:t>V</a:t>
            </a:r>
            <a:r>
              <a:rPr lang="en-US" sz="2400" baseline="-25000" dirty="0" err="1"/>
              <a:t>nom</a:t>
            </a:r>
            <a:r>
              <a:rPr lang="en-US" sz="2400" baseline="-25000" dirty="0"/>
              <a:t> </a:t>
            </a:r>
            <a:r>
              <a:rPr lang="en-US" sz="2400" dirty="0" err="1"/>
              <a:t>och</a:t>
            </a:r>
            <a:r>
              <a:rPr lang="en-US" sz="2400" dirty="0"/>
              <a:t> ∆p </a:t>
            </a:r>
            <a:r>
              <a:rPr lang="en-US" sz="2400" dirty="0" err="1"/>
              <a:t>på</a:t>
            </a:r>
            <a:r>
              <a:rPr lang="en-US" sz="2400" dirty="0"/>
              <a:t> 0</a:t>
            </a:r>
            <a:r>
              <a:rPr lang="en-US" sz="2400" baseline="-25000" dirty="0"/>
              <a:t> </a:t>
            </a:r>
            <a:r>
              <a:rPr lang="en-US" sz="2800" dirty="0"/>
              <a:t> ?</a:t>
            </a:r>
          </a:p>
          <a:p>
            <a:pPr marL="1039500" lvl="2" indent="-571500">
              <a:buFont typeface="+mj-lt"/>
              <a:buAutoNum type="romanUcPeriod"/>
            </a:pPr>
            <a:r>
              <a:rPr lang="en-US" sz="2000" i="1" dirty="0" err="1"/>
              <a:t>Ställdonet</a:t>
            </a:r>
            <a:r>
              <a:rPr lang="en-US" sz="2000" i="1" dirty="0"/>
              <a:t> </a:t>
            </a:r>
            <a:r>
              <a:rPr lang="en-US" sz="2000" i="1" dirty="0" err="1"/>
              <a:t>är</a:t>
            </a:r>
            <a:r>
              <a:rPr lang="en-US" sz="2000" i="1" dirty="0"/>
              <a:t> </a:t>
            </a:r>
            <a:r>
              <a:rPr lang="en-US" sz="2000" i="1" dirty="0" err="1"/>
              <a:t>fabriksinställt</a:t>
            </a:r>
            <a:r>
              <a:rPr lang="en-US" sz="2000" i="1" dirty="0"/>
              <a:t> </a:t>
            </a:r>
            <a:r>
              <a:rPr lang="en-US" sz="2000" i="1" dirty="0" err="1"/>
              <a:t>och</a:t>
            </a:r>
            <a:r>
              <a:rPr lang="en-US" sz="2000" i="1" dirty="0"/>
              <a:t> </a:t>
            </a:r>
            <a:r>
              <a:rPr lang="en-US" sz="2000" i="1" dirty="0" err="1"/>
              <a:t>behöver</a:t>
            </a:r>
            <a:r>
              <a:rPr lang="en-US" sz="2000" i="1" dirty="0"/>
              <a:t> </a:t>
            </a:r>
            <a:r>
              <a:rPr lang="en-US" sz="2000" i="1" dirty="0" err="1"/>
              <a:t>konfigureras</a:t>
            </a:r>
            <a:r>
              <a:rPr lang="en-US" sz="2000" i="1" dirty="0"/>
              <a:t> 	</a:t>
            </a:r>
          </a:p>
          <a:p>
            <a:pPr marL="936000" lvl="4" indent="0">
              <a:buNone/>
            </a:pPr>
            <a:r>
              <a:rPr lang="en-US" sz="2000" i="1" dirty="0"/>
              <a:t>(</a:t>
            </a:r>
            <a:r>
              <a:rPr lang="en-US" sz="2000" i="1" dirty="0" err="1"/>
              <a:t>Kräver</a:t>
            </a:r>
            <a:r>
              <a:rPr lang="en-US" sz="2000" i="1" dirty="0"/>
              <a:t> </a:t>
            </a:r>
            <a:r>
              <a:rPr lang="en-US" sz="2000" i="1" dirty="0" err="1"/>
              <a:t>behörighet</a:t>
            </a:r>
            <a:r>
              <a:rPr lang="en-US" sz="2000" i="1" dirty="0"/>
              <a:t> - OEM </a:t>
            </a:r>
            <a:r>
              <a:rPr lang="en-US" sz="2000" i="1" dirty="0" err="1"/>
              <a:t>kod</a:t>
            </a:r>
            <a:r>
              <a:rPr lang="en-US" sz="2000" i="1" dirty="0"/>
              <a:t>; Contracting-</a:t>
            </a:r>
            <a:r>
              <a:rPr lang="en-US" sz="2000" i="1" dirty="0" err="1"/>
              <a:t>kod</a:t>
            </a:r>
            <a:r>
              <a:rPr lang="en-US" sz="2000" i="1" dirty="0"/>
              <a:t>)</a:t>
            </a:r>
          </a:p>
          <a:p>
            <a:pPr marL="1039500" lvl="2" indent="-571500">
              <a:buFont typeface="+mj-lt"/>
              <a:buAutoNum type="romanUcPeriod"/>
            </a:pPr>
            <a:endParaRPr lang="en-US" sz="2000" i="1" dirty="0"/>
          </a:p>
          <a:p>
            <a:r>
              <a:rPr lang="en-US" sz="2400" dirty="0" err="1"/>
              <a:t>Ställdonet</a:t>
            </a:r>
            <a:r>
              <a:rPr lang="en-US" sz="2400" dirty="0"/>
              <a:t> </a:t>
            </a:r>
            <a:r>
              <a:rPr lang="en-US" sz="2400" dirty="0" err="1"/>
              <a:t>stänger</a:t>
            </a:r>
            <a:r>
              <a:rPr lang="en-US" sz="2400" dirty="0"/>
              <a:t> </a:t>
            </a:r>
            <a:r>
              <a:rPr lang="en-US" sz="2400" dirty="0" err="1"/>
              <a:t>spjället</a:t>
            </a:r>
            <a:r>
              <a:rPr lang="en-US" sz="2400" dirty="0"/>
              <a:t> </a:t>
            </a:r>
            <a:r>
              <a:rPr lang="en-US" sz="2400" dirty="0" err="1"/>
              <a:t>helt</a:t>
            </a:r>
            <a:r>
              <a:rPr lang="en-US" sz="2400" dirty="0"/>
              <a:t> </a:t>
            </a:r>
            <a:r>
              <a:rPr lang="en-US" sz="2400" dirty="0" err="1"/>
              <a:t>istället</a:t>
            </a:r>
            <a:r>
              <a:rPr lang="en-US" sz="2400" dirty="0"/>
              <a:t> </a:t>
            </a:r>
            <a:r>
              <a:rPr lang="en-US" sz="2400" dirty="0" err="1"/>
              <a:t>för</a:t>
            </a:r>
            <a:r>
              <a:rPr lang="en-US" sz="2400" dirty="0"/>
              <a:t> </a:t>
            </a:r>
            <a:r>
              <a:rPr lang="en-US" sz="2400" dirty="0" err="1"/>
              <a:t>att</a:t>
            </a:r>
            <a:r>
              <a:rPr lang="en-US" sz="2400" dirty="0"/>
              <a:t> </a:t>
            </a:r>
            <a:r>
              <a:rPr lang="en-US" sz="2400" dirty="0" err="1"/>
              <a:t>jobba</a:t>
            </a:r>
            <a:r>
              <a:rPr lang="en-US" sz="2400" dirty="0"/>
              <a:t> </a:t>
            </a:r>
            <a:r>
              <a:rPr lang="en-US" sz="2400" dirty="0" err="1"/>
              <a:t>mellan</a:t>
            </a:r>
            <a:r>
              <a:rPr lang="en-US" sz="2400" dirty="0"/>
              <a:t> </a:t>
            </a:r>
            <a:r>
              <a:rPr lang="en-US" sz="2400" dirty="0" err="1"/>
              <a:t>V</a:t>
            </a:r>
            <a:r>
              <a:rPr lang="en-US" sz="2400" baseline="-25000" dirty="0" err="1"/>
              <a:t>max</a:t>
            </a:r>
            <a:r>
              <a:rPr lang="en-US" sz="2400" baseline="-25000" dirty="0"/>
              <a:t> </a:t>
            </a:r>
            <a:r>
              <a:rPr lang="en-US" sz="2400" dirty="0" err="1"/>
              <a:t>och</a:t>
            </a:r>
            <a:r>
              <a:rPr lang="en-US" sz="2400" dirty="0"/>
              <a:t> </a:t>
            </a:r>
            <a:r>
              <a:rPr lang="en-US" sz="2400" dirty="0" err="1"/>
              <a:t>V</a:t>
            </a:r>
            <a:r>
              <a:rPr lang="en-US" sz="2400" baseline="-25000" dirty="0" err="1"/>
              <a:t>min</a:t>
            </a:r>
            <a:r>
              <a:rPr lang="en-US" sz="2400" dirty="0"/>
              <a:t>, </a:t>
            </a:r>
            <a:r>
              <a:rPr lang="en-US" sz="2400" dirty="0" err="1"/>
              <a:t>vad</a:t>
            </a:r>
            <a:r>
              <a:rPr lang="en-US" sz="2400" dirty="0"/>
              <a:t> </a:t>
            </a:r>
            <a:r>
              <a:rPr lang="en-US" sz="2400" dirty="0" err="1"/>
              <a:t>är</a:t>
            </a:r>
            <a:r>
              <a:rPr lang="en-US" sz="2400" dirty="0"/>
              <a:t> </a:t>
            </a:r>
            <a:r>
              <a:rPr lang="en-US" sz="2400" dirty="0" err="1"/>
              <a:t>felet</a:t>
            </a:r>
            <a:r>
              <a:rPr lang="en-US" sz="2400" dirty="0"/>
              <a:t>?</a:t>
            </a:r>
          </a:p>
          <a:p>
            <a:pPr marL="982350" lvl="2" indent="-514350">
              <a:buFont typeface="+mj-lt"/>
              <a:buAutoNum type="romanUcPeriod"/>
            </a:pPr>
            <a:r>
              <a:rPr lang="en-US" sz="2000" i="1" dirty="0" err="1"/>
              <a:t>Mät</a:t>
            </a:r>
            <a:r>
              <a:rPr lang="en-US" sz="2000" i="1" dirty="0"/>
              <a:t> </a:t>
            </a:r>
            <a:r>
              <a:rPr lang="en-US" sz="2000" i="1" dirty="0" err="1"/>
              <a:t>spänningen</a:t>
            </a:r>
            <a:r>
              <a:rPr lang="en-US" sz="2000" i="1" dirty="0"/>
              <a:t> (0-10V, 2-10V)</a:t>
            </a:r>
          </a:p>
          <a:p>
            <a:pPr marL="982350" lvl="2" indent="-514350">
              <a:buFont typeface="+mj-lt"/>
              <a:buAutoNum type="romanUcPeriod"/>
            </a:pPr>
            <a:r>
              <a:rPr lang="en-US" sz="2000" i="1" dirty="0" err="1"/>
              <a:t>Är</a:t>
            </a:r>
            <a:r>
              <a:rPr lang="en-US" sz="2000" i="1" dirty="0"/>
              <a:t> </a:t>
            </a:r>
            <a:r>
              <a:rPr lang="en-US" sz="2000" i="1" dirty="0" err="1"/>
              <a:t>ställdonet</a:t>
            </a:r>
            <a:r>
              <a:rPr lang="en-US" sz="2000" i="1" dirty="0"/>
              <a:t> </a:t>
            </a:r>
            <a:r>
              <a:rPr lang="en-US" sz="2000" i="1" dirty="0" err="1"/>
              <a:t>inställt</a:t>
            </a:r>
            <a:r>
              <a:rPr lang="en-US" sz="2000" i="1" dirty="0"/>
              <a:t> </a:t>
            </a:r>
            <a:r>
              <a:rPr lang="en-US" sz="2000" i="1" dirty="0" err="1"/>
              <a:t>på</a:t>
            </a:r>
            <a:r>
              <a:rPr lang="en-US" sz="2000" i="1" dirty="0"/>
              <a:t> </a:t>
            </a:r>
            <a:r>
              <a:rPr lang="en-US" sz="2000" i="1" dirty="0" err="1"/>
              <a:t>forserat</a:t>
            </a:r>
            <a:r>
              <a:rPr lang="en-US" sz="2000" i="1" dirty="0"/>
              <a:t> </a:t>
            </a:r>
            <a:r>
              <a:rPr lang="en-US" sz="2000" i="1" dirty="0" err="1"/>
              <a:t>läge</a:t>
            </a:r>
            <a:r>
              <a:rPr lang="en-US" sz="2000" i="1" dirty="0"/>
              <a:t>?</a:t>
            </a:r>
          </a:p>
          <a:p>
            <a:endParaRPr lang="en-US" sz="2400" dirty="0"/>
          </a:p>
          <a:p>
            <a:endParaRPr lang="en-US" sz="2800" dirty="0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796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ruta 5"/>
          <p:cNvSpPr txBox="1"/>
          <p:nvPr/>
        </p:nvSpPr>
        <p:spPr>
          <a:xfrm>
            <a:off x="2568378" y="332657"/>
            <a:ext cx="662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 err="1"/>
              <a:t>Frågor</a:t>
            </a:r>
            <a:r>
              <a:rPr lang="en-GB" sz="2400" dirty="0"/>
              <a:t>?</a:t>
            </a:r>
          </a:p>
        </p:txBody>
      </p:sp>
      <p:pic>
        <p:nvPicPr>
          <p:cNvPr id="3076" name="Picture 4" descr="Frågor &amp; svar - betong, kolfiberförstärk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640" y="1288118"/>
            <a:ext cx="8177814" cy="386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latshållare för bildnumm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7EBEBD9-1CFA-4923-B6D2-BB358DFD0527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v-SE"/>
              <a:t>Belimo AB Utbildning, 26 april,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6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45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4272"/>
  <p:tag name="DATE" val="26 april, 2021"/>
  <p:tag name="FOOTER1" val="Belimo AB Utbildni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LVAL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LVAL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LVAL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LVAL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ULLETPARAGRAPHS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LVAL" val="1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A4A8DEB-9B75-45C3-BF8F-8B2AEC0A5D67}"/>
</file>

<file path=customXml/itemProps2.xml><?xml version="1.0" encoding="utf-8"?>
<ds:datastoreItem xmlns:ds="http://schemas.openxmlformats.org/officeDocument/2006/customXml" ds:itemID="{23AD2343-E27A-406E-9A4B-0ED8A065B20D}"/>
</file>

<file path=customXml/itemProps3.xml><?xml version="1.0" encoding="utf-8"?>
<ds:datastoreItem xmlns:ds="http://schemas.openxmlformats.org/officeDocument/2006/customXml" ds:itemID="{5CA24278-0DFE-4E08-9604-03309BC65BE8}"/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6106</TotalTime>
  <Words>715</Words>
  <Application>Microsoft Office PowerPoint</Application>
  <PresentationFormat>Bredbild</PresentationFormat>
  <Paragraphs>176</Paragraphs>
  <Slides>20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Office-tema</vt:lpstr>
      <vt:lpstr>Belimo Education VAV del 2</vt:lpstr>
      <vt:lpstr>Agenda</vt:lpstr>
      <vt:lpstr>Syfte</vt:lpstr>
      <vt:lpstr>Defintion VAV - Variable Air Volume</vt:lpstr>
      <vt:lpstr>Belimo VAV</vt:lpstr>
      <vt:lpstr>Belimo VAV </vt:lpstr>
      <vt:lpstr>Begrepp inom VAV</vt:lpstr>
      <vt:lpstr>Användningsområden</vt:lpstr>
      <vt:lpstr>VAV-Compact systemlösningar</vt:lpstr>
      <vt:lpstr>VAV-Universal ställdon</vt:lpstr>
      <vt:lpstr>PowerPoint-presentation</vt:lpstr>
      <vt:lpstr>PowerPoint-presentation</vt:lpstr>
      <vt:lpstr>PowerPoint-presentation</vt:lpstr>
      <vt:lpstr>Hands-on Konfigurera VAV-ställdon</vt:lpstr>
      <vt:lpstr>Konfiguration via Belimo Assistant app</vt:lpstr>
      <vt:lpstr>Konfiguration via ZTH EU</vt:lpstr>
      <vt:lpstr>Vanliga frågor</vt:lpstr>
      <vt:lpstr>Vanliga frågor</vt:lpstr>
      <vt:lpstr>PowerPoint-presentation</vt:lpstr>
      <vt:lpstr>PowerPoint-presentation</vt:lpstr>
    </vt:vector>
  </TitlesOfParts>
  <Company>BELIMO Automation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Belimo Academy BUS-kommunikation och NFC</dc:title>
  <dc:creator>Abdo Zaki</dc:creator>
  <cp:lastModifiedBy>Abdo Zaki</cp:lastModifiedBy>
  <cp:revision>107</cp:revision>
  <dcterms:created xsi:type="dcterms:W3CDTF">2021-03-17T12:44:57Z</dcterms:created>
  <dcterms:modified xsi:type="dcterms:W3CDTF">2023-02-21T11:58:23Z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Order">
    <vt:r8>1900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