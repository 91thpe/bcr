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ppt/theme/theme1.xml" ContentType="application/vnd.openxmlformats-officedocument.theme+xml"/>
  <Override PartName="/ppt/theme/themeOverride6.xml" ContentType="application/vnd.openxmlformats-officedocument.themeOverride+xml"/>
  <Override PartName="/ppt/theme/themeOverride17.xml" ContentType="application/vnd.openxmlformats-officedocument.themeOverride+xml"/>
  <Override PartName="/ppt/theme/themeOverride10.xml" ContentType="application/vnd.openxmlformats-officedocument.themeOverride+xml"/>
  <Override PartName="/ppt/theme/themeOverride18.xml" ContentType="application/vnd.openxmlformats-officedocument.themeOverride+xml"/>
  <Override PartName="/ppt/theme/themeOverride19.xml" ContentType="application/vnd.openxmlformats-officedocument.themeOverride+xml"/>
  <Override PartName="/ppt/theme/themeOverride1.xml" ContentType="application/vnd.openxmlformats-officedocument.themeOverride+xml"/>
  <Override PartName="/ppt/theme/themeOverride20.xml" ContentType="application/vnd.openxmlformats-officedocument.themeOverride+xml"/>
  <Override PartName="/ppt/theme/themeOverride21.xml" ContentType="application/vnd.openxmlformats-officedocument.themeOverride+xml"/>
  <Override PartName="/ppt/theme/themeOverride7.xml" ContentType="application/vnd.openxmlformats-officedocument.themeOverride+xml"/>
  <Override PartName="/ppt/theme/themeOverride2.xml" ContentType="application/vnd.openxmlformats-officedocument.themeOverride+xml"/>
  <Override PartName="/ppt/theme/themeOverride5.xml" ContentType="application/vnd.openxmlformats-officedocument.themeOverride+xml"/>
  <Override PartName="/ppt/theme/themeOverride8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Override3.xml" ContentType="application/vnd.openxmlformats-officedocument.themeOverride+xml"/>
  <Override PartName="/ppt/theme/themeOverride9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tag16.xml" ContentType="application/vnd.openxmlformats-officedocument.presentationml.tags+xml"/>
  <Override PartName="/ppt/tags/tag13.xml" ContentType="application/vnd.openxmlformats-officedocument.presentationml.tags+xml"/>
  <Override PartName="/ppt/tags/tag12.xml" ContentType="application/vnd.openxmlformats-officedocument.presentationml.tags+xml"/>
  <Override PartName="/ppt/tags/tag15.xml" ContentType="application/vnd.openxmlformats-officedocument.presentationml.tags+xml"/>
  <Override PartName="/ppt/tags/tag17.xml" ContentType="application/vnd.openxmlformats-officedocument.presentationml.tags+xml"/>
  <Override PartName="/ppt/tags/tag3.xml" ContentType="application/vnd.openxmlformats-officedocument.presentationml.tags+xml"/>
  <Override PartName="/ppt/tags/tag14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7" r:id="rId2"/>
    <p:sldId id="521" r:id="rId3"/>
    <p:sldId id="2471" r:id="rId4"/>
    <p:sldId id="258" r:id="rId5"/>
    <p:sldId id="259" r:id="rId6"/>
    <p:sldId id="260" r:id="rId7"/>
  </p:sldIdLst>
  <p:sldSz cx="12192000" cy="6858000"/>
  <p:notesSz cx="6858000" cy="9144000"/>
  <p:custDataLst>
    <p:tags r:id="rId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DD673A"/>
    <a:srgbClr val="CC5300"/>
    <a:srgbClr val="DA5800"/>
    <a:srgbClr val="E65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27C33448-EB79-47B7-91D5-C2EFFB564920}">
  <a:tblStyle styleId="{27C33448-EB79-47B7-91D5-C2EFFB564920}" styleName="Belimo">
    <a:tblBg>
      <a:effect>
        <a:effectLst/>
      </a:effect>
    </a:tblBg>
    <a:wholeTbl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3175" cmpd="sng">
              <a:solidFill>
                <a:schemeClr val="dk1"/>
              </a:solidFill>
            </a:ln>
          </a:bottom>
          <a:insideH>
            <a:ln w="3175" cmpd="sng">
              <a:solidFill>
                <a:schemeClr val="dk1"/>
              </a:solidFill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wholeTbl>
    <a:band1H>
      <a:tcTxStyle b="off" i="off">
        <a:fontRef idx="minor"/>
        <a:schemeClr val="tx1"/>
      </a:tcTxStyle>
      <a:tcStyle>
        <a:tcBdr/>
        <a:fill>
          <a:noFill/>
        </a:fill>
      </a:tcStyle>
    </a:band1H>
    <a:band2H>
      <a:tcTxStyle b="off" i="off">
        <a:fontRef idx="minor"/>
        <a:schemeClr val="tx1"/>
      </a:tcTxStyle>
      <a:tcStyle>
        <a:tcBdr/>
        <a:fill>
          <a:noFill/>
        </a:fill>
      </a:tcStyle>
    </a:band2H>
    <a:band1V>
      <a:tcTxStyle b="off" i="off">
        <a:fontRef idx="minor"/>
        <a:schemeClr val="tx1"/>
      </a:tcTxStyle>
      <a:tcStyle>
        <a:tcBdr/>
        <a:fill>
          <a:noFill/>
        </a:fill>
      </a:tcStyle>
    </a:band1V>
    <a:band2V>
      <a:tcTxStyle b="off" i="off">
        <a:fontRef idx="minor"/>
        <a:schemeClr val="tx1"/>
      </a:tcTxStyle>
      <a:tcStyle>
        <a:tcBdr/>
        <a:fill>
          <a:noFill/>
        </a:fill>
      </a:tcStyle>
    </a:band2V>
    <a:lastCol>
      <a:tcTxStyle b="off" i="off">
        <a:fontRef idx="minor"/>
        <a:schemeClr val="tx1"/>
      </a:tcTxStyle>
      <a:tcStyle>
        <a:tcBdr/>
      </a:tcStyle>
    </a:lastCol>
    <a:firstCol>
      <a:tcTxStyle b="off" i="off">
        <a:fontRef idx="minor"/>
        <a:schemeClr val="tx1"/>
      </a:tcTxStyle>
      <a:tcStyle>
        <a:tcBdr/>
      </a:tcStyle>
    </a:firstCol>
    <a:la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lastRow>
    <a:firstRow>
      <a:tcTxStyle b="off" i="off"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3175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  <a:tl2br>
            <a:ln>
              <a:noFill/>
            </a:ln>
          </a:tl2br>
          <a:tr2bl>
            <a:ln>
              <a:noFill/>
            </a:ln>
          </a:tr2bl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0" autoAdjust="0"/>
    <p:restoredTop sz="94660"/>
  </p:normalViewPr>
  <p:slideViewPr>
    <p:cSldViewPr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2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F1A6D-D9EC-431B-9D37-21901BDC901D}" type="datetimeFigureOut">
              <a:rPr lang="en-US" smtClean="0"/>
              <a:t>4/15/2025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16F115-DBCC-407A-A507-B7321B48F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819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466618">
              <a:defRPr/>
            </a:pPr>
            <a:fld id="{1116F115-DBCC-407A-A507-B7321B48F516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466618">
                <a:defRPr/>
              </a:pPr>
              <a:t>2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32078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7.xml"/><Relationship Id="rId7" Type="http://schemas.openxmlformats.org/officeDocument/2006/relationships/image" Target="../media/image2.svg"/><Relationship Id="rId2" Type="http://schemas.openxmlformats.org/officeDocument/2006/relationships/tags" Target="../tags/tag6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1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openxmlformats.org/officeDocument/2006/relationships/image" Target="../media/image4.svg"/><Relationship Id="rId2" Type="http://schemas.openxmlformats.org/officeDocument/2006/relationships/tags" Target="../tags/tag9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3.pn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tags" Target="../tags/tag13.xml"/><Relationship Id="rId7" Type="http://schemas.openxmlformats.org/officeDocument/2006/relationships/image" Target="../media/image1.png"/><Relationship Id="rId2" Type="http://schemas.openxmlformats.org/officeDocument/2006/relationships/tags" Target="../tags/tag12.xml"/><Relationship Id="rId1" Type="http://schemas.openxmlformats.org/officeDocument/2006/relationships/themeOverride" Target="../theme/themeOverride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6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6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7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8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9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0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5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6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7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8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9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0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17.xml"/><Relationship Id="rId1" Type="http://schemas.openxmlformats.org/officeDocument/2006/relationships/themeOverride" Target="../theme/themeOverride2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preserve="1" userDrawn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2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D2A5819E-0CFD-4842-A817-AFCC1289EC81}"/>
              </a:ext>
            </a:extLst>
          </p:cNvPr>
          <p:cNvPicPr>
            <a:picLocks/>
          </p:cNvPicPr>
          <p:nvPr userDrawn="1">
            <p:custDataLst>
              <p:tags r:id="rId4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6995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Orange" preserve="1" userDrawn="1">
  <p:cSld name="Title Slide Oran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9449CBB4-111C-4C67-AC0D-46FEC7DE9FDE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11" name="Date Placeholder 6"/>
          <p:cNvSpPr>
            <a:spLocks noGrp="1"/>
          </p:cNvSpPr>
          <p:nvPr>
            <p:ph type="dt" sz="half" idx="2"/>
          </p:nvPr>
        </p:nvSpPr>
        <p:spPr>
          <a:xfrm>
            <a:off x="624418" y="677465"/>
            <a:ext cx="9311517" cy="73531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lnSpc>
                <a:spcPts val="2900"/>
              </a:lnSpc>
              <a:defRPr sz="2700" b="1" spc="-3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418" y="4221088"/>
            <a:ext cx="10943164" cy="2160240"/>
          </a:xfrm>
        </p:spPr>
        <p:txBody>
          <a:bodyPr anchor="b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000" b="1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13" name="Title 1"/>
          <p:cNvSpPr>
            <a:spLocks noGrp="1"/>
          </p:cNvSpPr>
          <p:nvPr>
            <p:ph type="ctrTitle"/>
          </p:nvPr>
        </p:nvSpPr>
        <p:spPr>
          <a:xfrm>
            <a:off x="624418" y="1893888"/>
            <a:ext cx="10943167" cy="2327200"/>
          </a:xfrm>
        </p:spPr>
        <p:txBody>
          <a:bodyPr anchor="t"/>
          <a:lstStyle>
            <a:lvl1pPr algn="l"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9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10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</p:spTree>
    <p:extLst>
      <p:ext uri="{BB962C8B-B14F-4D97-AF65-F5344CB8AC3E}">
        <p14:creationId xmlns:p14="http://schemas.microsoft.com/office/powerpoint/2010/main" val="33428821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 Image" preserve="1" userDrawn="1">
  <p:cSld name="Title Slid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/>
          </p:cNvSpPr>
          <p:nvPr userDrawn="1"/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334960" y="379134"/>
            <a:ext cx="11522076" cy="499408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62D71A-887C-4825-8017-6013AC07E533}"/>
              </a:ext>
            </a:extLst>
          </p:cNvPr>
          <p:cNvSpPr>
            <a:spLocks/>
          </p:cNvSpPr>
          <p:nvPr userDrawn="1">
            <p:custDataLst>
              <p:tags r:id="rId2"/>
            </p:custDataLst>
          </p:nvPr>
        </p:nvSpPr>
        <p:spPr>
          <a:xfrm>
            <a:off x="0" y="1169439"/>
            <a:ext cx="4583831" cy="458291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Classification" hidden="1"/>
          <p:cNvSpPr txBox="1">
            <a:spLocks/>
          </p:cNvSpPr>
          <p:nvPr userDrawn="1">
            <p:custDataLst>
              <p:tags r:id="rId3"/>
            </p:custDataLst>
          </p:nvPr>
        </p:nvSpPr>
        <p:spPr>
          <a:xfrm>
            <a:off x="8832304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8" name="Status" hidden="1"/>
          <p:cNvSpPr txBox="1">
            <a:spLocks/>
          </p:cNvSpPr>
          <p:nvPr userDrawn="1">
            <p:custDataLst>
              <p:tags r:id="rId4"/>
            </p:custDataLst>
          </p:nvPr>
        </p:nvSpPr>
        <p:spPr>
          <a:xfrm>
            <a:off x="10443419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34960" y="2204864"/>
            <a:ext cx="4248870" cy="3168352"/>
          </a:xfrm>
          <a:noFill/>
        </p:spPr>
        <p:txBody>
          <a:bodyPr tIns="324000" anchor="t" anchorCtr="0"/>
          <a:lstStyle>
            <a:lvl1pPr marL="0" indent="0" algn="l">
              <a:lnSpc>
                <a:spcPts val="2100"/>
              </a:lnSpc>
              <a:spcBef>
                <a:spcPts val="0"/>
              </a:spcBef>
              <a:buNone/>
              <a:defRPr sz="2400" b="1" spc="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Klicka här för att ändra mall för underrubrikformat</a:t>
            </a:r>
            <a:endParaRPr lang="en-US" dirty="0"/>
          </a:p>
        </p:txBody>
      </p:sp>
      <p:sp>
        <p:nvSpPr>
          <p:cNvPr id="6" name="Title 1"/>
          <p:cNvSpPr>
            <a:spLocks noGrp="1"/>
          </p:cNvSpPr>
          <p:nvPr>
            <p:ph type="ctrTitle"/>
          </p:nvPr>
        </p:nvSpPr>
        <p:spPr>
          <a:xfrm>
            <a:off x="334960" y="1169439"/>
            <a:ext cx="4248870" cy="907699"/>
          </a:xfrm>
          <a:noFill/>
        </p:spPr>
        <p:txBody>
          <a:bodyPr tIns="396000" anchor="t">
            <a:noAutofit/>
          </a:bodyPr>
          <a:lstStyle>
            <a:lvl1pPr algn="l">
              <a:lnSpc>
                <a:spcPct val="100000"/>
              </a:lnSpc>
              <a:defRPr sz="3300" spc="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10" name="Date Placeholder 6"/>
          <p:cNvSpPr>
            <a:spLocks noGrp="1"/>
          </p:cNvSpPr>
          <p:nvPr>
            <p:ph type="dt" sz="half" idx="2"/>
          </p:nvPr>
        </p:nvSpPr>
        <p:spPr>
          <a:xfrm>
            <a:off x="334960" y="6343277"/>
            <a:ext cx="6466434" cy="24622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>
              <a:lnSpc>
                <a:spcPts val="2900"/>
              </a:lnSpc>
              <a:defRPr sz="1600" b="0" spc="0" baseline="0">
                <a:solidFill>
                  <a:schemeClr val="tx1"/>
                </a:solidFill>
              </a:defRPr>
            </a:lvl1pPr>
          </a:lstStyle>
          <a:p>
            <a:pPr>
              <a:lnSpc>
                <a:spcPct val="100000"/>
              </a:lnSpc>
            </a:pPr>
            <a:r>
              <a:rPr lang="en-US"/>
              <a:t> </a:t>
            </a:r>
            <a:endParaRPr lang="en-US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FFC7959-B16C-4D8A-B88F-73210F292EC6}"/>
              </a:ext>
            </a:extLst>
          </p:cNvPr>
          <p:cNvPicPr>
            <a:picLocks/>
          </p:cNvPicPr>
          <p:nvPr userDrawn="1">
            <p:custDataLst>
              <p:tags r:id="rId5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514633" y="6165824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83835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/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B3FB733-73DB-4A67-9FFF-99F5323F554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01843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 (orange)" type="secHead" preserve="1">
  <p:cSld name="Section Header (orange)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C6BE2-C9D4-4B9E-94B1-DB54C0318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890713"/>
            <a:ext cx="10944225" cy="1322263"/>
          </a:xfrm>
        </p:spPr>
        <p:txBody>
          <a:bodyPr anchor="t"/>
          <a:lstStyle>
            <a:lvl1pPr>
              <a:lnSpc>
                <a:spcPts val="5600"/>
              </a:lnSpc>
              <a:defRPr sz="5600" spc="-9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694EBF-C3D1-4C1C-9A39-6170589151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3501008"/>
            <a:ext cx="10944226" cy="1656184"/>
          </a:xfrm>
        </p:spPr>
        <p:txBody>
          <a:bodyPr/>
          <a:lstStyle>
            <a:lvl1pPr marL="0" indent="0">
              <a:lnSpc>
                <a:spcPts val="2100"/>
              </a:lnSpc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78A5755-521A-41EA-865B-2552213D049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251BBFF-D374-466F-A576-40B2F5493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6571EC8-019F-46DF-A354-667DA8F94AC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51B2ABA7-A910-49E2-B649-7DC48C465838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4936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preserve="1" userDrawn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20CF55-B30E-43E7-ABCC-044896AEC55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0C117E-D536-4BA0-9BDF-C42FAF356D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8BAA965-9996-440C-9FB0-723CE99CCF8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2"/>
          </p:nvPr>
        </p:nvSpPr>
        <p:spPr>
          <a:xfrm>
            <a:off x="624418" y="1893888"/>
            <a:ext cx="10943167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545023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BE46FA-3A48-4A43-99C0-46199B64D8CA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6480440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image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F856CE2-5254-4610-8D54-9D76AF0967A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192011" y="1893889"/>
            <a:ext cx="5375573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576781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nd content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7EAE78D-950F-49C7-BDA5-508681A110D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24418" y="1893889"/>
            <a:ext cx="5375572" cy="4414837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91035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and textbox" preserve="1" userDrawn="1">
  <p:cSld name="Content and text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8" y="1893889"/>
            <a:ext cx="5375572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EBC7523-8A4C-4110-B75B-B3077E4DD09E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192011" y="1893889"/>
            <a:ext cx="5375573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0352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box and content" preserve="1" userDrawn="1">
  <p:cSld name="Textbox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92011" y="1893889"/>
            <a:ext cx="5375573" cy="4414837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327D9E-BE73-4D4C-AFE3-58A38304E25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059FB0C-E2B9-48B0-9B4C-2123663DF97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4419" y="1893889"/>
            <a:ext cx="5375572" cy="4414837"/>
          </a:xfrm>
          <a:solidFill>
            <a:schemeClr val="accent3"/>
          </a:solidFill>
        </p:spPr>
        <p:txBody>
          <a:bodyPr lIns="216000" tIns="180000" rIns="216000" bIns="180000"/>
          <a:lstStyle>
            <a:lvl1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 b="1" spc="-3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2152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o slide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7293336-FA09-471C-8A15-D21D13479B7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Media Placeholder 4">
            <a:extLst>
              <a:ext uri="{FF2B5EF4-FFF2-40B4-BE49-F238E27FC236}">
                <a16:creationId xmlns:a16="http://schemas.microsoft.com/office/drawing/2014/main" id="{066EEECB-ED56-4BED-B2AD-B3DF2F978782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624418" y="1893889"/>
            <a:ext cx="10943167" cy="4414837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ett medieklipp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56550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ntent" type="twoObj" preserve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4417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3529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2A5B6CF-79A1-47F8-A1ED-517486AA62F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4B338744-10F7-4E61-89AE-83CE07B16422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8082643" y="1893888"/>
            <a:ext cx="3484939" cy="4414838"/>
          </a:xfrm>
        </p:spPr>
        <p:txBody>
          <a:bodyPr/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30991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images" preserve="1" userDrawn="1">
  <p:cSld name="Six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FE83F01-F523-417C-B9FE-E2843E2BD18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7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353529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082643" y="1893889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39964" y="4221090"/>
            <a:ext cx="3490384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47181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01C9B41-2A4F-4B2B-A709-FDF9A7CC0D9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24418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 baseline="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C56FB70D-BD8D-49BC-A687-8975E162E4E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85816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5" name="Text Placeholder 22">
            <a:extLst>
              <a:ext uri="{FF2B5EF4-FFF2-40B4-BE49-F238E27FC236}">
                <a16:creationId xmlns:a16="http://schemas.microsoft.com/office/drawing/2014/main" id="{28E011EC-10F8-436E-9DDA-61E1F19DE94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53530" y="3613151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1E5099FC-074B-460C-9AE2-A19CEFD58B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86269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66CD4C66-5A67-43A7-9B9B-E21BB2496B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353984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8082642" y="4221089"/>
            <a:ext cx="3490383" cy="1585913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F2A20350-CF85-46CC-94E5-07F9CAB81C0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4418" y="5877783"/>
            <a:ext cx="3484033" cy="430887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1400"/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40232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elve images" preserve="1" userDrawn="1">
  <p:cSld name="Twelve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AE1520-5274-4A35-8B37-9116716471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04AD0-AFF8-4373-8763-0CA6C04BF5D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1FB0A9-8738-4A88-87A4-A3610FBE803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3FB778EB-BDDC-49AF-B03F-DAB818E2C0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4418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463ED580-8691-4B80-A345-F72ABF9E0D9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18922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92B833DF-947F-40AD-9BD9-E749DA4259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13426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0F9573DB-1AA5-43E4-8738-5174AFF8F3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418922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680F5396-1CF3-4B14-892B-C738F2F6AE6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13426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9" name="Picture Placeholder 15">
            <a:extLst>
              <a:ext uri="{FF2B5EF4-FFF2-40B4-BE49-F238E27FC236}">
                <a16:creationId xmlns:a16="http://schemas.microsoft.com/office/drawing/2014/main" id="{ED6F8856-06D0-4144-BE54-794A295FAA7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24418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F94FD18F-3EA2-4DED-AC79-5C4CD2118BA2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007931" y="1893888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2" name="Picture Placeholder 15">
            <a:extLst>
              <a:ext uri="{FF2B5EF4-FFF2-40B4-BE49-F238E27FC236}">
                <a16:creationId xmlns:a16="http://schemas.microsoft.com/office/drawing/2014/main" id="{8D9FB38E-67FF-4522-9A37-1FE3A7DEBC4A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9007931" y="3434293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26" name="Picture Placeholder 15">
            <a:extLst>
              <a:ext uri="{FF2B5EF4-FFF2-40B4-BE49-F238E27FC236}">
                <a16:creationId xmlns:a16="http://schemas.microsoft.com/office/drawing/2014/main" id="{96ACC5FC-7C2D-4C86-A768-39A77AA87F0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3418922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1" name="Picture Placeholder 15">
            <a:extLst>
              <a:ext uri="{FF2B5EF4-FFF2-40B4-BE49-F238E27FC236}">
                <a16:creationId xmlns:a16="http://schemas.microsoft.com/office/drawing/2014/main" id="{A34A9644-50FF-4C9E-8DEB-3ED52EBC94C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6213426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735D12FE-C97E-4EAC-A09F-C4B92C908A30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624418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3B699549-9F8E-4FE8-8E7F-E8E4275D73CF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007931" y="4974699"/>
            <a:ext cx="2559655" cy="1334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289677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and text" preserve="1" userDrawn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6D0F761-54BB-40A0-93AA-3E475DA631C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" y="3429001"/>
            <a:ext cx="2880000" cy="2879725"/>
          </a:xfrm>
          <a:solidFill>
            <a:schemeClr val="bg2"/>
          </a:solidFill>
        </p:spPr>
        <p:txBody>
          <a:bodyPr lIns="288000" tIns="180000" rIns="216000" bIns="216000"/>
          <a:lstStyle>
            <a:lvl1pPr marL="0" indent="0">
              <a:lnSpc>
                <a:spcPts val="2900"/>
              </a:lnSpc>
              <a:spcBef>
                <a:spcPts val="0"/>
              </a:spcBef>
              <a:buNone/>
              <a:defRPr sz="2500" b="1" spc="-4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Klicka här för att ändra format på bakgrundstexten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5050300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 only" preserve="1" userDrawn="1">
  <p:cSld name="Imag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3DFEF8-E01E-4E5B-B4FF-C8A33994A22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noFill/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Klicka på ikonen för att lägga till en bild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5399404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89B3A4-76C7-4552-A246-03C89E52D07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57215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9274F-7E3D-416A-949B-2EB6E207D3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F981EF-CC4D-4625-9F0B-54F2B2E980A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E1944F-DF07-4CE5-B37F-003A9A10CF3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6379330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 type="titleOnly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Klicka här för att ändra mall för rubrikformat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6B45A-EFF1-4E58-9F9A-4127EFA35B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6D9EB9-F9F8-41AB-A00A-D89087D357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37BBE49-6490-46B5-B10B-230E51800D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4064347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Logo" type="blank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1F4B7B6-B0BE-4A29-95E0-E5E0A778A2D1}"/>
              </a:ext>
            </a:extLst>
          </p:cNvPr>
          <p:cNvPicPr>
            <a:picLocks/>
          </p:cNvPicPr>
          <p:nvPr userDrawn="1">
            <p:custDataLst>
              <p:tags r:id="rId2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88236" y="2088291"/>
            <a:ext cx="5542959" cy="212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45442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ags" Target="../tags/tag5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ags" Target="../tags/tag4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28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69189715-7F5C-4885-88C7-CAF1CD599A9E}"/>
              </a:ext>
            </a:extLst>
          </p:cNvPr>
          <p:cNvPicPr>
            <a:picLocks/>
          </p:cNvPicPr>
          <p:nvPr userDrawn="1">
            <p:custDataLst>
              <p:tags r:id="rId23"/>
            </p:custDataLst>
          </p:nvPr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10514631" y="608783"/>
            <a:ext cx="1087200" cy="417309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4418" y="677466"/>
            <a:ext cx="9311517" cy="73531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4418" y="1893888"/>
            <a:ext cx="10943167" cy="44148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Klicka här för att ändra format på bakgrundstexten</a:t>
            </a:r>
          </a:p>
          <a:p>
            <a:pPr lvl="1"/>
            <a:r>
              <a:rPr lang="en-US"/>
              <a:t>Nivå två</a:t>
            </a:r>
          </a:p>
          <a:p>
            <a:pPr lvl="2"/>
            <a:r>
              <a:rPr lang="en-US"/>
              <a:t>Nivå tre</a:t>
            </a:r>
          </a:p>
          <a:p>
            <a:pPr lvl="3"/>
            <a:r>
              <a:rPr lang="en-US"/>
              <a:t>Nivå fyra</a:t>
            </a:r>
          </a:p>
          <a:p>
            <a:pPr lvl="4"/>
            <a:r>
              <a:rPr lang="en-US"/>
              <a:t>Nivå fem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24418" y="6502230"/>
            <a:ext cx="7127765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76520" y="6502230"/>
            <a:ext cx="791064" cy="2088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lnSpc>
                <a:spcPts val="1600"/>
              </a:lnSpc>
              <a:defRPr sz="1000" b="1">
                <a:solidFill>
                  <a:schemeClr val="tx1"/>
                </a:solidFill>
              </a:defRPr>
            </a:lvl1pPr>
          </a:lstStyle>
          <a:p>
            <a:fld id="{BCC482FB-B64B-4D89-B933-10962CC4B69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lassification" hidden="1"/>
          <p:cNvSpPr txBox="1">
            <a:spLocks/>
          </p:cNvSpPr>
          <p:nvPr userDrawn="1">
            <p:custDataLst>
              <p:tags r:id="rId24"/>
            </p:custDataLst>
          </p:nvPr>
        </p:nvSpPr>
        <p:spPr>
          <a:xfrm>
            <a:off x="7968208" y="6502230"/>
            <a:ext cx="151139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Classification</a:t>
            </a:r>
          </a:p>
        </p:txBody>
      </p:sp>
      <p:sp>
        <p:nvSpPr>
          <p:cNvPr id="9" name="Status" hidden="1"/>
          <p:cNvSpPr txBox="1">
            <a:spLocks/>
          </p:cNvSpPr>
          <p:nvPr userDrawn="1">
            <p:custDataLst>
              <p:tags r:id="rId25"/>
            </p:custDataLst>
          </p:nvPr>
        </p:nvSpPr>
        <p:spPr>
          <a:xfrm>
            <a:off x="9579323" y="6502230"/>
            <a:ext cx="1125189" cy="20880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1000" b="1" dirty="0">
                <a:solidFill>
                  <a:schemeClr val="tx1"/>
                </a:solidFill>
                <a:latin typeface="+mn-lt"/>
              </a:rPr>
              <a:t>Status</a:t>
            </a:r>
          </a:p>
        </p:txBody>
      </p:sp>
      <p:sp>
        <p:nvSpPr>
          <p:cNvPr id="10" name="Textbox" hidden="1"/>
          <p:cNvSpPr txBox="1">
            <a:spLocks/>
          </p:cNvSpPr>
          <p:nvPr userDrawn="1">
            <p:custDataLst>
              <p:tags r:id="rId26"/>
            </p:custDataLst>
          </p:nvPr>
        </p:nvSpPr>
        <p:spPr>
          <a:xfrm>
            <a:off x="624418" y="6031726"/>
            <a:ext cx="10943167" cy="276999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indent="0">
              <a:buSzPct val="100000"/>
              <a:buFont typeface="Arial" panose="020B0604020202020204" pitchFamily="34" charset="0"/>
              <a:buNone/>
            </a:pPr>
            <a:r>
              <a:rPr lang="en-US"/>
              <a:t>Text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438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1" r:id="rId2"/>
    <p:sldLayoutId id="2147483683" r:id="rId3"/>
    <p:sldLayoutId id="2147483681" r:id="rId4"/>
    <p:sldLayoutId id="2147483682" r:id="rId5"/>
    <p:sldLayoutId id="2147483662" r:id="rId6"/>
    <p:sldLayoutId id="2147483664" r:id="rId7"/>
    <p:sldLayoutId id="2147483678" r:id="rId8"/>
    <p:sldLayoutId id="2147483679" r:id="rId9"/>
    <p:sldLayoutId id="2147483675" r:id="rId10"/>
    <p:sldLayoutId id="2147483676" r:id="rId11"/>
    <p:sldLayoutId id="2147483677" r:id="rId12"/>
    <p:sldLayoutId id="2147483668" r:id="rId13"/>
    <p:sldLayoutId id="2147483669" r:id="rId14"/>
    <p:sldLayoutId id="2147483670" r:id="rId15"/>
    <p:sldLayoutId id="2147483673" r:id="rId16"/>
    <p:sldLayoutId id="2147483672" r:id="rId17"/>
    <p:sldLayoutId id="2147483666" r:id="rId18"/>
    <p:sldLayoutId id="2147483667" r:id="rId19"/>
    <p:sldLayoutId id="2147483680" r:id="rId20"/>
    <p:sldLayoutId id="2147483674" r:id="rId21"/>
  </p:sldLayoutIdLst>
  <p:hf sldNum="0" hdr="0" ftr="0" dt="0"/>
  <p:txStyles>
    <p:titleStyle>
      <a:lvl1pPr algn="l" defTabSz="914400" rtl="0" eaLnBrk="1" latinLnBrk="0" hangingPunct="1">
        <a:lnSpc>
          <a:spcPts val="2900"/>
        </a:lnSpc>
        <a:spcBef>
          <a:spcPct val="0"/>
        </a:spcBef>
        <a:buNone/>
        <a:defRPr sz="2700" b="1" kern="1200" spc="-4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3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2000" kern="1200" spc="-10" baseline="0">
          <a:solidFill>
            <a:schemeClr val="tx1"/>
          </a:solidFill>
          <a:latin typeface="+mn-lt"/>
          <a:ea typeface="+mn-ea"/>
          <a:cs typeface="+mn-cs"/>
        </a:defRPr>
      </a:lvl1pPr>
      <a:lvl2pPr marL="46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800" kern="1200" spc="-10" baseline="0">
          <a:solidFill>
            <a:schemeClr val="tx1"/>
          </a:solidFill>
          <a:latin typeface="+mn-lt"/>
          <a:ea typeface="+mn-ea"/>
          <a:cs typeface="+mn-cs"/>
        </a:defRPr>
      </a:lvl2pPr>
      <a:lvl3pPr marL="70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3pPr>
      <a:lvl4pPr marL="93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4pPr>
      <a:lvl5pPr marL="1170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 spc="-10" baseline="0">
          <a:solidFill>
            <a:schemeClr val="tx1"/>
          </a:solidFill>
          <a:latin typeface="+mn-lt"/>
          <a:ea typeface="+mn-ea"/>
          <a:cs typeface="+mn-cs"/>
        </a:defRPr>
      </a:lvl5pPr>
      <a:lvl6pPr marL="1404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638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872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106000" indent="-234000" algn="l" defTabSz="914400" rtl="0" eaLnBrk="1" latinLnBrk="0" hangingPunct="1">
        <a:lnSpc>
          <a:spcPct val="110000"/>
        </a:lnSpc>
        <a:spcBef>
          <a:spcPts val="0"/>
        </a:spcBef>
        <a:buClr>
          <a:schemeClr val="bg2"/>
        </a:buClr>
        <a:buSzPct val="10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3" userDrawn="1">
          <p15:clr>
            <a:srgbClr val="F26B43"/>
          </p15:clr>
        </p15:guide>
        <p15:guide id="2" orient="horz" pos="609" userDrawn="1">
          <p15:clr>
            <a:srgbClr val="F26B43"/>
          </p15:clr>
        </p15:guide>
        <p15:guide id="3" orient="horz" pos="119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4193" userDrawn="1">
          <p15:clr>
            <a:srgbClr val="F26B43"/>
          </p15:clr>
        </p15:guide>
        <p15:guide id="6" pos="728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hyperlink" Target="https://www.belimo.com/se/shop/sv_SE/register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Relationship Id="rId6" Type="http://schemas.openxmlformats.org/officeDocument/2006/relationships/hyperlink" Target="http://www.belimo.se/" TargetMode="Externa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 dirty="0" err="1">
                <a:solidFill>
                  <a:schemeClr val="bg1"/>
                </a:solidFill>
              </a:rPr>
              <a:t>Nyckeltal</a:t>
            </a:r>
            <a:r>
              <a:rPr lang="en-US" sz="2000" dirty="0">
                <a:solidFill>
                  <a:schemeClr val="bg1"/>
                </a:solidFill>
              </a:rPr>
              <a:t>: 2361 </a:t>
            </a:r>
            <a:r>
              <a:rPr lang="en-US" sz="2000" dirty="0" err="1">
                <a:solidFill>
                  <a:schemeClr val="bg1"/>
                </a:solidFill>
              </a:rPr>
              <a:t>anställda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verksamma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</a:t>
            </a:r>
            <a:r>
              <a:rPr lang="en-US" sz="2000" dirty="0">
                <a:solidFill>
                  <a:schemeClr val="bg1"/>
                </a:solidFill>
              </a:rPr>
              <a:t> 80 </a:t>
            </a:r>
            <a:r>
              <a:rPr lang="en-US" sz="2000" dirty="0" err="1">
                <a:solidFill>
                  <a:schemeClr val="bg1"/>
                </a:solidFill>
              </a:rPr>
              <a:t>länder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dirty="0" err="1">
                <a:solidFill>
                  <a:schemeClr val="bg1"/>
                </a:solidFill>
              </a:rPr>
              <a:t>Omsätter</a:t>
            </a:r>
            <a:r>
              <a:rPr lang="en-US" dirty="0">
                <a:solidFill>
                  <a:schemeClr val="bg1"/>
                </a:solidFill>
              </a:rPr>
              <a:t> 943,9 </a:t>
            </a:r>
            <a:r>
              <a:rPr lang="en-US" dirty="0" err="1">
                <a:solidFill>
                  <a:schemeClr val="bg1"/>
                </a:solidFill>
              </a:rPr>
              <a:t>miljoner</a:t>
            </a:r>
            <a:r>
              <a:rPr lang="en-US" dirty="0">
                <a:solidFill>
                  <a:schemeClr val="bg1"/>
                </a:solidFill>
              </a:rPr>
              <a:t> CHF</a:t>
            </a:r>
          </a:p>
          <a:p>
            <a:r>
              <a:rPr lang="en-US" dirty="0">
                <a:solidFill>
                  <a:schemeClr val="bg1"/>
                </a:solidFill>
              </a:rPr>
              <a:t>Lager </a:t>
            </a:r>
            <a:r>
              <a:rPr lang="en-US" dirty="0" err="1">
                <a:solidFill>
                  <a:schemeClr val="bg1"/>
                </a:solidFill>
              </a:rPr>
              <a:t>i</a:t>
            </a:r>
            <a:r>
              <a:rPr lang="en-US" dirty="0">
                <a:solidFill>
                  <a:schemeClr val="bg1"/>
                </a:solidFill>
              </a:rPr>
              <a:t> Schweiz, </a:t>
            </a:r>
            <a:r>
              <a:rPr lang="en-US" dirty="0" err="1">
                <a:solidFill>
                  <a:schemeClr val="bg1"/>
                </a:solidFill>
              </a:rPr>
              <a:t>Tyskland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och</a:t>
            </a:r>
            <a:r>
              <a:rPr lang="en-US" dirty="0">
                <a:solidFill>
                  <a:schemeClr val="bg1"/>
                </a:solidFill>
              </a:rPr>
              <a:t> Sverige</a:t>
            </a:r>
          </a:p>
          <a:p>
            <a:r>
              <a:rPr lang="en-US" dirty="0" err="1">
                <a:solidFill>
                  <a:schemeClr val="bg1"/>
                </a:solidFill>
              </a:rPr>
              <a:t>Produkter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och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lösningar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inom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värme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en-US" dirty="0" err="1">
                <a:solidFill>
                  <a:schemeClr val="bg1"/>
                </a:solidFill>
              </a:rPr>
              <a:t>kyla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och</a:t>
            </a:r>
            <a:r>
              <a:rPr lang="en-US" dirty="0">
                <a:solidFill>
                  <a:schemeClr val="bg1"/>
                </a:solidFill>
              </a:rPr>
              <a:t> ventilation.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Belimo Automation AG</a:t>
            </a:r>
            <a:br>
              <a:rPr lang="en-US" dirty="0"/>
            </a:br>
            <a:br>
              <a:rPr lang="en-US" dirty="0"/>
            </a:br>
            <a:br>
              <a:rPr lang="en-US" sz="2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5213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856" y="677539"/>
            <a:ext cx="10050648" cy="627459"/>
          </a:xfrm>
          <a:noFill/>
        </p:spPr>
        <p:txBody>
          <a:bodyPr/>
          <a:lstStyle/>
          <a:p>
            <a:r>
              <a:rPr lang="sv-SE" dirty="0"/>
              <a:t>Applikationer – Värme, kyla, ventilation</a:t>
            </a:r>
            <a:br>
              <a:rPr lang="sv-SE" dirty="0"/>
            </a:br>
            <a:endParaRPr lang="sv-SE" dirty="0"/>
          </a:p>
        </p:txBody>
      </p:sp>
      <p:sp>
        <p:nvSpPr>
          <p:cNvPr id="38" name="Rechteck 37"/>
          <p:cNvSpPr/>
          <p:nvPr/>
        </p:nvSpPr>
        <p:spPr>
          <a:xfrm>
            <a:off x="1559496" y="4722670"/>
            <a:ext cx="317874" cy="1933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 err="1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6" name="Bildobjekt 5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01" y="1415816"/>
            <a:ext cx="8638543" cy="3932610"/>
          </a:xfrm>
          <a:prstGeom prst="rect">
            <a:avLst/>
          </a:prstGeom>
        </p:spPr>
      </p:pic>
      <p:sp>
        <p:nvSpPr>
          <p:cNvPr id="3" name="textruta 2">
            <a:extLst>
              <a:ext uri="{FF2B5EF4-FFF2-40B4-BE49-F238E27FC236}">
                <a16:creationId xmlns:a16="http://schemas.microsoft.com/office/drawing/2014/main" id="{31875A3C-6869-FACD-8FC1-B68207ECA1B4}"/>
              </a:ext>
            </a:extLst>
          </p:cNvPr>
          <p:cNvSpPr txBox="1"/>
          <p:nvPr/>
        </p:nvSpPr>
        <p:spPr>
          <a:xfrm>
            <a:off x="581856" y="5301208"/>
            <a:ext cx="401398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Spjällställdon</a:t>
            </a:r>
            <a:endParaRPr lang="en-US" dirty="0"/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Ventiler</a:t>
            </a:r>
            <a:endParaRPr lang="en-US" dirty="0"/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Ventilställdon</a:t>
            </a:r>
            <a:r>
              <a:rPr lang="en-US" dirty="0"/>
              <a:t> – </a:t>
            </a:r>
            <a:r>
              <a:rPr lang="en-US" dirty="0" err="1"/>
              <a:t>vridande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linjära</a:t>
            </a:r>
            <a:endParaRPr lang="en-US" dirty="0"/>
          </a:p>
          <a:p>
            <a:pPr marL="210600" indent="-210600">
              <a:buClr>
                <a:srgbClr val="FF6600"/>
              </a:buClr>
              <a:buSzPct val="80000"/>
              <a:buFont typeface="Wingdings" panose="05000000000000000000" pitchFamily="2" charset="2"/>
              <a:buChar char="§"/>
            </a:pPr>
            <a:r>
              <a:rPr lang="en-US" dirty="0" err="1"/>
              <a:t>Givare</a:t>
            </a:r>
            <a:r>
              <a:rPr lang="en-US" dirty="0"/>
              <a:t> </a:t>
            </a:r>
            <a:r>
              <a:rPr lang="en-US" dirty="0" err="1"/>
              <a:t>och</a:t>
            </a:r>
            <a:r>
              <a:rPr lang="en-US" dirty="0"/>
              <a:t> </a:t>
            </a:r>
            <a:r>
              <a:rPr lang="en-US" dirty="0" err="1"/>
              <a:t>rumsenheter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1993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1E787416-9445-0795-C20C-D5606CB2D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5800" y="1153002"/>
            <a:ext cx="4045459" cy="2827310"/>
          </a:xfrm>
          <a:prstGeom prst="rect">
            <a:avLst/>
          </a:prstGeom>
        </p:spPr>
      </p:pic>
      <p:pic>
        <p:nvPicPr>
          <p:cNvPr id="15" name="Bildobjekt 14">
            <a:extLst>
              <a:ext uri="{FF2B5EF4-FFF2-40B4-BE49-F238E27FC236}">
                <a16:creationId xmlns:a16="http://schemas.microsoft.com/office/drawing/2014/main" id="{2C4E3785-9E63-1B5E-5D1E-B2E3C9B15C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0495" r="63402" b="18181"/>
          <a:stretch/>
        </p:blipFill>
        <p:spPr>
          <a:xfrm>
            <a:off x="380183" y="1296099"/>
            <a:ext cx="3583787" cy="2432579"/>
          </a:xfrm>
          <a:prstGeom prst="rect">
            <a:avLst/>
          </a:prstGeom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Belimo </a:t>
            </a:r>
            <a:r>
              <a:rPr lang="en-US" dirty="0" err="1"/>
              <a:t>i</a:t>
            </a:r>
            <a:r>
              <a:rPr lang="en-US" dirty="0"/>
              <a:t> Sverige</a:t>
            </a:r>
          </a:p>
        </p:txBody>
      </p:sp>
      <p:pic>
        <p:nvPicPr>
          <p:cNvPr id="11" name="Bildobjekt 10">
            <a:extLst>
              <a:ext uri="{FF2B5EF4-FFF2-40B4-BE49-F238E27FC236}">
                <a16:creationId xmlns:a16="http://schemas.microsoft.com/office/drawing/2014/main" id="{E218F461-DE73-B8CF-1355-AC1595774D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1048" y="2566657"/>
            <a:ext cx="3467868" cy="3212976"/>
          </a:xfrm>
          <a:prstGeom prst="rect">
            <a:avLst/>
          </a:prstGeom>
        </p:spPr>
      </p:pic>
      <p:pic>
        <p:nvPicPr>
          <p:cNvPr id="13" name="Bildobjekt 12">
            <a:extLst>
              <a:ext uri="{FF2B5EF4-FFF2-40B4-BE49-F238E27FC236}">
                <a16:creationId xmlns:a16="http://schemas.microsoft.com/office/drawing/2014/main" id="{9EFDD6A1-0B23-E8CC-9583-60CB20B1CB4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166" y="3612000"/>
            <a:ext cx="3383286" cy="2795327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61A26F0D-FC17-48A4-6631-180376DA9B9C}"/>
              </a:ext>
            </a:extLst>
          </p:cNvPr>
          <p:cNvSpPr txBox="1"/>
          <p:nvPr/>
        </p:nvSpPr>
        <p:spPr>
          <a:xfrm>
            <a:off x="501245" y="4399542"/>
            <a:ext cx="3214341" cy="180049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i="1" dirty="0">
                <a:solidFill>
                  <a:schemeClr val="accent3"/>
                </a:solidFill>
                <a:hlinkClick r:id="rId6"/>
              </a:rPr>
              <a:t>www.belimo.se</a:t>
            </a:r>
            <a:endParaRPr lang="en-US" i="1" dirty="0">
              <a:solidFill>
                <a:schemeClr val="accent3"/>
              </a:solidFill>
            </a:endParaRPr>
          </a:p>
          <a:p>
            <a:pPr algn="ctr"/>
            <a:r>
              <a:rPr lang="en-US" i="1" dirty="0"/>
              <a:t>info@belimo.se</a:t>
            </a:r>
          </a:p>
          <a:p>
            <a:pPr algn="ctr"/>
            <a:r>
              <a:rPr lang="en-US" i="1" dirty="0"/>
              <a:t>+46 (0)8 464 0700</a:t>
            </a:r>
          </a:p>
          <a:p>
            <a:pPr algn="ctr"/>
            <a:endParaRPr lang="en-US" i="1" dirty="0"/>
          </a:p>
          <a:p>
            <a:pPr algn="ctr"/>
            <a:r>
              <a:rPr lang="en-US" sz="1400" i="1" dirty="0" err="1"/>
              <a:t>Registrera</a:t>
            </a:r>
            <a:r>
              <a:rPr lang="en-US" sz="1400" i="1" dirty="0"/>
              <a:t> dig </a:t>
            </a:r>
            <a:r>
              <a:rPr lang="en-US" sz="1400" i="1" dirty="0" err="1"/>
              <a:t>på</a:t>
            </a:r>
            <a:r>
              <a:rPr lang="en-US" sz="1400" i="1" dirty="0"/>
              <a:t> </a:t>
            </a:r>
            <a:r>
              <a:rPr lang="en-US" sz="1400" i="1" dirty="0" err="1"/>
              <a:t>vår</a:t>
            </a:r>
            <a:r>
              <a:rPr lang="en-US" sz="1400" i="1" dirty="0"/>
              <a:t> </a:t>
            </a:r>
            <a:r>
              <a:rPr lang="en-US" sz="1400" i="1" dirty="0" err="1"/>
              <a:t>webbshop</a:t>
            </a:r>
            <a:endParaRPr lang="en-US" sz="1400" i="1" dirty="0"/>
          </a:p>
          <a:p>
            <a:r>
              <a:rPr lang="en-US" sz="1400" i="1" dirty="0"/>
              <a:t>	</a:t>
            </a:r>
            <a:r>
              <a:rPr lang="en-US" sz="1400" i="1" dirty="0" err="1"/>
              <a:t>och</a:t>
            </a:r>
            <a:r>
              <a:rPr lang="en-US" sz="1400" i="1" dirty="0"/>
              <a:t> </a:t>
            </a:r>
            <a:r>
              <a:rPr lang="en-US" sz="1400" i="1" dirty="0" err="1"/>
              <a:t>få</a:t>
            </a:r>
            <a:r>
              <a:rPr lang="en-US" sz="1400" i="1" dirty="0"/>
              <a:t> </a:t>
            </a:r>
            <a:r>
              <a:rPr lang="en-US" sz="1400" i="1" dirty="0" err="1"/>
              <a:t>ytterligare</a:t>
            </a:r>
            <a:r>
              <a:rPr lang="en-US" sz="1400" i="1" dirty="0"/>
              <a:t> 2% </a:t>
            </a:r>
            <a:r>
              <a:rPr lang="en-US" sz="1400" i="1" dirty="0" err="1"/>
              <a:t>rabatt</a:t>
            </a:r>
            <a:r>
              <a:rPr lang="en-US" sz="1400" i="1" dirty="0"/>
              <a:t>.</a:t>
            </a:r>
          </a:p>
          <a:p>
            <a:r>
              <a:rPr lang="en-US" sz="1100" i="1" dirty="0">
                <a:hlinkClick r:id="rId7"/>
              </a:rPr>
              <a:t>https://www.belimo.com/se/shop/sv_SE/register</a:t>
            </a:r>
            <a:endParaRPr lang="en-US" sz="1100" i="1" dirty="0"/>
          </a:p>
        </p:txBody>
      </p:sp>
    </p:spTree>
    <p:extLst>
      <p:ext uri="{BB962C8B-B14F-4D97-AF65-F5344CB8AC3E}">
        <p14:creationId xmlns:p14="http://schemas.microsoft.com/office/powerpoint/2010/main" val="820014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Rabattstruktur</a:t>
            </a:r>
            <a:endParaRPr lang="en-US" dirty="0"/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AA586E06-6D46-37C4-0A1B-EBD7857133DD}"/>
              </a:ext>
            </a:extLst>
          </p:cNvPr>
          <p:cNvSpPr txBox="1"/>
          <p:nvPr/>
        </p:nvSpPr>
        <p:spPr>
          <a:xfrm>
            <a:off x="624418" y="1674674"/>
            <a:ext cx="609755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Annual Sales Target	Base discount</a:t>
            </a:r>
            <a:r>
              <a:rPr lang="en-US" sz="1400" dirty="0"/>
              <a:t>*</a:t>
            </a:r>
            <a:endParaRPr lang="en-US" dirty="0"/>
          </a:p>
          <a:p>
            <a:r>
              <a:rPr lang="en-US" dirty="0"/>
              <a:t> ≥ 500 000 					55%</a:t>
            </a:r>
          </a:p>
          <a:p>
            <a:r>
              <a:rPr lang="en-US" dirty="0"/>
              <a:t> ≥ 1 000 000 					58%</a:t>
            </a:r>
          </a:p>
          <a:p>
            <a:r>
              <a:rPr lang="en-US" dirty="0"/>
              <a:t> ≥ 2 000 000 					61%</a:t>
            </a:r>
          </a:p>
          <a:p>
            <a:r>
              <a:rPr lang="en-US" sz="1400" dirty="0"/>
              <a:t>*)Annual base discount based on previous year's total revenue. </a:t>
            </a:r>
          </a:p>
          <a:p>
            <a:r>
              <a:rPr lang="en-US" sz="1400" dirty="0"/>
              <a:t>Additional project discounts may apply for inquiries (RFQ</a:t>
            </a:r>
            <a:r>
              <a:rPr lang="en-US" sz="1400"/>
              <a:t>) exceeding</a:t>
            </a:r>
          </a:p>
          <a:p>
            <a:r>
              <a:rPr lang="en-US" sz="1400"/>
              <a:t>SEK 250 000.</a:t>
            </a:r>
            <a:endParaRPr lang="en-US" sz="1400" dirty="0"/>
          </a:p>
          <a:p>
            <a:endParaRPr lang="en-US" sz="1400" dirty="0"/>
          </a:p>
          <a:p>
            <a:r>
              <a:rPr lang="en-US" dirty="0"/>
              <a:t>	</a:t>
            </a:r>
          </a:p>
        </p:txBody>
      </p:sp>
      <p:cxnSp>
        <p:nvCxnSpPr>
          <p:cNvPr id="12" name="Rak koppling 11">
            <a:extLst>
              <a:ext uri="{FF2B5EF4-FFF2-40B4-BE49-F238E27FC236}">
                <a16:creationId xmlns:a16="http://schemas.microsoft.com/office/drawing/2014/main" id="{92F32CA2-6CC8-A76D-1C5D-F31E1F2C9C0A}"/>
              </a:ext>
            </a:extLst>
          </p:cNvPr>
          <p:cNvCxnSpPr>
            <a:cxnSpLocks/>
          </p:cNvCxnSpPr>
          <p:nvPr/>
        </p:nvCxnSpPr>
        <p:spPr>
          <a:xfrm>
            <a:off x="2855640" y="2060848"/>
            <a:ext cx="0" cy="576064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3878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5347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446230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VERSINFO" val="BEL1002"/>
  <p:tag name="TEMPLATEID" val="Belimo169Logo"/>
  <p:tag name="LANGUAGEID" val="1033"/>
  <p:tag name="COLORTHEMEID" val="1"/>
  <p:tag name="BRANDID" val="Belimo"/>
  <p:tag name="CLIENT" val="BEL"/>
  <p:tag name="VERSION" val="1001"/>
  <p:tag name="REFERENCEDATE" val="4576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Textbox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UPLICATEONIMAGE" val="True"/>
  <p:tag name="SHAPETYPE" val="TransparentOrangeShap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Classificati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Status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TYPE" val="Logo"/>
</p:tagLst>
</file>

<file path=ppt/theme/theme1.xml><?xml version="1.0" encoding="utf-8"?>
<a:theme xmlns:a="http://schemas.openxmlformats.org/drawingml/2006/main" name="Office-tema">
  <a:themeElements>
    <a:clrScheme name="Belimo">
      <a:dk1>
        <a:srgbClr val="000000"/>
      </a:dk1>
      <a:lt1>
        <a:srgbClr val="FFFFFF"/>
      </a:lt1>
      <a:dk2>
        <a:srgbClr val="C4C4C4"/>
      </a:dk2>
      <a:lt2>
        <a:srgbClr val="FF6600"/>
      </a:lt2>
      <a:accent1>
        <a:srgbClr val="787878"/>
      </a:accent1>
      <a:accent2>
        <a:srgbClr val="C4C4C4"/>
      </a:accent2>
      <a:accent3>
        <a:srgbClr val="437FA3"/>
      </a:accent3>
      <a:accent4>
        <a:srgbClr val="BBDEF0"/>
      </a:accent4>
      <a:accent5>
        <a:srgbClr val="6B2A5E"/>
      </a:accent5>
      <a:accent6>
        <a:srgbClr val="B063A0"/>
      </a:accent6>
      <a:hlink>
        <a:srgbClr val="000000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Belimo_169.potx" id="{2D17F227-6A39-464E-9000-1C3955AB9EF9}" vid="{0269C04D-5BD7-41D5-BE18-06E2332DEAC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2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3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4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5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6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7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8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19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0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ppt/theme/themeOverride21.xml><?xml version="1.0" encoding="utf-8"?>
<a:themeOverride xmlns:a="http://schemas.openxmlformats.org/drawingml/2006/main">
  <a:clrScheme name="Belimo">
    <a:dk1>
      <a:srgbClr val="000000"/>
    </a:dk1>
    <a:lt1>
      <a:srgbClr val="FFFFFF"/>
    </a:lt1>
    <a:dk2>
      <a:srgbClr val="C4C4C4"/>
    </a:dk2>
    <a:lt2>
      <a:srgbClr val="FF6600"/>
    </a:lt2>
    <a:accent1>
      <a:srgbClr val="787878"/>
    </a:accent1>
    <a:accent2>
      <a:srgbClr val="C4C4C4"/>
    </a:accent2>
    <a:accent3>
      <a:srgbClr val="437FA3"/>
    </a:accent3>
    <a:accent4>
      <a:srgbClr val="BBDEF0"/>
    </a:accent4>
    <a:accent5>
      <a:srgbClr val="6B2A5E"/>
    </a:accent5>
    <a:accent6>
      <a:srgbClr val="B063A0"/>
    </a:accent6>
    <a:hlink>
      <a:srgbClr val="000000"/>
    </a:hlink>
    <a:folHlink>
      <a:srgbClr val="C4C4C4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DE80B2AA239B8498F8C40C2DC4633EE" ma:contentTypeVersion="11" ma:contentTypeDescription="Skapa ett nytt dokument." ma:contentTypeScope="" ma:versionID="a52d255dd140e09b9b599b2859d5bb74">
  <xsd:schema xmlns:xsd="http://www.w3.org/2001/XMLSchema" xmlns:xs="http://www.w3.org/2001/XMLSchema" xmlns:p="http://schemas.microsoft.com/office/2006/metadata/properties" xmlns:ns2="f96aa2d0-cd7f-4655-84c2-9d0c20ea0d26" xmlns:ns3="49600842-2569-4614-9b46-18c9378b41bb" targetNamespace="http://schemas.microsoft.com/office/2006/metadata/properties" ma:root="true" ma:fieldsID="dfbe635513f7f889ae7b240fcc6cc589" ns2:_="" ns3:_="">
    <xsd:import namespace="f96aa2d0-cd7f-4655-84c2-9d0c20ea0d26"/>
    <xsd:import namespace="49600842-2569-4614-9b46-18c9378b41b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6aa2d0-cd7f-4655-84c2-9d0c20ea0d2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Bildmarkeringar" ma:readOnly="false" ma:fieldId="{5cf76f15-5ced-4ddc-b409-7134ff3c332f}" ma:taxonomyMulti="true" ma:sspId="6eef0083-667e-4374-ac25-8a5cf9d057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600842-2569-4614-9b46-18c9378b41b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4c79c40-6216-4d94-9ee9-c884dd6a0a4f}" ma:internalName="TaxCatchAll" ma:showField="CatchAllData" ma:web="49600842-2569-4614-9b46-18c9378b41b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ehållstyp"/>
        <xsd:element ref="dc:title" minOccurs="0" maxOccurs="1" ma:index="4" ma:displayName="Rubri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9600842-2569-4614-9b46-18c9378b41bb" xsi:nil="true"/>
    <lcf76f155ced4ddcb4097134ff3c332f xmlns="f96aa2d0-cd7f-4655-84c2-9d0c20ea0d26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18EFB8-C9DC-4410-BD28-86904AE0676F}"/>
</file>

<file path=customXml/itemProps2.xml><?xml version="1.0" encoding="utf-8"?>
<ds:datastoreItem xmlns:ds="http://schemas.openxmlformats.org/officeDocument/2006/customXml" ds:itemID="{2AA17328-C935-4F5A-829B-FEDBBC30DD23}"/>
</file>

<file path=customXml/itemProps3.xml><?xml version="1.0" encoding="utf-8"?>
<ds:datastoreItem xmlns:ds="http://schemas.openxmlformats.org/officeDocument/2006/customXml" ds:itemID="{9E230E60-2249-4511-A3BF-59C8C5E25FF5}"/>
</file>

<file path=docProps/app.xml><?xml version="1.0" encoding="utf-8"?>
<Properties xmlns="http://schemas.openxmlformats.org/officeDocument/2006/extended-properties" xmlns:vt="http://schemas.openxmlformats.org/officeDocument/2006/docPropsVTypes">
  <Template>Belimo_169</Template>
  <TotalTime>134</TotalTime>
  <Words>173</Words>
  <Application>Microsoft Office PowerPoint</Application>
  <PresentationFormat>Bredbild</PresentationFormat>
  <Paragraphs>32</Paragraphs>
  <Slides>6</Slides>
  <Notes>1</Notes>
  <HiddenSlides>0</HiddenSlides>
  <MMClips>0</MMClips>
  <ScaleCrop>false</ScaleCrop>
  <HeadingPairs>
    <vt:vector size="6" baseType="variant">
      <vt:variant>
        <vt:lpstr>Använt teckensnitt</vt:lpstr>
      </vt:variant>
      <vt:variant>
        <vt:i4>3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Office-tema</vt:lpstr>
      <vt:lpstr>Belimo Automation AG   </vt:lpstr>
      <vt:lpstr>Applikationer – Värme, kyla, ventilation </vt:lpstr>
      <vt:lpstr>Belimo i Sverige</vt:lpstr>
      <vt:lpstr>Rabattstruktur</vt:lpstr>
      <vt:lpstr>PowerPoint-presentation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Belimo Sverige</dc:title>
  <dc:creator>Abdo Zaki</dc:creator>
  <cp:lastModifiedBy>Abdo Zaki</cp:lastModifiedBy>
  <cp:revision>6</cp:revision>
  <dcterms:created xsi:type="dcterms:W3CDTF">2025-04-15T07:20:43Z</dcterms:created>
  <dcterms:modified xsi:type="dcterms:W3CDTF">2025-04-15T09:43:05Z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0x0101002DE80B2AA239B8498F8C40C2DC4633EE</vt:lpwstr>
  </property>
</Properties>
</file>