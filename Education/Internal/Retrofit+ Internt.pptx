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Override21.xml" ContentType="application/vnd.openxmlformats-officedocument.themeOverr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2.xml" ContentType="application/vnd.openxmlformats-officedocument.them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ppt/tags/tag16.xml" ContentType="application/vnd.openxmlformats-officedocument.presentationml.tags+xml"/>
  <Override PartName="/docProps/app.xml" ContentType="application/vnd.openxmlformats-officedocument.extended-properties+xml"/>
  <Override PartName="/ppt/tags/tag17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58" r:id="rId3"/>
    <p:sldId id="278" r:id="rId4"/>
    <p:sldId id="263" r:id="rId5"/>
    <p:sldId id="266" r:id="rId6"/>
    <p:sldId id="261" r:id="rId7"/>
    <p:sldId id="267" r:id="rId8"/>
    <p:sldId id="262" r:id="rId9"/>
    <p:sldId id="272" r:id="rId10"/>
    <p:sldId id="273" r:id="rId11"/>
    <p:sldId id="264" r:id="rId12"/>
    <p:sldId id="274" r:id="rId13"/>
    <p:sldId id="275" r:id="rId14"/>
    <p:sldId id="276" r:id="rId15"/>
    <p:sldId id="265" r:id="rId16"/>
    <p:sldId id="268" r:id="rId17"/>
    <p:sldId id="269" r:id="rId18"/>
    <p:sldId id="270" r:id="rId19"/>
    <p:sldId id="271" r:id="rId20"/>
    <p:sldId id="277" r:id="rId21"/>
    <p:sldId id="259" r:id="rId22"/>
    <p:sldId id="260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E65D00"/>
    <a:srgbClr val="DD673A"/>
    <a:srgbClr val="CC5300"/>
    <a:srgbClr val="DA5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57" autoAdjust="0"/>
  </p:normalViewPr>
  <p:slideViewPr>
    <p:cSldViewPr>
      <p:cViewPr varScale="1">
        <p:scale>
          <a:sx n="99" d="100"/>
          <a:sy n="99" d="100"/>
        </p:scale>
        <p:origin x="42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0" i="0" dirty="0">
                <a:solidFill>
                  <a:srgbClr val="3D3D3D"/>
                </a:solidFill>
                <a:effectLst/>
                <a:latin typeface="Arial" panose="020B0604020202020204" pitchFamily="34" charset="0"/>
              </a:rPr>
              <a:t>”+” symboliserar mervärdet Belimo ger i eftermonteringsprojekt. Belimo erbjuder många produkter som är idealiska för renoveringsprojekt, inklusive spjällställdon, reglerventiler, givare och mätare.</a:t>
            </a:r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64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Flöden</a:t>
            </a:r>
            <a:r>
              <a:rPr lang="en-US" dirty="0"/>
              <a:t> </a:t>
            </a:r>
            <a:r>
              <a:rPr lang="en-US" dirty="0" err="1"/>
              <a:t>ner</a:t>
            </a:r>
            <a:r>
              <a:rPr lang="en-US" dirty="0"/>
              <a:t> med 50%. </a:t>
            </a:r>
          </a:p>
          <a:p>
            <a:r>
              <a:rPr lang="sv-SE" dirty="0"/>
              <a:t>nom att styra produktionen enligt </a:t>
            </a:r>
            <a:r>
              <a:rPr lang="sv-SE" dirty="0" err="1"/>
              <a:t>zonefterfrågan,förbrukningen</a:t>
            </a:r>
            <a:r>
              <a:rPr lang="sv-SE" dirty="0"/>
              <a:t> kan minskas med 20 till 30 % i följande applikationer: fläkt </a:t>
            </a:r>
            <a:r>
              <a:rPr lang="sv-SE" dirty="0" err="1"/>
              <a:t>ochpumpoptimerare</a:t>
            </a:r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5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Produktionen och distributionen av energi definieras utifrån</a:t>
            </a:r>
          </a:p>
          <a:p>
            <a:r>
              <a:rPr lang="sv-SE" dirty="0"/>
              <a:t>temperaturer och ett tidsschema.</a:t>
            </a:r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Produktionen och distributionen av energi definieras efter zonbehov</a:t>
            </a:r>
          </a:p>
          <a:p>
            <a:r>
              <a:rPr lang="sv-SE" dirty="0"/>
              <a:t>med </a:t>
            </a:r>
            <a:r>
              <a:rPr lang="sv-SE" dirty="0" err="1"/>
              <a:t>hydronisk</a:t>
            </a:r>
            <a:r>
              <a:rPr lang="sv-SE" dirty="0"/>
              <a:t> balansering.</a:t>
            </a:r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2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 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DE1988-D53E-4D64-84AC-A2DF2B3894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3B3E93-8BC6-44B0-B42A-796F75B1114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D7C14-47DC-47FF-98A2-3102DA3611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871C46-20A3-4FD4-AA55-82721228E9C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6BBE08-F812-473F-86FD-F67C354E1C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C4D89-5D9F-45A1-8B35-2C745DE2BD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E3A58F-A8C4-40E9-90D4-17A62CFBE1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436B92-4425-4D31-9583-8D285C3C13E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E8322-00E8-49BF-B7C7-E5EB39428D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D7E4D5-9D56-4CAF-BFF4-ABD6E2F34E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2382E-BEED-4694-B2E2-3EDF15754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DED33-CB92-42FD-8312-F71731CB065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749468-5C4C-47CA-A89D-2FF55D786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C809B6-B6FB-4BDB-A393-30F3864A3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87ADD1-CCCE-45B2-9183-DED29C1AD5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A5D7CFB-7906-4DE8-A061-46C8230F3B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sv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19" Type="http://schemas.openxmlformats.org/officeDocument/2006/relationships/image" Target="../media/image26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6.png"/><Relationship Id="rId3" Type="http://schemas.openxmlformats.org/officeDocument/2006/relationships/image" Target="../media/image11.svg"/><Relationship Id="rId7" Type="http://schemas.openxmlformats.org/officeDocument/2006/relationships/image" Target="../media/image21.svg"/><Relationship Id="rId12" Type="http://schemas.openxmlformats.org/officeDocument/2006/relationships/image" Target="../media/image18.png"/><Relationship Id="rId17" Type="http://schemas.openxmlformats.org/officeDocument/2006/relationships/image" Target="../media/image25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17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6.png"/><Relationship Id="rId19" Type="http://schemas.openxmlformats.org/officeDocument/2006/relationships/image" Target="../media/image27.svg"/><Relationship Id="rId4" Type="http://schemas.openxmlformats.org/officeDocument/2006/relationships/image" Target="../media/image12.png"/><Relationship Id="rId9" Type="http://schemas.openxmlformats.org/officeDocument/2006/relationships/image" Target="../media/image15.sv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15D8-CCD5-F440-DEED-30C4A12C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9D98B17-85B0-DADC-21B6-6E0B4CE78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5BBF9B-0620-049D-2766-2DD4720F1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Belimo Education</a:t>
            </a:r>
            <a:br>
              <a:rPr lang="en-US" sz="2800" dirty="0"/>
            </a:br>
            <a:br>
              <a:rPr lang="en-US" sz="2800" dirty="0"/>
            </a:br>
            <a:r>
              <a:rPr lang="en-US" sz="4400" dirty="0" err="1"/>
              <a:t>RetroFit</a:t>
            </a:r>
            <a:r>
              <a:rPr lang="en-US" sz="4400" dirty="0"/>
              <a:t>+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71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8908A-9D93-0EEC-6D70-4D36211F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8492-DE31-4123-89D2-F9465E81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F37C30-18B0-C8D1-23CD-3ECB94B2BCF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  <a:p>
            <a:r>
              <a:rPr lang="en-US" dirty="0"/>
              <a:t>Hur </a:t>
            </a:r>
            <a:r>
              <a:rPr lang="en-US" dirty="0" err="1"/>
              <a:t>marknadsförs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CCDCEAC-01A0-9AC5-65DB-4C5F3BA46B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6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128C-647B-8F7C-D70B-C541D553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5F79B4D-B7BA-EB3F-A964-FE6528472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3</a:t>
            </a:fld>
            <a:endParaRPr lang="en-US" dirty="0"/>
          </a:p>
        </p:txBody>
      </p:sp>
      <p:pic>
        <p:nvPicPr>
          <p:cNvPr id="12" name="Platshållare för innehåll 11">
            <a:extLst>
              <a:ext uri="{FF2B5EF4-FFF2-40B4-BE49-F238E27FC236}">
                <a16:creationId xmlns:a16="http://schemas.microsoft.com/office/drawing/2014/main" id="{54E480B9-345A-4A1B-EE65-9D6A65B65D1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847528" y="2956987"/>
            <a:ext cx="1224136" cy="2348702"/>
          </a:xfrm>
        </p:spPr>
      </p:pic>
      <p:sp>
        <p:nvSpPr>
          <p:cNvPr id="8" name="Rubrik 7">
            <a:extLst>
              <a:ext uri="{FF2B5EF4-FFF2-40B4-BE49-F238E27FC236}">
                <a16:creationId xmlns:a16="http://schemas.microsoft.com/office/drawing/2014/main" id="{62584721-8216-429B-3083-A54B735D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40A6D3C-7EF6-B99E-F9B9-70410BF325E8}"/>
              </a:ext>
            </a:extLst>
          </p:cNvPr>
          <p:cNvSpPr txBox="1"/>
          <p:nvPr/>
        </p:nvSpPr>
        <p:spPr>
          <a:xfrm>
            <a:off x="1559496" y="2060848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Retrofit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60C1863E-D6F1-F8B1-7DFE-287D47690DDD}"/>
              </a:ext>
            </a:extLst>
          </p:cNvPr>
          <p:cNvSpPr txBox="1"/>
          <p:nvPr/>
        </p:nvSpPr>
        <p:spPr>
          <a:xfrm>
            <a:off x="9023666" y="2060847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Retrofit+</a:t>
            </a:r>
          </a:p>
        </p:txBody>
      </p:sp>
      <p:sp>
        <p:nvSpPr>
          <p:cNvPr id="13" name="Pil: höger 12">
            <a:extLst>
              <a:ext uri="{FF2B5EF4-FFF2-40B4-BE49-F238E27FC236}">
                <a16:creationId xmlns:a16="http://schemas.microsoft.com/office/drawing/2014/main" id="{14CC26A8-90B5-F6C8-1611-B8EAC28BD7D1}"/>
              </a:ext>
            </a:extLst>
          </p:cNvPr>
          <p:cNvSpPr/>
          <p:nvPr/>
        </p:nvSpPr>
        <p:spPr>
          <a:xfrm>
            <a:off x="4295800" y="3478220"/>
            <a:ext cx="2304256" cy="86409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A63F4D0C-523D-9F98-04E8-C7D818AB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890" y="3036542"/>
            <a:ext cx="4277700" cy="22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4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C84F-7CB5-C6F9-7299-73292783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17B9-F1F4-831E-E595-4E3E1C5F8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03E720-AB34-B9A3-E4C5-27F92AED7B3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Lösning</a:t>
            </a:r>
            <a:r>
              <a:rPr lang="en-US" dirty="0"/>
              <a:t> – </a:t>
            </a:r>
            <a:r>
              <a:rPr lang="en-US" dirty="0" err="1"/>
              <a:t>ej</a:t>
            </a:r>
            <a:r>
              <a:rPr lang="en-US" dirty="0"/>
              <a:t> </a:t>
            </a:r>
            <a:r>
              <a:rPr lang="en-US" dirty="0" err="1"/>
              <a:t>specifik</a:t>
            </a:r>
            <a:r>
              <a:rPr lang="en-US" dirty="0"/>
              <a:t> </a:t>
            </a:r>
            <a:r>
              <a:rPr lang="en-US" dirty="0" err="1"/>
              <a:t>produkt</a:t>
            </a: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683CDA-C70D-005A-E2DB-0AA5B9FA1B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4</a:t>
            </a:fld>
            <a:endParaRPr lang="en-US" dirty="0"/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421676A0-9E0E-109C-35BD-AC4E0C742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636" y="4234313"/>
            <a:ext cx="6552727" cy="1935423"/>
          </a:xfrm>
          <a:prstGeom prst="rect">
            <a:avLst/>
          </a:prstGeom>
        </p:spPr>
      </p:pic>
      <p:pic>
        <p:nvPicPr>
          <p:cNvPr id="16" name="Bildobjekt 15">
            <a:extLst>
              <a:ext uri="{FF2B5EF4-FFF2-40B4-BE49-F238E27FC236}">
                <a16:creationId xmlns:a16="http://schemas.microsoft.com/office/drawing/2014/main" id="{F64EE7BE-B230-498B-B3C5-8E1C31928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728" y="2995590"/>
            <a:ext cx="4321399" cy="86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3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B2C51-0F9E-6BB9-36A2-8C1A993C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39E9-AEB4-E5F3-F13A-A91FFFE8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6F0C0C-1BB9-3572-80A7-2FDC75FB093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Utbyte</a:t>
            </a:r>
            <a:r>
              <a:rPr lang="en-US" dirty="0"/>
              <a:t> av </a:t>
            </a:r>
            <a:r>
              <a:rPr lang="en-US" dirty="0" err="1"/>
              <a:t>produkter</a:t>
            </a:r>
            <a:r>
              <a:rPr lang="en-US" dirty="0"/>
              <a:t> med </a:t>
            </a:r>
            <a:r>
              <a:rPr lang="en-US" dirty="0" err="1"/>
              <a:t>målet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           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energikostnader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B0E309B-4F76-01EC-B7FA-400518943B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5</a:t>
            </a:fld>
            <a:endParaRPr lang="en-US" dirty="0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77180F77-AB80-4363-24AD-F25F9F6E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9F932432-D28E-9EBA-30B6-7D33BC65C7A5}"/>
              </a:ext>
            </a:extLst>
          </p:cNvPr>
          <p:cNvSpPr txBox="1"/>
          <p:nvPr/>
        </p:nvSpPr>
        <p:spPr>
          <a:xfrm>
            <a:off x="6023992" y="3140968"/>
            <a:ext cx="4824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Enligt</a:t>
            </a:r>
            <a:r>
              <a:rPr lang="en-US" dirty="0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ISO 52120-1</a:t>
            </a:r>
          </a:p>
          <a:p>
            <a:r>
              <a:rPr lang="en-US" dirty="0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	- </a:t>
            </a:r>
            <a:r>
              <a:rPr lang="sv-SE" dirty="0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Energiprestanda av byggnader. 	Bidrag från byggnadsautomation, 	styrning och 	byggnadsförvaltning</a:t>
            </a:r>
            <a:endParaRPr lang="en-US" dirty="0">
              <a:solidFill>
                <a:srgbClr val="E65D0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7E9B871-9BC4-AAB4-70CA-60E52F738926}"/>
              </a:ext>
            </a:extLst>
          </p:cNvPr>
          <p:cNvSpPr/>
          <p:nvPr/>
        </p:nvSpPr>
        <p:spPr>
          <a:xfrm>
            <a:off x="1127448" y="4725144"/>
            <a:ext cx="3388630" cy="561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cxnSp>
        <p:nvCxnSpPr>
          <p:cNvPr id="7" name="Rak pilkoppling 6">
            <a:extLst>
              <a:ext uri="{FF2B5EF4-FFF2-40B4-BE49-F238E27FC236}">
                <a16:creationId xmlns:a16="http://schemas.microsoft.com/office/drawing/2014/main" id="{5A391276-13F0-FAB4-4271-D3172CE3532C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4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839E-5070-3C37-97B1-A752689C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8B96-F43D-9340-E1A3-FED2510B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592FC5-84F7-4009-D2D8-A5E9CA9562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18" y="1893887"/>
            <a:ext cx="10943167" cy="4414838"/>
          </a:xfrm>
        </p:spPr>
        <p:txBody>
          <a:bodyPr/>
          <a:lstStyle/>
          <a:p>
            <a:r>
              <a:rPr lang="en-US" dirty="0" err="1"/>
              <a:t>Utbyte</a:t>
            </a:r>
            <a:r>
              <a:rPr lang="en-US" dirty="0"/>
              <a:t> av </a:t>
            </a:r>
            <a:r>
              <a:rPr lang="en-US" dirty="0" err="1"/>
              <a:t>produkter</a:t>
            </a:r>
            <a:r>
              <a:rPr lang="en-US" dirty="0"/>
              <a:t> med </a:t>
            </a:r>
            <a:r>
              <a:rPr lang="en-US" dirty="0" err="1"/>
              <a:t>målet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           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energikostnader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6A7A8CF-F564-736F-9179-3973AD5CF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6</a:t>
            </a:fld>
            <a:endParaRPr lang="en-US" dirty="0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E047C944-4442-071B-A0D4-5240B535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6" name="Pil: höger 35">
            <a:extLst>
              <a:ext uri="{FF2B5EF4-FFF2-40B4-BE49-F238E27FC236}">
                <a16:creationId xmlns:a16="http://schemas.microsoft.com/office/drawing/2014/main" id="{5EC84CF9-9E46-4A0A-256F-7B1E451956FA}"/>
              </a:ext>
            </a:extLst>
          </p:cNvPr>
          <p:cNvSpPr/>
          <p:nvPr/>
        </p:nvSpPr>
        <p:spPr>
          <a:xfrm rot="16200000">
            <a:off x="3791744" y="3933056"/>
            <a:ext cx="828092" cy="25202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E9B8177F-21EE-67DD-73E4-04C86C7AF27E}"/>
              </a:ext>
            </a:extLst>
          </p:cNvPr>
          <p:cNvSpPr txBox="1"/>
          <p:nvPr/>
        </p:nvSpPr>
        <p:spPr>
          <a:xfrm>
            <a:off x="6023992" y="3661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Ex.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Rankas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upp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från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 till B</a:t>
            </a:r>
          </a:p>
        </p:txBody>
      </p:sp>
      <p:cxnSp>
        <p:nvCxnSpPr>
          <p:cNvPr id="39" name="Rak pilkoppling 38">
            <a:extLst>
              <a:ext uri="{FF2B5EF4-FFF2-40B4-BE49-F238E27FC236}">
                <a16:creationId xmlns:a16="http://schemas.microsoft.com/office/drawing/2014/main" id="{D1575B2A-D2E1-1FDE-FA7B-84CC260E268C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ak koppling 42">
            <a:extLst>
              <a:ext uri="{FF2B5EF4-FFF2-40B4-BE49-F238E27FC236}">
                <a16:creationId xmlns:a16="http://schemas.microsoft.com/office/drawing/2014/main" id="{3BF6BC7F-1458-E56D-57B4-BB453059B315}"/>
              </a:ext>
            </a:extLst>
          </p:cNvPr>
          <p:cNvCxnSpPr>
            <a:cxnSpLocks/>
          </p:cNvCxnSpPr>
          <p:nvPr/>
        </p:nvCxnSpPr>
        <p:spPr>
          <a:xfrm>
            <a:off x="3629064" y="3573016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E1866EAA-C19A-1BFA-C0D1-74679F10333A}"/>
              </a:ext>
            </a:extLst>
          </p:cNvPr>
          <p:cNvCxnSpPr>
            <a:cxnSpLocks/>
          </p:cNvCxnSpPr>
          <p:nvPr/>
        </p:nvCxnSpPr>
        <p:spPr>
          <a:xfrm>
            <a:off x="3783731" y="4581128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ktangel 50">
            <a:extLst>
              <a:ext uri="{FF2B5EF4-FFF2-40B4-BE49-F238E27FC236}">
                <a16:creationId xmlns:a16="http://schemas.microsoft.com/office/drawing/2014/main" id="{A1FB3C01-1D52-1C6B-E10B-F87EEBB30124}"/>
              </a:ext>
            </a:extLst>
          </p:cNvPr>
          <p:cNvSpPr/>
          <p:nvPr/>
        </p:nvSpPr>
        <p:spPr>
          <a:xfrm>
            <a:off x="1127448" y="4725144"/>
            <a:ext cx="3388630" cy="561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71091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9F6CB-19FB-278B-07E5-1C4ACA12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EE46-B936-9148-E30C-0A9E118B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C70E8-24C0-6389-4F1E-96BB573ADE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18" y="1893887"/>
            <a:ext cx="10943167" cy="4414838"/>
          </a:xfrm>
        </p:spPr>
        <p:txBody>
          <a:bodyPr/>
          <a:lstStyle/>
          <a:p>
            <a:r>
              <a:rPr lang="en-US" dirty="0" err="1"/>
              <a:t>Utbyte</a:t>
            </a:r>
            <a:r>
              <a:rPr lang="en-US" dirty="0"/>
              <a:t> av </a:t>
            </a:r>
            <a:r>
              <a:rPr lang="en-US" dirty="0" err="1"/>
              <a:t>produkter</a:t>
            </a:r>
            <a:r>
              <a:rPr lang="en-US" dirty="0"/>
              <a:t> med </a:t>
            </a:r>
            <a:r>
              <a:rPr lang="en-US" dirty="0" err="1"/>
              <a:t>målet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           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energikostnader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C44162-BD0B-9870-04C3-6AD3B79720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7</a:t>
            </a:fld>
            <a:endParaRPr lang="en-US" dirty="0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B7D83302-1B5D-F4C2-D9BC-5DD1AD675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6" name="Pil: höger 35">
            <a:extLst>
              <a:ext uri="{FF2B5EF4-FFF2-40B4-BE49-F238E27FC236}">
                <a16:creationId xmlns:a16="http://schemas.microsoft.com/office/drawing/2014/main" id="{A22E7B90-145E-559C-2EB5-B11DB6A59D66}"/>
              </a:ext>
            </a:extLst>
          </p:cNvPr>
          <p:cNvSpPr/>
          <p:nvPr/>
        </p:nvSpPr>
        <p:spPr>
          <a:xfrm rot="16200000">
            <a:off x="3791744" y="3933056"/>
            <a:ext cx="828092" cy="25202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47EA7DD4-F079-4BAF-E721-4F1AEE61A3CA}"/>
              </a:ext>
            </a:extLst>
          </p:cNvPr>
          <p:cNvSpPr txBox="1"/>
          <p:nvPr/>
        </p:nvSpPr>
        <p:spPr>
          <a:xfrm>
            <a:off x="6023992" y="3661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Ex.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Rankas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upp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från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 till B</a:t>
            </a:r>
          </a:p>
        </p:txBody>
      </p:sp>
      <p:cxnSp>
        <p:nvCxnSpPr>
          <p:cNvPr id="39" name="Rak pilkoppling 38">
            <a:extLst>
              <a:ext uri="{FF2B5EF4-FFF2-40B4-BE49-F238E27FC236}">
                <a16:creationId xmlns:a16="http://schemas.microsoft.com/office/drawing/2014/main" id="{64B5D9BB-60C2-66E9-7CFC-F54CA141419E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ak koppling 42">
            <a:extLst>
              <a:ext uri="{FF2B5EF4-FFF2-40B4-BE49-F238E27FC236}">
                <a16:creationId xmlns:a16="http://schemas.microsoft.com/office/drawing/2014/main" id="{36E35B63-7EEC-BFA9-9B5F-B5A3AB80E956}"/>
              </a:ext>
            </a:extLst>
          </p:cNvPr>
          <p:cNvCxnSpPr>
            <a:cxnSpLocks/>
          </p:cNvCxnSpPr>
          <p:nvPr/>
        </p:nvCxnSpPr>
        <p:spPr>
          <a:xfrm>
            <a:off x="3629064" y="3573016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E89F8F5F-8A48-1C60-86D2-C9F5497EC649}"/>
              </a:ext>
            </a:extLst>
          </p:cNvPr>
          <p:cNvCxnSpPr>
            <a:cxnSpLocks/>
          </p:cNvCxnSpPr>
          <p:nvPr/>
        </p:nvCxnSpPr>
        <p:spPr>
          <a:xfrm>
            <a:off x="3783731" y="4581128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6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2EFB-6C5D-716A-EC9F-4ECF84A1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5E3B-619A-89B0-24F9-1AB197C8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D4C15D-B213-B2CA-FEA7-841DABAEC4E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Lösningen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skräddarsydd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AD56B32-89A0-5A71-BAF9-AC5FCE9D6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9C104835-4B91-1C36-540D-B2A30EA7CF7B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4" name="Bild 3" descr="Sjukvård kontur">
              <a:extLst>
                <a:ext uri="{FF2B5EF4-FFF2-40B4-BE49-F238E27FC236}">
                  <a16:creationId xmlns:a16="http://schemas.microsoft.com/office/drawing/2014/main" id="{ED4224F7-CFC8-669A-022D-5C36389A4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8951FC80-DF00-CAD1-BBBF-7D051BC06857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8" name="Bild 7" descr="Sjukhus kontur">
                <a:extLst>
                  <a:ext uri="{FF2B5EF4-FFF2-40B4-BE49-F238E27FC236}">
                    <a16:creationId xmlns:a16="http://schemas.microsoft.com/office/drawing/2014/main" id="{33F61C92-2003-8223-A4A6-BE4A4BBE8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5B42BD70-E4A8-3D5B-84D7-96E8E5E6A96A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Sjukhus</a:t>
                </a:r>
                <a:endParaRPr lang="en-US" dirty="0"/>
              </a:p>
            </p:txBody>
          </p:sp>
        </p:grpSp>
      </p:grpSp>
      <p:grpSp>
        <p:nvGrpSpPr>
          <p:cNvPr id="38" name="Grupp 37">
            <a:extLst>
              <a:ext uri="{FF2B5EF4-FFF2-40B4-BE49-F238E27FC236}">
                <a16:creationId xmlns:a16="http://schemas.microsoft.com/office/drawing/2014/main" id="{577B8A99-B33F-0CC2-CFA4-195076BAC6B3}"/>
              </a:ext>
            </a:extLst>
          </p:cNvPr>
          <p:cNvGrpSpPr/>
          <p:nvPr/>
        </p:nvGrpSpPr>
        <p:grpSpPr>
          <a:xfrm>
            <a:off x="2639616" y="3868117"/>
            <a:ext cx="2044149" cy="2299627"/>
            <a:chOff x="2639616" y="3868117"/>
            <a:chExt cx="2044149" cy="2299627"/>
          </a:xfrm>
        </p:grpSpPr>
        <p:sp>
          <p:nvSpPr>
            <p:cNvPr id="22" name="textruta 21">
              <a:extLst>
                <a:ext uri="{FF2B5EF4-FFF2-40B4-BE49-F238E27FC236}">
                  <a16:creationId xmlns:a16="http://schemas.microsoft.com/office/drawing/2014/main" id="{5752271E-AE94-9635-4B8A-5876A26D83E1}"/>
                </a:ext>
              </a:extLst>
            </p:cNvPr>
            <p:cNvSpPr txBox="1"/>
            <p:nvPr/>
          </p:nvSpPr>
          <p:spPr>
            <a:xfrm>
              <a:off x="2639616" y="579841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Utbildn.byggnader</a:t>
              </a:r>
              <a:endParaRPr lang="en-US" dirty="0"/>
            </a:p>
          </p:txBody>
        </p:sp>
        <p:pic>
          <p:nvPicPr>
            <p:cNvPr id="7" name="Bild 6" descr="Skola kontur">
              <a:extLst>
                <a:ext uri="{FF2B5EF4-FFF2-40B4-BE49-F238E27FC236}">
                  <a16:creationId xmlns:a16="http://schemas.microsoft.com/office/drawing/2014/main" id="{E892A1A0-BC20-1DBE-6818-0CB653DB8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51174" y="4303826"/>
              <a:ext cx="1549297" cy="1549297"/>
            </a:xfrm>
            <a:prstGeom prst="rect">
              <a:avLst/>
            </a:prstGeom>
          </p:spPr>
        </p:pic>
        <p:pic>
          <p:nvPicPr>
            <p:cNvPr id="11" name="Bild 10" descr="Läraren har kontur">
              <a:extLst>
                <a:ext uri="{FF2B5EF4-FFF2-40B4-BE49-F238E27FC236}">
                  <a16:creationId xmlns:a16="http://schemas.microsoft.com/office/drawing/2014/main" id="{3806A322-7B28-F9AB-2261-24AA275FD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18301" y="3868117"/>
              <a:ext cx="609407" cy="609407"/>
            </a:xfrm>
            <a:prstGeom prst="rect">
              <a:avLst/>
            </a:prstGeom>
          </p:spPr>
        </p:pic>
      </p:grpSp>
      <p:grpSp>
        <p:nvGrpSpPr>
          <p:cNvPr id="39" name="Grupp 38">
            <a:extLst>
              <a:ext uri="{FF2B5EF4-FFF2-40B4-BE49-F238E27FC236}">
                <a16:creationId xmlns:a16="http://schemas.microsoft.com/office/drawing/2014/main" id="{301FEE93-B3DB-9A7D-6EFB-9408B3D4AC44}"/>
              </a:ext>
            </a:extLst>
          </p:cNvPr>
          <p:cNvGrpSpPr/>
          <p:nvPr/>
        </p:nvGrpSpPr>
        <p:grpSpPr>
          <a:xfrm>
            <a:off x="4735562" y="4768826"/>
            <a:ext cx="1582484" cy="1366321"/>
            <a:chOff x="4735562" y="4768826"/>
            <a:chExt cx="1582484" cy="1366321"/>
          </a:xfrm>
        </p:grpSpPr>
        <p:sp>
          <p:nvSpPr>
            <p:cNvPr id="21" name="textruta 20">
              <a:extLst>
                <a:ext uri="{FF2B5EF4-FFF2-40B4-BE49-F238E27FC236}">
                  <a16:creationId xmlns:a16="http://schemas.microsoft.com/office/drawing/2014/main" id="{46CC7E88-F2B6-75E5-6F12-D57A207FC013}"/>
                </a:ext>
              </a:extLst>
            </p:cNvPr>
            <p:cNvSpPr txBox="1"/>
            <p:nvPr/>
          </p:nvSpPr>
          <p:spPr>
            <a:xfrm>
              <a:off x="4735562" y="5765815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Restauranger</a:t>
              </a:r>
              <a:endParaRPr lang="en-US" dirty="0"/>
            </a:p>
          </p:txBody>
        </p:sp>
        <p:pic>
          <p:nvPicPr>
            <p:cNvPr id="15" name="Bild 14" descr="Kniv och gaffel kontur">
              <a:extLst>
                <a:ext uri="{FF2B5EF4-FFF2-40B4-BE49-F238E27FC236}">
                  <a16:creationId xmlns:a16="http://schemas.microsoft.com/office/drawing/2014/main" id="{CE29DA4F-A2AA-84C4-CBA8-071BBEB7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20484" y="4768826"/>
              <a:ext cx="914400" cy="914400"/>
            </a:xfrm>
            <a:prstGeom prst="rect">
              <a:avLst/>
            </a:prstGeom>
          </p:spPr>
        </p:pic>
      </p:grpSp>
      <p:grpSp>
        <p:nvGrpSpPr>
          <p:cNvPr id="40" name="Grupp 39">
            <a:extLst>
              <a:ext uri="{FF2B5EF4-FFF2-40B4-BE49-F238E27FC236}">
                <a16:creationId xmlns:a16="http://schemas.microsoft.com/office/drawing/2014/main" id="{8EE9C457-EBA7-912B-9913-6DC4B300A527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353171" y="4303827"/>
            <a:chExt cx="1520837" cy="1827776"/>
          </a:xfrm>
        </p:grpSpPr>
        <p:grpSp>
          <p:nvGrpSpPr>
            <p:cNvPr id="31" name="Grupp 30">
              <a:extLst>
                <a:ext uri="{FF2B5EF4-FFF2-40B4-BE49-F238E27FC236}">
                  <a16:creationId xmlns:a16="http://schemas.microsoft.com/office/drawing/2014/main" id="{7453DF2D-00BB-7749-64D6-171D41794462}"/>
                </a:ext>
              </a:extLst>
            </p:cNvPr>
            <p:cNvGrpSpPr/>
            <p:nvPr/>
          </p:nvGrpSpPr>
          <p:grpSpPr>
            <a:xfrm>
              <a:off x="6353171" y="4303827"/>
              <a:ext cx="1520837" cy="1827776"/>
              <a:chOff x="6802682" y="4789044"/>
              <a:chExt cx="1159234" cy="1641559"/>
            </a:xfrm>
          </p:grpSpPr>
          <p:pic>
            <p:nvPicPr>
              <p:cNvPr id="16" name="Bild 15" descr="Hotellklocka kontur">
                <a:extLst>
                  <a:ext uri="{FF2B5EF4-FFF2-40B4-BE49-F238E27FC236}">
                    <a16:creationId xmlns:a16="http://schemas.microsoft.com/office/drawing/2014/main" id="{A1525F32-2F1A-0736-BB33-C697E49C9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802682" y="4789044"/>
                <a:ext cx="1159234" cy="1159234"/>
              </a:xfrm>
              <a:prstGeom prst="rect">
                <a:avLst/>
              </a:prstGeom>
            </p:spPr>
          </p:pic>
          <p:sp>
            <p:nvSpPr>
              <p:cNvPr id="24" name="textruta 23">
                <a:extLst>
                  <a:ext uri="{FF2B5EF4-FFF2-40B4-BE49-F238E27FC236}">
                    <a16:creationId xmlns:a16="http://schemas.microsoft.com/office/drawing/2014/main" id="{CD3BB16D-C186-2684-6A01-D6ECCF615E08}"/>
                  </a:ext>
                </a:extLst>
              </p:cNvPr>
              <p:cNvSpPr txBox="1"/>
              <p:nvPr/>
            </p:nvSpPr>
            <p:spPr>
              <a:xfrm>
                <a:off x="7000304" y="6061271"/>
                <a:ext cx="774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Hotell</a:t>
                </a:r>
                <a:endParaRPr lang="en-US" dirty="0"/>
              </a:p>
            </p:txBody>
          </p:sp>
        </p:grpSp>
        <p:pic>
          <p:nvPicPr>
            <p:cNvPr id="19" name="Bild 18" descr="Hotellklocka kontur">
              <a:extLst>
                <a:ext uri="{FF2B5EF4-FFF2-40B4-BE49-F238E27FC236}">
                  <a16:creationId xmlns:a16="http://schemas.microsoft.com/office/drawing/2014/main" id="{1AD33CAD-38F9-8180-586D-9C8ADB41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398382" y="4600320"/>
              <a:ext cx="1094748" cy="1094748"/>
            </a:xfrm>
            <a:prstGeom prst="rect">
              <a:avLst/>
            </a:prstGeom>
          </p:spPr>
        </p:pic>
      </p:grpSp>
      <p:grpSp>
        <p:nvGrpSpPr>
          <p:cNvPr id="41" name="Grupp 40">
            <a:extLst>
              <a:ext uri="{FF2B5EF4-FFF2-40B4-BE49-F238E27FC236}">
                <a16:creationId xmlns:a16="http://schemas.microsoft.com/office/drawing/2014/main" id="{951CE2EE-C6BA-7533-6F6D-2D5CE03378A5}"/>
              </a:ext>
            </a:extLst>
          </p:cNvPr>
          <p:cNvGrpSpPr/>
          <p:nvPr/>
        </p:nvGrpSpPr>
        <p:grpSpPr>
          <a:xfrm>
            <a:off x="7874009" y="4542114"/>
            <a:ext cx="1612416" cy="1546621"/>
            <a:chOff x="7874009" y="4542114"/>
            <a:chExt cx="1612416" cy="1546621"/>
          </a:xfrm>
        </p:grpSpPr>
        <p:sp>
          <p:nvSpPr>
            <p:cNvPr id="25" name="textruta 24">
              <a:extLst>
                <a:ext uri="{FF2B5EF4-FFF2-40B4-BE49-F238E27FC236}">
                  <a16:creationId xmlns:a16="http://schemas.microsoft.com/office/drawing/2014/main" id="{4C6EB747-F523-CCB0-ACEE-E9042D701938}"/>
                </a:ext>
              </a:extLst>
            </p:cNvPr>
            <p:cNvSpPr txBox="1"/>
            <p:nvPr/>
          </p:nvSpPr>
          <p:spPr>
            <a:xfrm>
              <a:off x="7874009" y="5674286"/>
              <a:ext cx="1612416" cy="4144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Köpcentrum</a:t>
              </a:r>
              <a:endParaRPr lang="en-US" dirty="0"/>
            </a:p>
          </p:txBody>
        </p:sp>
        <p:pic>
          <p:nvPicPr>
            <p:cNvPr id="35" name="Bild 34" descr="Kasse med hel fyllning">
              <a:extLst>
                <a:ext uri="{FF2B5EF4-FFF2-40B4-BE49-F238E27FC236}">
                  <a16:creationId xmlns:a16="http://schemas.microsoft.com/office/drawing/2014/main" id="{CF9B60C2-0B6B-7FC4-70D3-444568723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146695" y="4542114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upp 41">
            <a:extLst>
              <a:ext uri="{FF2B5EF4-FFF2-40B4-BE49-F238E27FC236}">
                <a16:creationId xmlns:a16="http://schemas.microsoft.com/office/drawing/2014/main" id="{60C8EABA-2D06-8CA8-F2E0-9D974C510F2F}"/>
              </a:ext>
            </a:extLst>
          </p:cNvPr>
          <p:cNvGrpSpPr/>
          <p:nvPr/>
        </p:nvGrpSpPr>
        <p:grpSpPr>
          <a:xfrm>
            <a:off x="9672968" y="4600320"/>
            <a:ext cx="1103552" cy="1441141"/>
            <a:chOff x="9672968" y="4600320"/>
            <a:chExt cx="1103552" cy="1441141"/>
          </a:xfrm>
        </p:grpSpPr>
        <p:sp>
          <p:nvSpPr>
            <p:cNvPr id="26" name="textruta 25">
              <a:extLst>
                <a:ext uri="{FF2B5EF4-FFF2-40B4-BE49-F238E27FC236}">
                  <a16:creationId xmlns:a16="http://schemas.microsoft.com/office/drawing/2014/main" id="{678D4395-9E3D-9B85-723E-D7F4DC33A881}"/>
                </a:ext>
              </a:extLst>
            </p:cNvPr>
            <p:cNvSpPr txBox="1"/>
            <p:nvPr/>
          </p:nvSpPr>
          <p:spPr>
            <a:xfrm>
              <a:off x="9867304" y="567212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Kontor</a:t>
              </a:r>
              <a:endParaRPr lang="en-US" dirty="0"/>
            </a:p>
          </p:txBody>
        </p:sp>
        <p:pic>
          <p:nvPicPr>
            <p:cNvPr id="37" name="Bild 36" descr="Stad kontur">
              <a:extLst>
                <a:ext uri="{FF2B5EF4-FFF2-40B4-BE49-F238E27FC236}">
                  <a16:creationId xmlns:a16="http://schemas.microsoft.com/office/drawing/2014/main" id="{E932673C-EF4B-95A8-E6BC-FC833FBAD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672968" y="4600320"/>
              <a:ext cx="1103552" cy="110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75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2A47-1B04-5B62-8B34-52E85788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E81E-9F8E-C70F-6B72-0FE88BFC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34A4AE-4D76-D507-B406-AEE4E86713A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Lösningen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skräddarsydd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74AB27-A07B-948E-649E-40498410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16B0436D-BE7F-22EA-C90F-C5EDC8261D3B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4" name="Bild 3" descr="Sjukvård kontur">
              <a:extLst>
                <a:ext uri="{FF2B5EF4-FFF2-40B4-BE49-F238E27FC236}">
                  <a16:creationId xmlns:a16="http://schemas.microsoft.com/office/drawing/2014/main" id="{D0AF4A1A-FA76-E7E6-C3B9-743E7EEDA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B9118D67-8E3A-D2FC-4D96-9997C9F0DBD1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8" name="Bild 7" descr="Sjukhus kontur">
                <a:extLst>
                  <a:ext uri="{FF2B5EF4-FFF2-40B4-BE49-F238E27FC236}">
                    <a16:creationId xmlns:a16="http://schemas.microsoft.com/office/drawing/2014/main" id="{C07F35C7-0BCF-466F-0B55-4896F1272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8C870595-F1C8-608D-77CE-CF16A0FF8B5C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Sjukhus</a:t>
                </a:r>
                <a:endParaRPr lang="en-US" dirty="0"/>
              </a:p>
            </p:txBody>
          </p:sp>
        </p:grpSp>
      </p:grpSp>
      <p:grpSp>
        <p:nvGrpSpPr>
          <p:cNvPr id="31" name="Grupp 30">
            <a:extLst>
              <a:ext uri="{FF2B5EF4-FFF2-40B4-BE49-F238E27FC236}">
                <a16:creationId xmlns:a16="http://schemas.microsoft.com/office/drawing/2014/main" id="{3C64CF66-67C3-2177-9234-9B62D0E981F2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802682" y="4789044"/>
            <a:chExt cx="1159234" cy="1641559"/>
          </a:xfrm>
        </p:grpSpPr>
        <p:pic>
          <p:nvPicPr>
            <p:cNvPr id="16" name="Bild 15" descr="Hotellklocka kontur">
              <a:extLst>
                <a:ext uri="{FF2B5EF4-FFF2-40B4-BE49-F238E27FC236}">
                  <a16:creationId xmlns:a16="http://schemas.microsoft.com/office/drawing/2014/main" id="{D97B5A79-88A8-B511-B4A5-6924CF2F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02682" y="4789044"/>
              <a:ext cx="1159234" cy="1159234"/>
            </a:xfrm>
            <a:prstGeom prst="rect">
              <a:avLst/>
            </a:prstGeom>
          </p:spPr>
        </p:pic>
        <p:sp>
          <p:nvSpPr>
            <p:cNvPr id="24" name="textruta 23">
              <a:extLst>
                <a:ext uri="{FF2B5EF4-FFF2-40B4-BE49-F238E27FC236}">
                  <a16:creationId xmlns:a16="http://schemas.microsoft.com/office/drawing/2014/main" id="{1902487A-61FC-8CDA-42E7-854C5024BE1A}"/>
                </a:ext>
              </a:extLst>
            </p:cNvPr>
            <p:cNvSpPr txBox="1"/>
            <p:nvPr/>
          </p:nvSpPr>
          <p:spPr>
            <a:xfrm>
              <a:off x="7000304" y="606127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Hotell</a:t>
              </a:r>
              <a:endParaRPr lang="en-US" dirty="0"/>
            </a:p>
          </p:txBody>
        </p:sp>
      </p:grpSp>
      <p:sp>
        <p:nvSpPr>
          <p:cNvPr id="3" name="textruta 2">
            <a:extLst>
              <a:ext uri="{FF2B5EF4-FFF2-40B4-BE49-F238E27FC236}">
                <a16:creationId xmlns:a16="http://schemas.microsoft.com/office/drawing/2014/main" id="{66C69F66-1574-BF1D-24CB-2CC2DBFA0272}"/>
              </a:ext>
            </a:extLst>
          </p:cNvPr>
          <p:cNvSpPr txBox="1"/>
          <p:nvPr/>
        </p:nvSpPr>
        <p:spPr>
          <a:xfrm>
            <a:off x="937245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-14%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7CFE304A-196F-4F78-625F-E383E78C147C}"/>
              </a:ext>
            </a:extLst>
          </p:cNvPr>
          <p:cNvSpPr txBox="1"/>
          <p:nvPr/>
        </p:nvSpPr>
        <p:spPr>
          <a:xfrm>
            <a:off x="3119517" y="327687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- 20%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98E439BB-7589-5EC2-6609-60227C8D0970}"/>
              </a:ext>
            </a:extLst>
          </p:cNvPr>
          <p:cNvSpPr txBox="1"/>
          <p:nvPr/>
        </p:nvSpPr>
        <p:spPr>
          <a:xfrm>
            <a:off x="5094396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-32%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C6789B02-61BA-C2B8-969D-05ECA5F256F1}"/>
              </a:ext>
            </a:extLst>
          </p:cNvPr>
          <p:cNvSpPr txBox="1"/>
          <p:nvPr/>
        </p:nvSpPr>
        <p:spPr>
          <a:xfrm>
            <a:off x="6744110" y="327729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-32 %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61A74CE-EF0E-8C83-5C9A-00DF47DDEF5F}"/>
              </a:ext>
            </a:extLst>
          </p:cNvPr>
          <p:cNvSpPr txBox="1"/>
          <p:nvPr/>
        </p:nvSpPr>
        <p:spPr>
          <a:xfrm>
            <a:off x="8164188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-40%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11C1EA55-061F-9F13-7949-EE4BE3B2E29C}"/>
              </a:ext>
            </a:extLst>
          </p:cNvPr>
          <p:cNvSpPr txBox="1"/>
          <p:nvPr/>
        </p:nvSpPr>
        <p:spPr>
          <a:xfrm>
            <a:off x="9768408" y="327130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-30%</a:t>
            </a: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403EFD3D-B4F2-A619-1D1E-11D8BFECAD53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19" name="Bild 18" descr="Sjukvård kontur">
              <a:extLst>
                <a:ext uri="{FF2B5EF4-FFF2-40B4-BE49-F238E27FC236}">
                  <a16:creationId xmlns:a16="http://schemas.microsoft.com/office/drawing/2014/main" id="{D9B1F8FF-D8C8-9274-AA60-945EA3EE6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34" name="Grupp 33">
              <a:extLst>
                <a:ext uri="{FF2B5EF4-FFF2-40B4-BE49-F238E27FC236}">
                  <a16:creationId xmlns:a16="http://schemas.microsoft.com/office/drawing/2014/main" id="{64A70846-18C3-FE3B-6795-33F3A2CCC1D8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35" name="Bild 34" descr="Sjukhus kontur">
                <a:extLst>
                  <a:ext uri="{FF2B5EF4-FFF2-40B4-BE49-F238E27FC236}">
                    <a16:creationId xmlns:a16="http://schemas.microsoft.com/office/drawing/2014/main" id="{B636D3CF-BA64-D385-610C-880A0C6DE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DDEC33CE-3337-B1E6-9F97-211E5246BB95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Sjukhus</a:t>
                </a:r>
                <a:endParaRPr lang="en-US" dirty="0"/>
              </a:p>
            </p:txBody>
          </p:sp>
        </p:grpSp>
      </p:grpSp>
      <p:grpSp>
        <p:nvGrpSpPr>
          <p:cNvPr id="37" name="Grupp 36">
            <a:extLst>
              <a:ext uri="{FF2B5EF4-FFF2-40B4-BE49-F238E27FC236}">
                <a16:creationId xmlns:a16="http://schemas.microsoft.com/office/drawing/2014/main" id="{DE8E25F8-DC9E-7596-7FB8-F4F5DB821D6E}"/>
              </a:ext>
            </a:extLst>
          </p:cNvPr>
          <p:cNvGrpSpPr/>
          <p:nvPr/>
        </p:nvGrpSpPr>
        <p:grpSpPr>
          <a:xfrm>
            <a:off x="2639616" y="3868117"/>
            <a:ext cx="2044149" cy="2299627"/>
            <a:chOff x="2639616" y="3868117"/>
            <a:chExt cx="2044149" cy="2299627"/>
          </a:xfrm>
        </p:grpSpPr>
        <p:sp>
          <p:nvSpPr>
            <p:cNvPr id="38" name="textruta 37">
              <a:extLst>
                <a:ext uri="{FF2B5EF4-FFF2-40B4-BE49-F238E27FC236}">
                  <a16:creationId xmlns:a16="http://schemas.microsoft.com/office/drawing/2014/main" id="{F125C050-5BFA-1DFA-A2A1-175A871DEF46}"/>
                </a:ext>
              </a:extLst>
            </p:cNvPr>
            <p:cNvSpPr txBox="1"/>
            <p:nvPr/>
          </p:nvSpPr>
          <p:spPr>
            <a:xfrm>
              <a:off x="2639616" y="579841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Utbildn.byggnader</a:t>
              </a:r>
              <a:endParaRPr lang="en-US" dirty="0"/>
            </a:p>
          </p:txBody>
        </p:sp>
        <p:pic>
          <p:nvPicPr>
            <p:cNvPr id="39" name="Bild 38" descr="Skola kontur">
              <a:extLst>
                <a:ext uri="{FF2B5EF4-FFF2-40B4-BE49-F238E27FC236}">
                  <a16:creationId xmlns:a16="http://schemas.microsoft.com/office/drawing/2014/main" id="{E462F380-DB93-29F2-AB6B-6022B32A8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51174" y="4303826"/>
              <a:ext cx="1549297" cy="1549297"/>
            </a:xfrm>
            <a:prstGeom prst="rect">
              <a:avLst/>
            </a:prstGeom>
          </p:spPr>
        </p:pic>
        <p:pic>
          <p:nvPicPr>
            <p:cNvPr id="40" name="Bild 39" descr="Läraren har kontur">
              <a:extLst>
                <a:ext uri="{FF2B5EF4-FFF2-40B4-BE49-F238E27FC236}">
                  <a16:creationId xmlns:a16="http://schemas.microsoft.com/office/drawing/2014/main" id="{3468CFA0-25D1-E1F5-04BF-82B15B192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18301" y="3868117"/>
              <a:ext cx="609407" cy="609407"/>
            </a:xfrm>
            <a:prstGeom prst="rect">
              <a:avLst/>
            </a:prstGeom>
          </p:spPr>
        </p:pic>
      </p:grpSp>
      <p:grpSp>
        <p:nvGrpSpPr>
          <p:cNvPr id="41" name="Grupp 40">
            <a:extLst>
              <a:ext uri="{FF2B5EF4-FFF2-40B4-BE49-F238E27FC236}">
                <a16:creationId xmlns:a16="http://schemas.microsoft.com/office/drawing/2014/main" id="{9103E8FD-A854-EB75-99D4-F9C63322E3C0}"/>
              </a:ext>
            </a:extLst>
          </p:cNvPr>
          <p:cNvGrpSpPr/>
          <p:nvPr/>
        </p:nvGrpSpPr>
        <p:grpSpPr>
          <a:xfrm>
            <a:off x="4735562" y="4768826"/>
            <a:ext cx="1582484" cy="1366321"/>
            <a:chOff x="4735562" y="4768826"/>
            <a:chExt cx="1582484" cy="1366321"/>
          </a:xfrm>
        </p:grpSpPr>
        <p:sp>
          <p:nvSpPr>
            <p:cNvPr id="42" name="textruta 41">
              <a:extLst>
                <a:ext uri="{FF2B5EF4-FFF2-40B4-BE49-F238E27FC236}">
                  <a16:creationId xmlns:a16="http://schemas.microsoft.com/office/drawing/2014/main" id="{EC2FA340-70D8-CA39-106C-4E023AE438FC}"/>
                </a:ext>
              </a:extLst>
            </p:cNvPr>
            <p:cNvSpPr txBox="1"/>
            <p:nvPr/>
          </p:nvSpPr>
          <p:spPr>
            <a:xfrm>
              <a:off x="4735562" y="5765815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Restauranger</a:t>
              </a:r>
              <a:endParaRPr lang="en-US" dirty="0"/>
            </a:p>
          </p:txBody>
        </p:sp>
        <p:pic>
          <p:nvPicPr>
            <p:cNvPr id="43" name="Bild 42" descr="Kniv och gaffel kontur">
              <a:extLst>
                <a:ext uri="{FF2B5EF4-FFF2-40B4-BE49-F238E27FC236}">
                  <a16:creationId xmlns:a16="http://schemas.microsoft.com/office/drawing/2014/main" id="{10007B1B-95BF-B338-586B-586C843A7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20484" y="4768826"/>
              <a:ext cx="914400" cy="914400"/>
            </a:xfrm>
            <a:prstGeom prst="rect">
              <a:avLst/>
            </a:prstGeom>
          </p:spPr>
        </p:pic>
      </p:grpSp>
      <p:grpSp>
        <p:nvGrpSpPr>
          <p:cNvPr id="44" name="Grupp 43">
            <a:extLst>
              <a:ext uri="{FF2B5EF4-FFF2-40B4-BE49-F238E27FC236}">
                <a16:creationId xmlns:a16="http://schemas.microsoft.com/office/drawing/2014/main" id="{CAD8487C-0D27-3649-6271-E26A9CF024B1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353171" y="4303827"/>
            <a:chExt cx="1520837" cy="1827776"/>
          </a:xfrm>
        </p:grpSpPr>
        <p:grpSp>
          <p:nvGrpSpPr>
            <p:cNvPr id="45" name="Grupp 44">
              <a:extLst>
                <a:ext uri="{FF2B5EF4-FFF2-40B4-BE49-F238E27FC236}">
                  <a16:creationId xmlns:a16="http://schemas.microsoft.com/office/drawing/2014/main" id="{2D58CB85-6FC6-FF30-E5DF-718FBEA5FA76}"/>
                </a:ext>
              </a:extLst>
            </p:cNvPr>
            <p:cNvGrpSpPr/>
            <p:nvPr/>
          </p:nvGrpSpPr>
          <p:grpSpPr>
            <a:xfrm>
              <a:off x="6353171" y="4303827"/>
              <a:ext cx="1520837" cy="1827776"/>
              <a:chOff x="6802682" y="4789044"/>
              <a:chExt cx="1159234" cy="1641559"/>
            </a:xfrm>
          </p:grpSpPr>
          <p:pic>
            <p:nvPicPr>
              <p:cNvPr id="47" name="Bild 46" descr="Hotellklocka kontur">
                <a:extLst>
                  <a:ext uri="{FF2B5EF4-FFF2-40B4-BE49-F238E27FC236}">
                    <a16:creationId xmlns:a16="http://schemas.microsoft.com/office/drawing/2014/main" id="{42CC8393-7BF2-C48E-7EFF-F63BB9D51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802682" y="4789044"/>
                <a:ext cx="1159234" cy="1159234"/>
              </a:xfrm>
              <a:prstGeom prst="rect">
                <a:avLst/>
              </a:prstGeom>
            </p:spPr>
          </p:pic>
          <p:sp>
            <p:nvSpPr>
              <p:cNvPr id="48" name="textruta 47">
                <a:extLst>
                  <a:ext uri="{FF2B5EF4-FFF2-40B4-BE49-F238E27FC236}">
                    <a16:creationId xmlns:a16="http://schemas.microsoft.com/office/drawing/2014/main" id="{5E8BE234-DC6F-85A6-5B98-9BD4557A5231}"/>
                  </a:ext>
                </a:extLst>
              </p:cNvPr>
              <p:cNvSpPr txBox="1"/>
              <p:nvPr/>
            </p:nvSpPr>
            <p:spPr>
              <a:xfrm>
                <a:off x="7000304" y="6061271"/>
                <a:ext cx="774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Hotell</a:t>
                </a:r>
                <a:endParaRPr lang="en-US" dirty="0"/>
              </a:p>
            </p:txBody>
          </p:sp>
        </p:grpSp>
        <p:pic>
          <p:nvPicPr>
            <p:cNvPr id="46" name="Bild 45" descr="Hotellklocka kontur">
              <a:extLst>
                <a:ext uri="{FF2B5EF4-FFF2-40B4-BE49-F238E27FC236}">
                  <a16:creationId xmlns:a16="http://schemas.microsoft.com/office/drawing/2014/main" id="{EAE8A9EB-2A59-6A86-4059-19AA3DC48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98382" y="4600320"/>
              <a:ext cx="1094748" cy="1094748"/>
            </a:xfrm>
            <a:prstGeom prst="rect">
              <a:avLst/>
            </a:prstGeom>
          </p:spPr>
        </p:pic>
      </p:grpSp>
      <p:grpSp>
        <p:nvGrpSpPr>
          <p:cNvPr id="49" name="Grupp 48">
            <a:extLst>
              <a:ext uri="{FF2B5EF4-FFF2-40B4-BE49-F238E27FC236}">
                <a16:creationId xmlns:a16="http://schemas.microsoft.com/office/drawing/2014/main" id="{897DF458-2373-3B0A-D721-07325DC4F231}"/>
              </a:ext>
            </a:extLst>
          </p:cNvPr>
          <p:cNvGrpSpPr/>
          <p:nvPr/>
        </p:nvGrpSpPr>
        <p:grpSpPr>
          <a:xfrm>
            <a:off x="7874009" y="4542114"/>
            <a:ext cx="1612416" cy="1546621"/>
            <a:chOff x="7874009" y="4542114"/>
            <a:chExt cx="1612416" cy="1546621"/>
          </a:xfrm>
        </p:grpSpPr>
        <p:sp>
          <p:nvSpPr>
            <p:cNvPr id="50" name="textruta 49">
              <a:extLst>
                <a:ext uri="{FF2B5EF4-FFF2-40B4-BE49-F238E27FC236}">
                  <a16:creationId xmlns:a16="http://schemas.microsoft.com/office/drawing/2014/main" id="{16555938-D65D-3DAC-C0E8-E61BCAC00494}"/>
                </a:ext>
              </a:extLst>
            </p:cNvPr>
            <p:cNvSpPr txBox="1"/>
            <p:nvPr/>
          </p:nvSpPr>
          <p:spPr>
            <a:xfrm>
              <a:off x="7874009" y="5674286"/>
              <a:ext cx="1612416" cy="4144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Köpcentrum</a:t>
              </a:r>
              <a:endParaRPr lang="en-US" dirty="0"/>
            </a:p>
          </p:txBody>
        </p:sp>
        <p:pic>
          <p:nvPicPr>
            <p:cNvPr id="51" name="Bild 50" descr="Kasse med hel fyllning">
              <a:extLst>
                <a:ext uri="{FF2B5EF4-FFF2-40B4-BE49-F238E27FC236}">
                  <a16:creationId xmlns:a16="http://schemas.microsoft.com/office/drawing/2014/main" id="{8267F8C1-FA1F-4ECC-1ECE-CD3B21C0F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46695" y="4542114"/>
              <a:ext cx="914400" cy="914400"/>
            </a:xfrm>
            <a:prstGeom prst="rect">
              <a:avLst/>
            </a:prstGeom>
          </p:spPr>
        </p:pic>
      </p:grpSp>
      <p:grpSp>
        <p:nvGrpSpPr>
          <p:cNvPr id="52" name="Grupp 51">
            <a:extLst>
              <a:ext uri="{FF2B5EF4-FFF2-40B4-BE49-F238E27FC236}">
                <a16:creationId xmlns:a16="http://schemas.microsoft.com/office/drawing/2014/main" id="{1D684838-6703-D6C4-1B15-FA4105F37996}"/>
              </a:ext>
            </a:extLst>
          </p:cNvPr>
          <p:cNvGrpSpPr/>
          <p:nvPr/>
        </p:nvGrpSpPr>
        <p:grpSpPr>
          <a:xfrm>
            <a:off x="9672968" y="4600320"/>
            <a:ext cx="1103552" cy="1441141"/>
            <a:chOff x="9672968" y="4600320"/>
            <a:chExt cx="1103552" cy="1441141"/>
          </a:xfrm>
        </p:grpSpPr>
        <p:sp>
          <p:nvSpPr>
            <p:cNvPr id="53" name="textruta 52">
              <a:extLst>
                <a:ext uri="{FF2B5EF4-FFF2-40B4-BE49-F238E27FC236}">
                  <a16:creationId xmlns:a16="http://schemas.microsoft.com/office/drawing/2014/main" id="{E011B6F2-CA97-BA66-0EF7-44A953D715BA}"/>
                </a:ext>
              </a:extLst>
            </p:cNvPr>
            <p:cNvSpPr txBox="1"/>
            <p:nvPr/>
          </p:nvSpPr>
          <p:spPr>
            <a:xfrm>
              <a:off x="9867304" y="567212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Kontor</a:t>
              </a:r>
              <a:endParaRPr lang="en-US" dirty="0"/>
            </a:p>
          </p:txBody>
        </p:sp>
        <p:pic>
          <p:nvPicPr>
            <p:cNvPr id="54" name="Bild 53" descr="Stad kontur">
              <a:extLst>
                <a:ext uri="{FF2B5EF4-FFF2-40B4-BE49-F238E27FC236}">
                  <a16:creationId xmlns:a16="http://schemas.microsoft.com/office/drawing/2014/main" id="{455084CC-2CB5-5D49-B29D-226CF4D27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672968" y="4600320"/>
              <a:ext cx="1103552" cy="110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554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C5B8-0883-C3B2-9C7B-2FEE1477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607C-9413-CA10-8AC3-CDE9DAEB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17AF632-78E3-5B07-00E3-4E25B69A446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8894" y="1679603"/>
            <a:ext cx="1111307" cy="1104957"/>
          </a:xfr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CA1E068-96F8-55FC-8269-B176A7560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FCB8B95E-C751-406F-3842-9D7201816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18" y="4049848"/>
            <a:ext cx="933498" cy="1073205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9F5BCBEE-AA11-9905-51FD-DF65C8119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94" y="2890127"/>
            <a:ext cx="1054154" cy="1054154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717D3779-7F59-036D-322A-FB86CFDF4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25" y="5241282"/>
            <a:ext cx="1200212" cy="1098606"/>
          </a:xfrm>
          <a:prstGeom prst="rect">
            <a:avLst/>
          </a:prstGeom>
        </p:spPr>
      </p:pic>
      <p:sp>
        <p:nvSpPr>
          <p:cNvPr id="23" name="textruta 22">
            <a:extLst>
              <a:ext uri="{FF2B5EF4-FFF2-40B4-BE49-F238E27FC236}">
                <a16:creationId xmlns:a16="http://schemas.microsoft.com/office/drawing/2014/main" id="{506E27C9-122C-FBDF-7F48-6D7834206DA9}"/>
              </a:ext>
            </a:extLst>
          </p:cNvPr>
          <p:cNvSpPr txBox="1"/>
          <p:nvPr/>
        </p:nvSpPr>
        <p:spPr>
          <a:xfrm>
            <a:off x="2135560" y="1862749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Mätning och övervakning</a:t>
            </a:r>
            <a:endParaRPr lang="en-US" b="1" dirty="0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B2A4AEC0-395D-6679-07B7-C76216A3FAD8}"/>
              </a:ext>
            </a:extLst>
          </p:cNvPr>
          <p:cNvSpPr txBox="1"/>
          <p:nvPr/>
        </p:nvSpPr>
        <p:spPr>
          <a:xfrm>
            <a:off x="2135558" y="3039513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Identifiera utgångsläget</a:t>
            </a:r>
            <a:endParaRPr lang="en-US" b="1" dirty="0"/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D4BA096B-52CB-FB15-9AB4-08C73382ABEC}"/>
              </a:ext>
            </a:extLst>
          </p:cNvPr>
          <p:cNvSpPr txBox="1"/>
          <p:nvPr/>
        </p:nvSpPr>
        <p:spPr>
          <a:xfrm>
            <a:off x="2154401" y="419433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Optimering</a:t>
            </a:r>
            <a:endParaRPr lang="en-US" b="1" dirty="0"/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211D7B43-86CA-D70F-C789-65E34B01B37B}"/>
              </a:ext>
            </a:extLst>
          </p:cNvPr>
          <p:cNvSpPr txBox="1"/>
          <p:nvPr/>
        </p:nvSpPr>
        <p:spPr>
          <a:xfrm>
            <a:off x="2158785" y="535609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Energiåtervinning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906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7C15-EC55-678D-D466-A817AAC0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3EE1-6D75-B818-6F22-AE234830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C5525E9F-1AE7-6D1A-8569-D293C4FFB1D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8894" y="1679603"/>
            <a:ext cx="1111307" cy="1104957"/>
          </a:xfr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CDECFAB-4223-FC3F-F0B7-919854B69B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11</a:t>
            </a:fld>
            <a:endParaRPr lang="en-US" dirty="0"/>
          </a:p>
        </p:txBody>
      </p:sp>
      <p:sp>
        <p:nvSpPr>
          <p:cNvPr id="23" name="textruta 22">
            <a:extLst>
              <a:ext uri="{FF2B5EF4-FFF2-40B4-BE49-F238E27FC236}">
                <a16:creationId xmlns:a16="http://schemas.microsoft.com/office/drawing/2014/main" id="{E118455F-1D02-9248-174E-05D15C597288}"/>
              </a:ext>
            </a:extLst>
          </p:cNvPr>
          <p:cNvSpPr txBox="1"/>
          <p:nvPr/>
        </p:nvSpPr>
        <p:spPr>
          <a:xfrm>
            <a:off x="2135560" y="1862749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Mätning och övervakning</a:t>
            </a:r>
            <a:endParaRPr lang="en-US" b="1" dirty="0"/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32407E7B-4C3C-E636-2692-2C152A5B5F99}"/>
              </a:ext>
            </a:extLst>
          </p:cNvPr>
          <p:cNvSpPr txBox="1"/>
          <p:nvPr/>
        </p:nvSpPr>
        <p:spPr>
          <a:xfrm>
            <a:off x="1127448" y="3247582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Kontroll kräver mätning. Kommunikativa ställdon, ventiler och sensorer tillhandahålla ytterligare data för att optimera anläggningens drift.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517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F980-0BEA-A3BE-F16A-B7054DA6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C5B8-B69F-F581-C8C6-28D94143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525058-B02D-E2D9-38F3-75D98ECE0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12</a:t>
            </a:fld>
            <a:endParaRPr lang="en-US" dirty="0"/>
          </a:p>
        </p:txBody>
      </p:sp>
      <p:pic>
        <p:nvPicPr>
          <p:cNvPr id="20" name="Bildobjekt 19">
            <a:extLst>
              <a:ext uri="{FF2B5EF4-FFF2-40B4-BE49-F238E27FC236}">
                <a16:creationId xmlns:a16="http://schemas.microsoft.com/office/drawing/2014/main" id="{B08E67EA-4B0D-09D5-80B9-F2B9F25B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8" y="1688391"/>
            <a:ext cx="1054154" cy="1054154"/>
          </a:xfrm>
          <a:prstGeom prst="rect">
            <a:avLst/>
          </a:prstGeom>
        </p:spPr>
      </p:pic>
      <p:sp>
        <p:nvSpPr>
          <p:cNvPr id="24" name="textruta 23">
            <a:extLst>
              <a:ext uri="{FF2B5EF4-FFF2-40B4-BE49-F238E27FC236}">
                <a16:creationId xmlns:a16="http://schemas.microsoft.com/office/drawing/2014/main" id="{BBE655BB-06EB-AA93-8EFB-E1F032CF1C52}"/>
              </a:ext>
            </a:extLst>
          </p:cNvPr>
          <p:cNvSpPr txBox="1"/>
          <p:nvPr/>
        </p:nvSpPr>
        <p:spPr>
          <a:xfrm>
            <a:off x="2191082" y="1837777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Identifiera utgångsläget</a:t>
            </a:r>
            <a:endParaRPr lang="en-US" b="1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541673F0-B062-BFA0-5551-E98224EB5A42}"/>
              </a:ext>
            </a:extLst>
          </p:cNvPr>
          <p:cNvSpPr txBox="1"/>
          <p:nvPr/>
        </p:nvSpPr>
        <p:spPr>
          <a:xfrm>
            <a:off x="1151494" y="3284984"/>
            <a:ext cx="7104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– </a:t>
            </a:r>
            <a:r>
              <a:rPr lang="en-US" b="1" dirty="0" err="1"/>
              <a:t>Jämför</a:t>
            </a:r>
            <a:r>
              <a:rPr lang="en-US" b="1" dirty="0"/>
              <a:t>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förbättra</a:t>
            </a:r>
            <a:r>
              <a:rPr lang="en-US" b="1" dirty="0"/>
              <a:t> </a:t>
            </a:r>
            <a:r>
              <a:rPr lang="en-US" b="1" dirty="0" err="1"/>
              <a:t>energihanteringen</a:t>
            </a:r>
            <a:endParaRPr lang="en-US" b="1" dirty="0"/>
          </a:p>
          <a:p>
            <a:r>
              <a:rPr lang="en-US" b="1" dirty="0"/>
              <a:t>– </a:t>
            </a:r>
            <a:r>
              <a:rPr lang="en-US" b="1" dirty="0" err="1"/>
              <a:t>Jämför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byggnad</a:t>
            </a:r>
            <a:r>
              <a:rPr lang="en-US" b="1" dirty="0"/>
              <a:t> med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referens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88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05B7-CD78-BD6D-5E7A-DCAFD7D2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8FF6-9F73-7773-ED89-6C4616FC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E43FD8A-63A3-BC14-9D45-0EBC66676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BDC8839B-F8FD-B5E5-7EE5-04A0180D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5" y="1556792"/>
            <a:ext cx="933498" cy="1073205"/>
          </a:xfrm>
          <a:prstGeom prst="rect">
            <a:avLst/>
          </a:prstGeom>
        </p:spPr>
      </p:pic>
      <p:sp>
        <p:nvSpPr>
          <p:cNvPr id="25" name="textruta 24">
            <a:extLst>
              <a:ext uri="{FF2B5EF4-FFF2-40B4-BE49-F238E27FC236}">
                <a16:creationId xmlns:a16="http://schemas.microsoft.com/office/drawing/2014/main" id="{D88E8F5B-35F3-33E7-83D0-B2275452E8F5}"/>
              </a:ext>
            </a:extLst>
          </p:cNvPr>
          <p:cNvSpPr txBox="1"/>
          <p:nvPr/>
        </p:nvSpPr>
        <p:spPr>
          <a:xfrm>
            <a:off x="2053308" y="1701274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Optimering</a:t>
            </a:r>
            <a:endParaRPr lang="en-US" b="1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12012093-ECAF-1BDB-C318-22B3475FC050}"/>
              </a:ext>
            </a:extLst>
          </p:cNvPr>
          <p:cNvSpPr txBox="1"/>
          <p:nvPr/>
        </p:nvSpPr>
        <p:spPr>
          <a:xfrm>
            <a:off x="995910" y="3244334"/>
            <a:ext cx="7104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- </a:t>
            </a:r>
            <a:r>
              <a:rPr lang="en-US" b="1" dirty="0" err="1"/>
              <a:t>Hantera</a:t>
            </a:r>
            <a:r>
              <a:rPr lang="en-US" b="1" dirty="0"/>
              <a:t> delta-T för </a:t>
            </a:r>
            <a:r>
              <a:rPr lang="en-US" b="1" dirty="0" err="1"/>
              <a:t>att</a:t>
            </a:r>
            <a:r>
              <a:rPr lang="en-US" b="1" dirty="0"/>
              <a:t> </a:t>
            </a:r>
            <a:r>
              <a:rPr lang="en-US" b="1" dirty="0" err="1"/>
              <a:t>sänka</a:t>
            </a:r>
            <a:r>
              <a:rPr lang="en-US" b="1" dirty="0"/>
              <a:t> </a:t>
            </a:r>
            <a:r>
              <a:rPr lang="en-US" b="1" dirty="0" err="1"/>
              <a:t>flöden</a:t>
            </a:r>
            <a:r>
              <a:rPr lang="en-US" b="1" dirty="0"/>
              <a:t>, </a:t>
            </a:r>
            <a:r>
              <a:rPr lang="en-US" b="1" dirty="0" err="1"/>
              <a:t>temperaturer</a:t>
            </a:r>
            <a:r>
              <a:rPr lang="en-US" b="1" dirty="0"/>
              <a:t>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slutändan</a:t>
            </a:r>
            <a:r>
              <a:rPr lang="en-US" b="1" dirty="0"/>
              <a:t> </a:t>
            </a:r>
            <a:r>
              <a:rPr lang="en-US" b="1" dirty="0" err="1"/>
              <a:t>optimera</a:t>
            </a:r>
            <a:r>
              <a:rPr lang="en-US" b="1" dirty="0"/>
              <a:t> </a:t>
            </a:r>
            <a:r>
              <a:rPr lang="en-US" b="1" dirty="0" err="1"/>
              <a:t>effektuttaget</a:t>
            </a:r>
            <a:r>
              <a:rPr lang="en-US" b="1" dirty="0"/>
              <a:t>. </a:t>
            </a:r>
            <a:r>
              <a:rPr lang="en-US" b="1" dirty="0" err="1"/>
              <a:t>Zonreglering</a:t>
            </a:r>
            <a:r>
              <a:rPr lang="en-US" b="1" dirty="0"/>
              <a:t>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optimering</a:t>
            </a:r>
            <a:r>
              <a:rPr lang="en-US" b="1" dirty="0"/>
              <a:t> </a:t>
            </a:r>
            <a:r>
              <a:rPr lang="en-US" b="1" dirty="0" err="1"/>
              <a:t>efter</a:t>
            </a:r>
            <a:r>
              <a:rPr lang="en-US" b="1" dirty="0"/>
              <a:t> </a:t>
            </a:r>
            <a:r>
              <a:rPr lang="en-US" b="1" dirty="0" err="1"/>
              <a:t>exakt</a:t>
            </a:r>
            <a:r>
              <a:rPr lang="en-US" b="1" dirty="0"/>
              <a:t> </a:t>
            </a:r>
            <a:r>
              <a:rPr lang="en-US" b="1" dirty="0" err="1"/>
              <a:t>behov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55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CD54-07FA-1210-1D5C-FCCB3E46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ABEA-E3D9-00E2-C1F1-9AA2E3AF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B068B43-1B19-6CCC-B0C9-CBF8B100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14</a:t>
            </a:fld>
            <a:endParaRPr lang="en-US" dirty="0"/>
          </a:p>
        </p:txBody>
      </p:sp>
      <p:pic>
        <p:nvPicPr>
          <p:cNvPr id="22" name="Bildobjekt 21">
            <a:extLst>
              <a:ext uri="{FF2B5EF4-FFF2-40B4-BE49-F238E27FC236}">
                <a16:creationId xmlns:a16="http://schemas.microsoft.com/office/drawing/2014/main" id="{14A8B69B-293F-B82E-F920-B77572DEB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75" y="1658001"/>
            <a:ext cx="1200212" cy="1098606"/>
          </a:xfrm>
          <a:prstGeom prst="rect">
            <a:avLst/>
          </a:prstGeom>
        </p:spPr>
      </p:pic>
      <p:sp>
        <p:nvSpPr>
          <p:cNvPr id="26" name="textruta 25">
            <a:extLst>
              <a:ext uri="{FF2B5EF4-FFF2-40B4-BE49-F238E27FC236}">
                <a16:creationId xmlns:a16="http://schemas.microsoft.com/office/drawing/2014/main" id="{6DA0DA3D-48EC-B892-A3CE-BCC70E29CD43}"/>
              </a:ext>
            </a:extLst>
          </p:cNvPr>
          <p:cNvSpPr txBox="1"/>
          <p:nvPr/>
        </p:nvSpPr>
        <p:spPr>
          <a:xfrm>
            <a:off x="2262535" y="177281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Energiåtervinning</a:t>
            </a:r>
            <a:endParaRPr lang="en-US" b="1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05FED97A-46AC-61AF-40BD-B15E94DC5E22}"/>
              </a:ext>
            </a:extLst>
          </p:cNvPr>
          <p:cNvSpPr txBox="1"/>
          <p:nvPr/>
        </p:nvSpPr>
        <p:spPr>
          <a:xfrm>
            <a:off x="995911" y="3244334"/>
            <a:ext cx="49560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- </a:t>
            </a:r>
            <a:r>
              <a:rPr lang="en-US" b="1" dirty="0" err="1"/>
              <a:t>Försöka</a:t>
            </a:r>
            <a:r>
              <a:rPr lang="en-US" b="1" dirty="0"/>
              <a:t> </a:t>
            </a:r>
            <a:r>
              <a:rPr lang="en-US" b="1" dirty="0" err="1"/>
              <a:t>dra</a:t>
            </a:r>
            <a:r>
              <a:rPr lang="en-US" b="1" dirty="0"/>
              <a:t> </a:t>
            </a:r>
            <a:r>
              <a:rPr lang="en-US" b="1" dirty="0" err="1"/>
              <a:t>nytta</a:t>
            </a:r>
            <a:r>
              <a:rPr lang="en-US" b="1" dirty="0"/>
              <a:t> av/</a:t>
            </a:r>
            <a:r>
              <a:rPr lang="en-US" b="1" dirty="0" err="1"/>
              <a:t>återvinna</a:t>
            </a:r>
            <a:r>
              <a:rPr lang="en-US" b="1" dirty="0"/>
              <a:t> </a:t>
            </a:r>
            <a:r>
              <a:rPr lang="en-US" b="1" dirty="0" err="1"/>
              <a:t>energi</a:t>
            </a:r>
            <a:r>
              <a:rPr lang="en-US" b="1" dirty="0"/>
              <a:t> </a:t>
            </a:r>
            <a:r>
              <a:rPr lang="en-US" b="1" dirty="0" err="1"/>
              <a:t>från</a:t>
            </a:r>
            <a:r>
              <a:rPr lang="en-US" b="1" dirty="0"/>
              <a:t> </a:t>
            </a:r>
            <a:r>
              <a:rPr lang="en-US" b="1" dirty="0" err="1"/>
              <a:t>kyl</a:t>
            </a:r>
            <a:r>
              <a:rPr lang="en-US" b="1" dirty="0"/>
              <a:t>-/</a:t>
            </a:r>
            <a:r>
              <a:rPr lang="en-US" b="1" dirty="0" err="1"/>
              <a:t>värmesystem</a:t>
            </a:r>
            <a:r>
              <a:rPr lang="en-US" b="1" dirty="0"/>
              <a:t>.</a:t>
            </a:r>
          </a:p>
          <a:p>
            <a:r>
              <a:rPr lang="en-US" b="1" dirty="0"/>
              <a:t>		 </a:t>
            </a:r>
          </a:p>
        </p:txBody>
      </p:sp>
    </p:spTree>
    <p:extLst>
      <p:ext uri="{BB962C8B-B14F-4D97-AF65-F5344CB8AC3E}">
        <p14:creationId xmlns:p14="http://schemas.microsoft.com/office/powerpoint/2010/main" val="148312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351FD-34FB-7782-8D5C-B98921FB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99C1-09BD-3F81-CF24-96985E40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Nivåer</a:t>
            </a:r>
            <a:r>
              <a:rPr lang="en-US" dirty="0"/>
              <a:t> av Retrofit+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56DE5B-BE87-EA61-A292-A53FC2588C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15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1BFB2A3-9B9E-88B5-9C0F-F39834DA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8" y="1844824"/>
            <a:ext cx="9600000" cy="3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2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1B78-C769-BB51-ED17-C0EB395AF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147A9A-86DB-5A2A-6765-79CA8A9CB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16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0C4CDE0-2F0E-6891-ABD7-5BC3B1D5D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31" y="2209522"/>
            <a:ext cx="9409524" cy="397142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CCDCD2E-4D3D-D14E-7C18-5F1D4F8D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US" dirty="0" err="1"/>
              <a:t>Nivåer</a:t>
            </a:r>
            <a:r>
              <a:rPr lang="en-US" dirty="0"/>
              <a:t> av Retrofit+</a:t>
            </a:r>
          </a:p>
        </p:txBody>
      </p:sp>
    </p:spTree>
    <p:extLst>
      <p:ext uri="{BB962C8B-B14F-4D97-AF65-F5344CB8AC3E}">
        <p14:creationId xmlns:p14="http://schemas.microsoft.com/office/powerpoint/2010/main" val="347391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42A5-CB8C-7A0D-262B-41A0EDB3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7B971BD-8AFB-870E-AF06-7E542D8DDB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CAFCD73-348B-A7CD-9749-494008F1F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57" y="1916832"/>
            <a:ext cx="9495238" cy="375238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7B1E7CE-3372-C603-55A4-AA01A15E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77863"/>
            <a:ext cx="9312275" cy="735012"/>
          </a:xfrm>
        </p:spPr>
        <p:txBody>
          <a:bodyPr/>
          <a:lstStyle/>
          <a:p>
            <a:r>
              <a:rPr lang="en-US" dirty="0" err="1"/>
              <a:t>Nivåer</a:t>
            </a:r>
            <a:r>
              <a:rPr lang="en-US" dirty="0"/>
              <a:t> av Retrofit+</a:t>
            </a:r>
          </a:p>
        </p:txBody>
      </p:sp>
    </p:spTree>
    <p:extLst>
      <p:ext uri="{BB962C8B-B14F-4D97-AF65-F5344CB8AC3E}">
        <p14:creationId xmlns:p14="http://schemas.microsoft.com/office/powerpoint/2010/main" val="987452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BD48-BF25-7517-267B-E80FEFA1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DF4A-5F50-D7A8-4588-675DA35E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8DFD411-41AE-5920-E008-92927384CE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18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8A3BD84-2D0B-41D1-E270-5783E7E66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371" y="2204864"/>
            <a:ext cx="7580952" cy="4123809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766437F1-01D2-DBFB-B5C7-E04E69E4A068}"/>
              </a:ext>
            </a:extLst>
          </p:cNvPr>
          <p:cNvSpPr txBox="1"/>
          <p:nvPr/>
        </p:nvSpPr>
        <p:spPr>
          <a:xfrm>
            <a:off x="624418" y="2204864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Nuvarande</a:t>
            </a:r>
            <a:r>
              <a:rPr lang="en-US" dirty="0"/>
              <a:t> situation</a:t>
            </a:r>
          </a:p>
          <a:p>
            <a:r>
              <a:rPr lang="en-US" dirty="0"/>
              <a:t>BACS </a:t>
            </a:r>
            <a:r>
              <a:rPr lang="en-US" dirty="0" err="1"/>
              <a:t>klass</a:t>
            </a:r>
            <a:r>
              <a:rPr lang="en-US" dirty="0"/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1545881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BF15-4137-03C9-14D9-88DE4FCA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CB1A-6059-D164-FA7F-B66CC257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2798763-B403-EE64-AD43-6F44F5BCC9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A05D857-CB88-A663-DD57-870A2D904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2311754"/>
            <a:ext cx="7619048" cy="4190476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51FC0216-3176-330E-1B80-514F2E12EB18}"/>
              </a:ext>
            </a:extLst>
          </p:cNvPr>
          <p:cNvSpPr txBox="1"/>
          <p:nvPr/>
        </p:nvSpPr>
        <p:spPr>
          <a:xfrm>
            <a:off x="624418" y="2204864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Potentiell</a:t>
            </a:r>
            <a:r>
              <a:rPr lang="en-US" dirty="0"/>
              <a:t> situation</a:t>
            </a:r>
          </a:p>
          <a:p>
            <a:r>
              <a:rPr lang="en-US" dirty="0"/>
              <a:t>BACS </a:t>
            </a:r>
            <a:r>
              <a:rPr lang="en-US" dirty="0" err="1"/>
              <a:t>klass</a:t>
            </a:r>
            <a:r>
              <a:rPr lang="en-US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173006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4A3DC-2BE6-68C2-067E-94D112E7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A04A-BF22-D2F4-08CC-C0FBF5D1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Sammanfattning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8075F21-22D1-5861-D5F1-077801A08F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16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584D-9EA2-4380-8A95-0136AAF2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3014AC7-AE6E-56D1-12A4-831394EE31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2038-365C-AFA5-85DC-B99DD0A70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771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0624-AB7C-9BCA-A0E1-983442FA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895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36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2414D10-50DF-4351-9389-BB2CFF9D8EAC}"/>
</file>

<file path=customXml/itemProps2.xml><?xml version="1.0" encoding="utf-8"?>
<ds:datastoreItem xmlns:ds="http://schemas.openxmlformats.org/officeDocument/2006/customXml" ds:itemID="{2855D61A-A92A-4354-B86A-537CB9BE3583}"/>
</file>

<file path=customXml/itemProps3.xml><?xml version="1.0" encoding="utf-8"?>
<ds:datastoreItem xmlns:ds="http://schemas.openxmlformats.org/officeDocument/2006/customXml" ds:itemID="{524CD291-D6AE-4242-9D76-B752CCD701FB}"/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478</TotalTime>
  <Words>388</Words>
  <Application>Microsoft Office PowerPoint</Application>
  <PresentationFormat>Bredbild</PresentationFormat>
  <Paragraphs>103</Paragraphs>
  <Slides>22</Slides>
  <Notes>5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22</vt:i4>
      </vt:variant>
    </vt:vector>
  </HeadingPairs>
  <TitlesOfParts>
    <vt:vector size="27" baseType="lpstr">
      <vt:lpstr>Arial</vt:lpstr>
      <vt:lpstr>Calibri</vt:lpstr>
      <vt:lpstr>Roboto Black</vt:lpstr>
      <vt:lpstr>Wingdings</vt:lpstr>
      <vt:lpstr>Office-tema</vt:lpstr>
      <vt:lpstr>Belimo Education  RetroFit+</vt:lpstr>
      <vt:lpstr>Agenda</vt:lpstr>
      <vt:lpstr>PowerPoint-presentation</vt:lpstr>
      <vt:lpstr>Vad är RetroFit+</vt:lpstr>
      <vt:lpstr>Vad är RetroFit+</vt:lpstr>
      <vt:lpstr>Vad är RetroFit+</vt:lpstr>
      <vt:lpstr>Vad är RetroFit+</vt:lpstr>
      <vt:lpstr>Vad är RetroFit+</vt:lpstr>
      <vt:lpstr>Vad är RetroFit+</vt:lpstr>
      <vt:lpstr>4 steg för att optimera  </vt:lpstr>
      <vt:lpstr>4 steg för att optimera  </vt:lpstr>
      <vt:lpstr>4 steg för att optimera  </vt:lpstr>
      <vt:lpstr>4 steg för att optimera  </vt:lpstr>
      <vt:lpstr>4 steg för att optimera  </vt:lpstr>
      <vt:lpstr>Nivåer av Retrofit+</vt:lpstr>
      <vt:lpstr>Nivåer av Retrofit+</vt:lpstr>
      <vt:lpstr>Nivåer av Retrofit+</vt:lpstr>
      <vt:lpstr>PowerPoint-presentation</vt:lpstr>
      <vt:lpstr>PowerPoint-presentation</vt:lpstr>
      <vt:lpstr>Sammanfattning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Belimo Education  RetroFit+</dc:title>
  <dc:creator>Abdo Zaki</dc:creator>
  <cp:lastModifiedBy>Abdo Zaki</cp:lastModifiedBy>
  <cp:revision>6</cp:revision>
  <dcterms:created xsi:type="dcterms:W3CDTF">2024-03-18T16:49:58Z</dcterms:created>
  <dcterms:modified xsi:type="dcterms:W3CDTF">2024-03-19T12:20:43Z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