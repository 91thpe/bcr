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Override2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Override3.xml" ContentType="application/vnd.openxmlformats-officedocument.themeOverr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ags/tag16.xml" ContentType="application/vnd.openxmlformats-officedocument.presentationml.tags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7" r:id="rId5"/>
    <p:sldId id="258" r:id="rId6"/>
    <p:sldId id="379" r:id="rId7"/>
    <p:sldId id="261" r:id="rId8"/>
    <p:sldId id="262" r:id="rId9"/>
    <p:sldId id="263" r:id="rId10"/>
    <p:sldId id="380" r:id="rId11"/>
    <p:sldId id="507" r:id="rId12"/>
    <p:sldId id="381" r:id="rId13"/>
    <p:sldId id="259" r:id="rId14"/>
    <p:sldId id="508" r:id="rId15"/>
    <p:sldId id="260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73A"/>
    <a:srgbClr val="CC5300"/>
    <a:srgbClr val="DA5800"/>
    <a:srgbClr val="E65D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E91387-C573-C40F-56CD-86474501B6C0}" v="2" dt="2024-12-02T10:04:54.081"/>
    <p1510:client id="{861E9969-7F1A-488F-8CC5-05DFE533DF3F}" v="110" dt="2024-12-02T10:12:23.007"/>
  </p1510:revLst>
</p1510:revInfo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éen Christina" userId="S::christina.modeen@belimo.se::63c968b0-dd36-48ad-b5a7-a34be83676e8" providerId="AD" clId="Web-{62E91387-C573-C40F-56CD-86474501B6C0}"/>
    <pc:docChg chg="modSld">
      <pc:chgData name="Modéen Christina" userId="S::christina.modeen@belimo.se::63c968b0-dd36-48ad-b5a7-a34be83676e8" providerId="AD" clId="Web-{62E91387-C573-C40F-56CD-86474501B6C0}" dt="2024-12-02T10:04:54.081" v="1" actId="20577"/>
      <pc:docMkLst>
        <pc:docMk/>
      </pc:docMkLst>
      <pc:sldChg chg="modSp">
        <pc:chgData name="Modéen Christina" userId="S::christina.modeen@belimo.se::63c968b0-dd36-48ad-b5a7-a34be83676e8" providerId="AD" clId="Web-{62E91387-C573-C40F-56CD-86474501B6C0}" dt="2024-12-02T10:04:54.081" v="1" actId="20577"/>
        <pc:sldMkLst>
          <pc:docMk/>
          <pc:sldMk cId="1565260264" sldId="258"/>
        </pc:sldMkLst>
        <pc:spChg chg="mod">
          <ac:chgData name="Modéen Christina" userId="S::christina.modeen@belimo.se::63c968b0-dd36-48ad-b5a7-a34be83676e8" providerId="AD" clId="Web-{62E91387-C573-C40F-56CD-86474501B6C0}" dt="2024-12-02T10:04:54.081" v="1" actId="20577"/>
          <ac:spMkLst>
            <pc:docMk/>
            <pc:sldMk cId="1565260264" sldId="258"/>
            <ac:spMk id="6" creationId="{7B643CE7-B34B-E186-D156-9A59BA88488E}"/>
          </ac:spMkLst>
        </pc:spChg>
      </pc:sldChg>
    </pc:docChg>
  </pc:docChgLst>
  <pc:docChgLst>
    <pc:chgData name="Abdo Zaki" userId="S::zaki.abdo@belimo.se::764c9ca9-b701-4b1a-b04d-ffaf9fa89cab" providerId="AD" clId="Web-{75BA1B84-0D1C-460C-9194-6E843C5E54F8}"/>
    <pc:docChg chg="modSld">
      <pc:chgData name="Abdo Zaki" userId="S::zaki.abdo@belimo.se::764c9ca9-b701-4b1a-b04d-ffaf9fa89cab" providerId="AD" clId="Web-{75BA1B84-0D1C-460C-9194-6E843C5E54F8}" dt="2024-10-24T09:51:32.614" v="0"/>
      <pc:docMkLst>
        <pc:docMk/>
      </pc:docMkLst>
      <pc:sldChg chg="mod modShow">
        <pc:chgData name="Abdo Zaki" userId="S::zaki.abdo@belimo.se::764c9ca9-b701-4b1a-b04d-ffaf9fa89cab" providerId="AD" clId="Web-{75BA1B84-0D1C-460C-9194-6E843C5E54F8}" dt="2024-10-24T09:51:32.614" v="0"/>
        <pc:sldMkLst>
          <pc:docMk/>
          <pc:sldMk cId="2172524299" sldId="507"/>
        </pc:sldMkLst>
      </pc:sldChg>
    </pc:docChg>
  </pc:docChgLst>
  <pc:docChgLst>
    <pc:chgData name="Modéen Christina" userId="63c968b0-dd36-48ad-b5a7-a34be83676e8" providerId="ADAL" clId="{861E9969-7F1A-488F-8CC5-05DFE533DF3F}"/>
    <pc:docChg chg="undo custSel addSld delSld modSld">
      <pc:chgData name="Modéen Christina" userId="63c968b0-dd36-48ad-b5a7-a34be83676e8" providerId="ADAL" clId="{861E9969-7F1A-488F-8CC5-05DFE533DF3F}" dt="2024-12-02T10:12:23.008" v="111" actId="20577"/>
      <pc:docMkLst>
        <pc:docMk/>
      </pc:docMkLst>
      <pc:sldChg chg="modSp mod">
        <pc:chgData name="Modéen Christina" userId="63c968b0-dd36-48ad-b5a7-a34be83676e8" providerId="ADAL" clId="{861E9969-7F1A-488F-8CC5-05DFE533DF3F}" dt="2024-12-02T10:05:38.911" v="9" actId="20577"/>
        <pc:sldMkLst>
          <pc:docMk/>
          <pc:sldMk cId="2207704243" sldId="257"/>
        </pc:sldMkLst>
        <pc:spChg chg="mod">
          <ac:chgData name="Modéen Christina" userId="63c968b0-dd36-48ad-b5a7-a34be83676e8" providerId="ADAL" clId="{861E9969-7F1A-488F-8CC5-05DFE533DF3F}" dt="2024-12-02T10:05:38.911" v="9" actId="20577"/>
          <ac:spMkLst>
            <pc:docMk/>
            <pc:sldMk cId="2207704243" sldId="257"/>
            <ac:spMk id="4" creationId="{F1314506-4292-4685-C473-8B0F7FC193E4}"/>
          </ac:spMkLst>
        </pc:spChg>
      </pc:sldChg>
      <pc:sldChg chg="modSp mod">
        <pc:chgData name="Modéen Christina" userId="63c968b0-dd36-48ad-b5a7-a34be83676e8" providerId="ADAL" clId="{861E9969-7F1A-488F-8CC5-05DFE533DF3F}" dt="2024-12-02T10:12:23.008" v="111" actId="20577"/>
        <pc:sldMkLst>
          <pc:docMk/>
          <pc:sldMk cId="4048095822" sldId="379"/>
        </pc:sldMkLst>
        <pc:spChg chg="mod">
          <ac:chgData name="Modéen Christina" userId="63c968b0-dd36-48ad-b5a7-a34be83676e8" providerId="ADAL" clId="{861E9969-7F1A-488F-8CC5-05DFE533DF3F}" dt="2024-12-02T10:11:49.364" v="55" actId="20577"/>
          <ac:spMkLst>
            <pc:docMk/>
            <pc:sldMk cId="4048095822" sldId="379"/>
            <ac:spMk id="32" creationId="{66A092D5-862B-4951-9965-B7680F3257FF}"/>
          </ac:spMkLst>
        </pc:spChg>
        <pc:spChg chg="mod">
          <ac:chgData name="Modéen Christina" userId="63c968b0-dd36-48ad-b5a7-a34be83676e8" providerId="ADAL" clId="{861E9969-7F1A-488F-8CC5-05DFE533DF3F}" dt="2024-12-02T10:12:11.723" v="86" actId="20577"/>
          <ac:spMkLst>
            <pc:docMk/>
            <pc:sldMk cId="4048095822" sldId="379"/>
            <ac:spMk id="37" creationId="{B03DFBEB-2755-471F-8C56-385D7529A2DE}"/>
          </ac:spMkLst>
        </pc:spChg>
        <pc:spChg chg="mod">
          <ac:chgData name="Modéen Christina" userId="63c968b0-dd36-48ad-b5a7-a34be83676e8" providerId="ADAL" clId="{861E9969-7F1A-488F-8CC5-05DFE533DF3F}" dt="2024-12-02T10:12:04.424" v="78" actId="20577"/>
          <ac:spMkLst>
            <pc:docMk/>
            <pc:sldMk cId="4048095822" sldId="379"/>
            <ac:spMk id="42" creationId="{DE53C026-305A-4299-8E4E-3EAB89BCF66C}"/>
          </ac:spMkLst>
        </pc:spChg>
        <pc:spChg chg="mod">
          <ac:chgData name="Modéen Christina" userId="63c968b0-dd36-48ad-b5a7-a34be83676e8" providerId="ADAL" clId="{861E9969-7F1A-488F-8CC5-05DFE533DF3F}" dt="2024-12-02T10:12:15.228" v="91" actId="20577"/>
          <ac:spMkLst>
            <pc:docMk/>
            <pc:sldMk cId="4048095822" sldId="379"/>
            <ac:spMk id="47" creationId="{535BD2C0-A8A5-4737-8AF6-DA1481D6A9A8}"/>
          </ac:spMkLst>
        </pc:spChg>
        <pc:spChg chg="mod">
          <ac:chgData name="Modéen Christina" userId="63c968b0-dd36-48ad-b5a7-a34be83676e8" providerId="ADAL" clId="{861E9969-7F1A-488F-8CC5-05DFE533DF3F}" dt="2024-12-02T10:06:51.062" v="33" actId="6549"/>
          <ac:spMkLst>
            <pc:docMk/>
            <pc:sldMk cId="4048095822" sldId="379"/>
            <ac:spMk id="76" creationId="{EDAB7667-8585-4A0A-BE63-631023338ECC}"/>
          </ac:spMkLst>
        </pc:spChg>
        <pc:spChg chg="mod">
          <ac:chgData name="Modéen Christina" userId="63c968b0-dd36-48ad-b5a7-a34be83676e8" providerId="ADAL" clId="{861E9969-7F1A-488F-8CC5-05DFE533DF3F}" dt="2024-12-02T10:12:23.008" v="111" actId="20577"/>
          <ac:spMkLst>
            <pc:docMk/>
            <pc:sldMk cId="4048095822" sldId="379"/>
            <ac:spMk id="81" creationId="{05E96707-B15E-4358-8111-0A58F7E3E985}"/>
          </ac:spMkLst>
        </pc:spChg>
      </pc:sldChg>
      <pc:sldChg chg="new del">
        <pc:chgData name="Modéen Christina" userId="63c968b0-dd36-48ad-b5a7-a34be83676e8" providerId="ADAL" clId="{861E9969-7F1A-488F-8CC5-05DFE533DF3F}" dt="2024-12-02T10:07:12.992" v="35" actId="680"/>
        <pc:sldMkLst>
          <pc:docMk/>
          <pc:sldMk cId="3639256515" sldId="5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March 21, 2023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DF3263-CF9B-4EA7-AFFA-CBFE6704EC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488D11-6EA9-487D-9A4E-F9C299B0D1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488259-43EA-4E12-98C9-26B5C9E6A4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320843-58B8-4BF9-A704-7AAC2D1BD4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C5CC4-9514-4909-9025-50BC222703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215D2B-CA33-4F17-80AC-418F1866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8A1297-C9C8-4D28-AD12-F049964E4C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ACC796-2BF5-4ACA-A048-009BF772B7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105538-8213-42EE-9ECD-78BCDAE385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ett medieklipp</a:t>
            </a:r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5E16F-B48E-4FFD-B2AB-742E010E10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4293E2-89BB-45F0-8F3E-633AC79854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734CFF-1795-4FE8-85CC-5659B48502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91947D-3AD9-4A26-9850-4DC4973993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7B5835-89AF-4FB4-B9D1-13A5D07C0B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0FF1BF-1755-46E9-83D5-62F91E01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56073475-BAE6-41FA-AEF6-04BE1445E0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</p:sldLayoutIdLst>
  <p:hf hdr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slide" Target="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11" Type="http://schemas.openxmlformats.org/officeDocument/2006/relationships/image" Target="../media/image11.png"/><Relationship Id="rId5" Type="http://schemas.openxmlformats.org/officeDocument/2006/relationships/image" Target="../media/image7.jpeg"/><Relationship Id="rId10" Type="http://schemas.openxmlformats.org/officeDocument/2006/relationships/slide" Target="slide11.xml"/><Relationship Id="rId4" Type="http://schemas.openxmlformats.org/officeDocument/2006/relationships/image" Target="../media/image6.jpe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www.belimo.com/ch/en_GB/about/media/videos-eu#-jBzvcj4LpBaGF_qavVsw3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– </a:t>
            </a:r>
            <a:r>
              <a:rPr lang="en-US" err="1"/>
              <a:t>nivå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1314506-4292-4685-C473-8B0F7FC193E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02 dec, 2024</a:t>
            </a:r>
          </a:p>
        </p:txBody>
      </p:sp>
    </p:spTree>
    <p:extLst>
      <p:ext uri="{BB962C8B-B14F-4D97-AF65-F5344CB8AC3E}">
        <p14:creationId xmlns:p14="http://schemas.microsoft.com/office/powerpoint/2010/main" val="220770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2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Dec 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AEC1F94E-1735-91D7-FDFD-D67AA99E2259}"/>
              </a:ext>
            </a:extLst>
          </p:cNvPr>
          <p:cNvSpPr txBox="1"/>
          <p:nvPr/>
        </p:nvSpPr>
        <p:spPr>
          <a:xfrm>
            <a:off x="1271464" y="1988840"/>
            <a:ext cx="1524776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Passiva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84E63563-89B6-7090-7728-677E77CEB75C}"/>
              </a:ext>
            </a:extLst>
          </p:cNvPr>
          <p:cNvSpPr txBox="1"/>
          <p:nvPr/>
        </p:nvSpPr>
        <p:spPr>
          <a:xfrm>
            <a:off x="3287688" y="2924944"/>
            <a:ext cx="2223686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Kanalgivare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3CFB8AE8-1848-E154-0D59-27E2E4544F29}"/>
              </a:ext>
            </a:extLst>
          </p:cNvPr>
          <p:cNvSpPr txBox="1"/>
          <p:nvPr/>
        </p:nvSpPr>
        <p:spPr>
          <a:xfrm>
            <a:off x="1423864" y="4138407"/>
            <a:ext cx="1863011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Rörgivare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579D9985-5031-C80F-A41A-26CEFA7F4203}"/>
              </a:ext>
            </a:extLst>
          </p:cNvPr>
          <p:cNvSpPr txBox="1"/>
          <p:nvPr/>
        </p:nvSpPr>
        <p:spPr>
          <a:xfrm>
            <a:off x="4783886" y="1831388"/>
            <a:ext cx="126509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Aktiva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4F0315DA-0428-7C59-CAA2-0D71469B6A2E}"/>
              </a:ext>
            </a:extLst>
          </p:cNvPr>
          <p:cNvSpPr txBox="1"/>
          <p:nvPr/>
        </p:nvSpPr>
        <p:spPr>
          <a:xfrm>
            <a:off x="3864753" y="5190846"/>
            <a:ext cx="134524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2"/>
                </a:solidFill>
              </a:rPr>
              <a:t>Pt1000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564D087A-23C4-40C6-4304-2DF7E8AA8B48}"/>
              </a:ext>
            </a:extLst>
          </p:cNvPr>
          <p:cNvSpPr txBox="1"/>
          <p:nvPr/>
        </p:nvSpPr>
        <p:spPr>
          <a:xfrm>
            <a:off x="6240016" y="2475379"/>
            <a:ext cx="280237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Utomhusgivare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CAA9FE86-FD71-DA67-FD1A-D46844592898}"/>
              </a:ext>
            </a:extLst>
          </p:cNvPr>
          <p:cNvSpPr txBox="1"/>
          <p:nvPr/>
        </p:nvSpPr>
        <p:spPr>
          <a:xfrm>
            <a:off x="6240016" y="5190846"/>
            <a:ext cx="248177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Energimätare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8A6CE1-EE51-D8C0-7992-6C52DCB17836}"/>
              </a:ext>
            </a:extLst>
          </p:cNvPr>
          <p:cNvSpPr txBox="1"/>
          <p:nvPr/>
        </p:nvSpPr>
        <p:spPr>
          <a:xfrm>
            <a:off x="6016225" y="3679041"/>
            <a:ext cx="2242922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Rumsgivare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0591BF45-2EAF-5858-6789-63BAED814FD9}"/>
              </a:ext>
            </a:extLst>
          </p:cNvPr>
          <p:cNvSpPr txBox="1"/>
          <p:nvPr/>
        </p:nvSpPr>
        <p:spPr>
          <a:xfrm>
            <a:off x="8472264" y="4302035"/>
            <a:ext cx="2403222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Flödesgivare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D55A547E-039E-928A-7FE7-DD8D3B15532C}"/>
              </a:ext>
            </a:extLst>
          </p:cNvPr>
          <p:cNvSpPr txBox="1"/>
          <p:nvPr/>
        </p:nvSpPr>
        <p:spPr>
          <a:xfrm>
            <a:off x="3202602" y="2138447"/>
            <a:ext cx="134524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US"/>
              <a:t>Ni1000</a:t>
            </a: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7BB65857-3327-C6D0-795C-5233414AD59F}"/>
              </a:ext>
            </a:extLst>
          </p:cNvPr>
          <p:cNvSpPr txBox="1"/>
          <p:nvPr/>
        </p:nvSpPr>
        <p:spPr>
          <a:xfrm>
            <a:off x="1023755" y="3262176"/>
            <a:ext cx="923651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2"/>
                </a:solidFill>
              </a:rPr>
              <a:t>NTC</a:t>
            </a:r>
          </a:p>
        </p:txBody>
      </p:sp>
    </p:spTree>
    <p:extLst>
      <p:ext uri="{BB962C8B-B14F-4D97-AF65-F5344CB8AC3E}">
        <p14:creationId xmlns:p14="http://schemas.microsoft.com/office/powerpoint/2010/main" val="156526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0C4E26-C83B-4C26-9825-13FE645C1A97}" type="slidenum">
              <a:rPr lang="en-GB" smtClean="0"/>
              <a:t>3</a:t>
            </a:fld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E92163-CB8F-4A74-8B6E-E3DC3E0A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9" y="677466"/>
            <a:ext cx="6191662" cy="735310"/>
          </a:xfrm>
        </p:spPr>
        <p:txBody>
          <a:bodyPr/>
          <a:lstStyle/>
          <a:p>
            <a:r>
              <a:rPr lang="en-GB" err="1"/>
              <a:t>Belimos</a:t>
            </a:r>
            <a:r>
              <a:rPr lang="en-GB"/>
              <a:t> </a:t>
            </a:r>
            <a:r>
              <a:rPr lang="en-GB" err="1"/>
              <a:t>givare</a:t>
            </a:r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FF4A9E-422B-454F-87DC-943BD32766B2}"/>
              </a:ext>
            </a:extLst>
          </p:cNvPr>
          <p:cNvGrpSpPr/>
          <p:nvPr/>
        </p:nvGrpSpPr>
        <p:grpSpPr>
          <a:xfrm>
            <a:off x="1127448" y="1890712"/>
            <a:ext cx="2054063" cy="2096889"/>
            <a:chOff x="1127448" y="1890712"/>
            <a:chExt cx="2054063" cy="2096889"/>
          </a:xfrm>
        </p:grpSpPr>
        <p:sp>
          <p:nvSpPr>
            <p:cNvPr id="29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81F21A7-EF56-444E-9AF2-F1EE0A6FF62E}"/>
                </a:ext>
              </a:extLst>
            </p:cNvPr>
            <p:cNvSpPr txBox="1">
              <a:spLocks/>
            </p:cNvSpPr>
            <p:nvPr/>
          </p:nvSpPr>
          <p:spPr>
            <a:xfrm>
              <a:off x="1127448" y="1890712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30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6D939C5A-12D2-4FDD-B5D5-30B4DCBF7BEA}"/>
                </a:ext>
              </a:extLst>
            </p:cNvPr>
            <p:cNvSpPr/>
            <p:nvPr/>
          </p:nvSpPr>
          <p:spPr>
            <a:xfrm>
              <a:off x="1216027" y="1978764"/>
              <a:ext cx="1876902" cy="146237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31" name="Picture 30">
              <a:hlinkClick r:id="rId2" action="ppaction://hlinksldjump"/>
              <a:extLst>
                <a:ext uri="{FF2B5EF4-FFF2-40B4-BE49-F238E27FC236}">
                  <a16:creationId xmlns:a16="http://schemas.microsoft.com/office/drawing/2014/main" id="{42F2A516-C85A-4C59-9805-09AD08881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7327" y="2008778"/>
              <a:ext cx="1019601" cy="136242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6A092D5-862B-4951-9965-B7680F3257FF}"/>
                </a:ext>
              </a:extLst>
            </p:cNvPr>
            <p:cNvSpPr txBox="1"/>
            <p:nvPr/>
          </p:nvSpPr>
          <p:spPr>
            <a:xfrm>
              <a:off x="1127448" y="3537435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err="1"/>
                <a:t>Temperatur</a:t>
              </a:r>
              <a:endParaRPr lang="en-GB" sz="1600" b="1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BAFF2AA-C0FE-4065-A6DB-07B8773CE54D}"/>
              </a:ext>
            </a:extLst>
          </p:cNvPr>
          <p:cNvGrpSpPr/>
          <p:nvPr/>
        </p:nvGrpSpPr>
        <p:grpSpPr>
          <a:xfrm>
            <a:off x="3765828" y="1890712"/>
            <a:ext cx="2046551" cy="2096889"/>
            <a:chOff x="3213682" y="1890713"/>
            <a:chExt cx="2046551" cy="2096889"/>
          </a:xfrm>
        </p:grpSpPr>
        <p:sp>
          <p:nvSpPr>
            <p:cNvPr id="34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DC69C108-B682-4651-92E2-FED20AF3A068}"/>
                </a:ext>
              </a:extLst>
            </p:cNvPr>
            <p:cNvSpPr txBox="1">
              <a:spLocks/>
            </p:cNvSpPr>
            <p:nvPr/>
          </p:nvSpPr>
          <p:spPr>
            <a:xfrm>
              <a:off x="3213682" y="1890713"/>
              <a:ext cx="2046551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35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6441BF0B-47CA-437D-A4AF-0B8C8F169C8E}"/>
                </a:ext>
              </a:extLst>
            </p:cNvPr>
            <p:cNvSpPr/>
            <p:nvPr/>
          </p:nvSpPr>
          <p:spPr>
            <a:xfrm>
              <a:off x="3298506" y="1981939"/>
              <a:ext cx="1876901" cy="1462379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36" name="Picture 35">
              <a:hlinkClick r:id="" action="ppaction://noaction"/>
              <a:extLst>
                <a:ext uri="{FF2B5EF4-FFF2-40B4-BE49-F238E27FC236}">
                  <a16:creationId xmlns:a16="http://schemas.microsoft.com/office/drawing/2014/main" id="{7AE841B0-8C54-4ACE-B74F-075CBF764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1602" y="2031979"/>
              <a:ext cx="819886" cy="139702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03DFBEB-2755-471F-8C56-385D7529A2DE}"/>
                </a:ext>
              </a:extLst>
            </p:cNvPr>
            <p:cNvSpPr txBox="1"/>
            <p:nvPr/>
          </p:nvSpPr>
          <p:spPr>
            <a:xfrm>
              <a:off x="3213682" y="3542312"/>
              <a:ext cx="20465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err="1"/>
                <a:t>Luftfuktighet</a:t>
              </a:r>
              <a:endParaRPr lang="en-GB" sz="1600" b="1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28C6B8-9B5C-4CE9-9CEF-3BAF81296E48}"/>
              </a:ext>
            </a:extLst>
          </p:cNvPr>
          <p:cNvGrpSpPr/>
          <p:nvPr/>
        </p:nvGrpSpPr>
        <p:grpSpPr>
          <a:xfrm>
            <a:off x="6396696" y="1890712"/>
            <a:ext cx="2066288" cy="2096889"/>
            <a:chOff x="5730844" y="1890713"/>
            <a:chExt cx="2066288" cy="2096889"/>
          </a:xfrm>
        </p:grpSpPr>
        <p:sp>
          <p:nvSpPr>
            <p:cNvPr id="39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F5F3FE15-6264-428C-8F7A-F8269B51369A}"/>
                </a:ext>
              </a:extLst>
            </p:cNvPr>
            <p:cNvSpPr txBox="1">
              <a:spLocks/>
            </p:cNvSpPr>
            <p:nvPr/>
          </p:nvSpPr>
          <p:spPr>
            <a:xfrm>
              <a:off x="5743069" y="1890713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40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36353125-FA32-4D55-A89E-47E3B22BADF7}"/>
                </a:ext>
              </a:extLst>
            </p:cNvPr>
            <p:cNvSpPr/>
            <p:nvPr/>
          </p:nvSpPr>
          <p:spPr>
            <a:xfrm>
              <a:off x="5831648" y="1981939"/>
              <a:ext cx="1876902" cy="147091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41" name="Picture 40">
              <a:hlinkClick r:id="" action="ppaction://noaction"/>
              <a:extLst>
                <a:ext uri="{FF2B5EF4-FFF2-40B4-BE49-F238E27FC236}">
                  <a16:creationId xmlns:a16="http://schemas.microsoft.com/office/drawing/2014/main" id="{92015969-E9FF-4C22-8661-DF3B488375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20" b="3084"/>
            <a:stretch/>
          </p:blipFill>
          <p:spPr>
            <a:xfrm>
              <a:off x="6207442" y="2063207"/>
              <a:ext cx="1102659" cy="136579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E53C026-305A-4299-8E4E-3EAB89BCF66C}"/>
                </a:ext>
              </a:extLst>
            </p:cNvPr>
            <p:cNvSpPr txBox="1"/>
            <p:nvPr/>
          </p:nvSpPr>
          <p:spPr>
            <a:xfrm>
              <a:off x="5730844" y="3535796"/>
              <a:ext cx="20662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/>
                <a:t>Luft </a:t>
              </a:r>
              <a:r>
                <a:rPr lang="en-GB" sz="1600" b="1" err="1"/>
                <a:t>kvalitet</a:t>
              </a:r>
              <a:endParaRPr lang="en-GB" sz="1600" b="1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4F5E00E-3689-48F7-AC1C-57BEAD299DA1}"/>
              </a:ext>
            </a:extLst>
          </p:cNvPr>
          <p:cNvGrpSpPr/>
          <p:nvPr/>
        </p:nvGrpSpPr>
        <p:grpSpPr>
          <a:xfrm>
            <a:off x="9047301" y="1890712"/>
            <a:ext cx="2054063" cy="2096889"/>
            <a:chOff x="8467893" y="1890713"/>
            <a:chExt cx="2054063" cy="2096889"/>
          </a:xfrm>
        </p:grpSpPr>
        <p:sp>
          <p:nvSpPr>
            <p:cNvPr id="44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89CDA52-47CD-4E71-B077-0CCE74921D67}"/>
                </a:ext>
              </a:extLst>
            </p:cNvPr>
            <p:cNvSpPr txBox="1">
              <a:spLocks/>
            </p:cNvSpPr>
            <p:nvPr/>
          </p:nvSpPr>
          <p:spPr>
            <a:xfrm>
              <a:off x="8467893" y="1890713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45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2810FFAD-BC67-4F0E-863F-86BDA8495DC5}"/>
                </a:ext>
              </a:extLst>
            </p:cNvPr>
            <p:cNvSpPr/>
            <p:nvPr/>
          </p:nvSpPr>
          <p:spPr>
            <a:xfrm>
              <a:off x="8556472" y="1985553"/>
              <a:ext cx="1876902" cy="1457761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46" name="Picture 45">
              <a:hlinkClick r:id="" action="ppaction://noaction"/>
              <a:extLst>
                <a:ext uri="{FF2B5EF4-FFF2-40B4-BE49-F238E27FC236}">
                  <a16:creationId xmlns:a16="http://schemas.microsoft.com/office/drawing/2014/main" id="{20241F4F-B9DC-414C-B04E-04892037F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1048" y="2213841"/>
              <a:ext cx="1187749" cy="947717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35BD2C0-A8A5-4737-8AF6-DA1481D6A9A8}"/>
                </a:ext>
              </a:extLst>
            </p:cNvPr>
            <p:cNvSpPr txBox="1"/>
            <p:nvPr/>
          </p:nvSpPr>
          <p:spPr>
            <a:xfrm>
              <a:off x="8467893" y="3544811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err="1"/>
                <a:t>Tryck</a:t>
              </a:r>
              <a:endParaRPr lang="en-GB" sz="1600" b="1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552933-68F9-41EC-80DD-367A92E45CAB}"/>
              </a:ext>
            </a:extLst>
          </p:cNvPr>
          <p:cNvGrpSpPr/>
          <p:nvPr/>
        </p:nvGrpSpPr>
        <p:grpSpPr>
          <a:xfrm>
            <a:off x="8256240" y="4211836"/>
            <a:ext cx="2054065" cy="2096889"/>
            <a:chOff x="7764848" y="4211836"/>
            <a:chExt cx="2054065" cy="2096889"/>
          </a:xfrm>
        </p:grpSpPr>
        <p:sp>
          <p:nvSpPr>
            <p:cNvPr id="83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B625C41-2C28-47B0-900A-B931B34D27B0}"/>
                </a:ext>
              </a:extLst>
            </p:cNvPr>
            <p:cNvSpPr txBox="1">
              <a:spLocks/>
            </p:cNvSpPr>
            <p:nvPr/>
          </p:nvSpPr>
          <p:spPr>
            <a:xfrm>
              <a:off x="7764850" y="4211836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84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2F379637-BE71-4755-BC8B-12D164D98B43}"/>
                </a:ext>
              </a:extLst>
            </p:cNvPr>
            <p:cNvSpPr/>
            <p:nvPr/>
          </p:nvSpPr>
          <p:spPr>
            <a:xfrm>
              <a:off x="7853429" y="4303062"/>
              <a:ext cx="1876902" cy="147091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F80357D-DFB1-4A69-8E4F-4330D16A9F19}"/>
                </a:ext>
              </a:extLst>
            </p:cNvPr>
            <p:cNvSpPr txBox="1"/>
            <p:nvPr/>
          </p:nvSpPr>
          <p:spPr>
            <a:xfrm>
              <a:off x="7764848" y="5863435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/>
                <a:t>TEM</a:t>
              </a:r>
            </a:p>
          </p:txBody>
        </p:sp>
        <p:pic>
          <p:nvPicPr>
            <p:cNvPr id="86" name="Grafik 1">
              <a:hlinkClick r:id="" action="ppaction://noaction"/>
              <a:extLst>
                <a:ext uri="{FF2B5EF4-FFF2-40B4-BE49-F238E27FC236}">
                  <a16:creationId xmlns:a16="http://schemas.microsoft.com/office/drawing/2014/main" id="{54AAA1E8-500E-41E8-AAA9-6BE7C3764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17000"/>
                      </a14:imgEffect>
                      <a14:imgEffect>
                        <a14:brightnessContrast bright="11000" contrast="1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180751" y="4418568"/>
              <a:ext cx="1288677" cy="1297315"/>
            </a:xfrm>
            <a:prstGeom prst="rect">
              <a:avLst/>
            </a:prstGeom>
          </p:spPr>
        </p:pic>
      </p:grpSp>
      <p:grpSp>
        <p:nvGrpSpPr>
          <p:cNvPr id="11" name="Grupp 10">
            <a:extLst>
              <a:ext uri="{FF2B5EF4-FFF2-40B4-BE49-F238E27FC236}">
                <a16:creationId xmlns:a16="http://schemas.microsoft.com/office/drawing/2014/main" id="{EBB79C52-941A-DC29-DB1E-8167A08232A6}"/>
              </a:ext>
            </a:extLst>
          </p:cNvPr>
          <p:cNvGrpSpPr/>
          <p:nvPr/>
        </p:nvGrpSpPr>
        <p:grpSpPr>
          <a:xfrm>
            <a:off x="1881695" y="4211835"/>
            <a:ext cx="2054063" cy="2096889"/>
            <a:chOff x="1881695" y="4211835"/>
            <a:chExt cx="2054063" cy="2096889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0B4782A-DD58-4E68-B633-DE6ED977D0EF}"/>
                </a:ext>
              </a:extLst>
            </p:cNvPr>
            <p:cNvGrpSpPr/>
            <p:nvPr/>
          </p:nvGrpSpPr>
          <p:grpSpPr>
            <a:xfrm>
              <a:off x="1881695" y="4211835"/>
              <a:ext cx="2054063" cy="2096889"/>
              <a:chOff x="8400256" y="1890713"/>
              <a:chExt cx="2054063" cy="2096889"/>
            </a:xfrm>
          </p:grpSpPr>
          <p:sp>
            <p:nvSpPr>
              <p:cNvPr id="50" name="Text Placeholder 53">
                <a:hlinkClick r:id="" action="ppaction://noaction"/>
                <a:extLst>
                  <a:ext uri="{FF2B5EF4-FFF2-40B4-BE49-F238E27FC236}">
                    <a16:creationId xmlns:a16="http://schemas.microsoft.com/office/drawing/2014/main" id="{9C7E760B-665B-4ABD-B530-47546EE29B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00256" y="1890713"/>
                <a:ext cx="2054063" cy="209688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outerShdw blurRad="254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vert="horz" lIns="180000" tIns="2232000" rIns="180000" bIns="180000" rtlCol="0" anchor="t">
                <a:noAutofit/>
              </a:bodyPr>
              <a:lstStyle>
                <a:lvl1pPr indent="0" algn="ctr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Arial" panose="020B0604020202020204" pitchFamily="34" charset="0"/>
                  <a:buNone/>
                  <a:defRPr sz="1600" b="1" spc="-10" baseline="0">
                    <a:solidFill>
                      <a:schemeClr val="bg1"/>
                    </a:solidFill>
                  </a:defRPr>
                </a:lvl1pPr>
                <a:lvl2pPr marL="234000" indent="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None/>
                  <a:defRPr spc="-10" baseline="0"/>
                </a:lvl2pPr>
                <a:lvl3pPr marL="70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3pPr>
                <a:lvl4pPr marL="93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4pPr>
                <a:lvl5pPr marL="1170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5pPr>
                <a:lvl6pPr marL="1404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6pPr>
                <a:lvl7pPr marL="1638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7pPr>
                <a:lvl8pPr marL="187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8pPr>
                <a:lvl9pPr marL="210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9pPr>
              </a:lstStyle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hteck 17">
                <a:hlinkClick r:id="" action="ppaction://noaction"/>
                <a:extLst>
                  <a:ext uri="{FF2B5EF4-FFF2-40B4-BE49-F238E27FC236}">
                    <a16:creationId xmlns:a16="http://schemas.microsoft.com/office/drawing/2014/main" id="{5ACD6D4B-A871-478D-92E8-D0DB730311C4}"/>
                  </a:ext>
                </a:extLst>
              </p:cNvPr>
              <p:cNvSpPr/>
              <p:nvPr/>
            </p:nvSpPr>
            <p:spPr>
              <a:xfrm>
                <a:off x="8488835" y="1981939"/>
                <a:ext cx="1876902" cy="147091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DAB7667-8585-4A0A-BE63-631023338ECC}"/>
                  </a:ext>
                </a:extLst>
              </p:cNvPr>
              <p:cNvSpPr txBox="1"/>
              <p:nvPr/>
            </p:nvSpPr>
            <p:spPr>
              <a:xfrm>
                <a:off x="8400256" y="3534687"/>
                <a:ext cx="205406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err="1"/>
                  <a:t>Flödesmätning</a:t>
                </a:r>
                <a:endParaRPr lang="en-GB" sz="1600" b="1"/>
              </a:p>
            </p:txBody>
          </p:sp>
        </p:grpSp>
        <p:pic>
          <p:nvPicPr>
            <p:cNvPr id="8" name="Bildobjekt 7">
              <a:extLst>
                <a:ext uri="{FF2B5EF4-FFF2-40B4-BE49-F238E27FC236}">
                  <a16:creationId xmlns:a16="http://schemas.microsoft.com/office/drawing/2014/main" id="{8A5A0EDE-4A2A-10A3-6953-1479BBF08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57932" y="4448604"/>
              <a:ext cx="1320633" cy="1257745"/>
            </a:xfrm>
            <a:prstGeom prst="rect">
              <a:avLst/>
            </a:prstGeom>
          </p:spPr>
        </p:pic>
      </p:grpSp>
      <p:grpSp>
        <p:nvGrpSpPr>
          <p:cNvPr id="12" name="Grupp 11">
            <a:extLst>
              <a:ext uri="{FF2B5EF4-FFF2-40B4-BE49-F238E27FC236}">
                <a16:creationId xmlns:a16="http://schemas.microsoft.com/office/drawing/2014/main" id="{08584490-07C5-A9CD-69DF-4742944F3F26}"/>
              </a:ext>
            </a:extLst>
          </p:cNvPr>
          <p:cNvGrpSpPr/>
          <p:nvPr/>
        </p:nvGrpSpPr>
        <p:grpSpPr>
          <a:xfrm>
            <a:off x="5068967" y="4211836"/>
            <a:ext cx="2054065" cy="2096889"/>
            <a:chOff x="5068967" y="4211836"/>
            <a:chExt cx="2054065" cy="209688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792FF8-140E-4B7E-8EED-B3D977620789}"/>
                </a:ext>
              </a:extLst>
            </p:cNvPr>
            <p:cNvGrpSpPr/>
            <p:nvPr/>
          </p:nvGrpSpPr>
          <p:grpSpPr>
            <a:xfrm>
              <a:off x="5068967" y="4211836"/>
              <a:ext cx="2054065" cy="2096889"/>
              <a:chOff x="5133980" y="4211836"/>
              <a:chExt cx="2054065" cy="2096889"/>
            </a:xfrm>
          </p:grpSpPr>
          <p:sp>
            <p:nvSpPr>
              <p:cNvPr id="78" name="Text Placeholder 53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099C121A-33AF-43F5-A18F-EEB9B1C46F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3982" y="4211836"/>
                <a:ext cx="2054063" cy="209688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outerShdw blurRad="254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vert="horz" lIns="180000" tIns="2232000" rIns="180000" bIns="180000" rtlCol="0" anchor="t">
                <a:noAutofit/>
              </a:bodyPr>
              <a:lstStyle>
                <a:lvl1pPr indent="0" algn="ctr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Arial" panose="020B0604020202020204" pitchFamily="34" charset="0"/>
                  <a:buNone/>
                  <a:defRPr sz="1600" b="1" spc="-10" baseline="0">
                    <a:solidFill>
                      <a:schemeClr val="bg1"/>
                    </a:solidFill>
                  </a:defRPr>
                </a:lvl1pPr>
                <a:lvl2pPr marL="234000" indent="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None/>
                  <a:defRPr spc="-10" baseline="0"/>
                </a:lvl2pPr>
                <a:lvl3pPr marL="70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3pPr>
                <a:lvl4pPr marL="93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4pPr>
                <a:lvl5pPr marL="1170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5pPr>
                <a:lvl6pPr marL="1404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6pPr>
                <a:lvl7pPr marL="1638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7pPr>
                <a:lvl8pPr marL="187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8pPr>
                <a:lvl9pPr marL="210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9pPr>
              </a:lstStyle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hteck 17">
                <a:hlinkClick r:id="" action="ppaction://noaction"/>
                <a:extLst>
                  <a:ext uri="{FF2B5EF4-FFF2-40B4-BE49-F238E27FC236}">
                    <a16:creationId xmlns:a16="http://schemas.microsoft.com/office/drawing/2014/main" id="{8C8875E0-FEE1-47CD-99B3-00DBA5C0B5BF}"/>
                  </a:ext>
                </a:extLst>
              </p:cNvPr>
              <p:cNvSpPr/>
              <p:nvPr/>
            </p:nvSpPr>
            <p:spPr>
              <a:xfrm>
                <a:off x="5222561" y="4303062"/>
                <a:ext cx="1876902" cy="147091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5E96707-B15E-4358-8111-0A58F7E3E985}"/>
                  </a:ext>
                </a:extLst>
              </p:cNvPr>
              <p:cNvSpPr txBox="1"/>
              <p:nvPr/>
            </p:nvSpPr>
            <p:spPr>
              <a:xfrm>
                <a:off x="5133980" y="5863435"/>
                <a:ext cx="20540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/>
                  <a:t>Rumsgivare</a:t>
                </a:r>
              </a:p>
            </p:txBody>
          </p:sp>
        </p:grpSp>
        <p:pic>
          <p:nvPicPr>
            <p:cNvPr id="10" name="Bildobjekt 9">
              <a:extLst>
                <a:ext uri="{FF2B5EF4-FFF2-40B4-BE49-F238E27FC236}">
                  <a16:creationId xmlns:a16="http://schemas.microsoft.com/office/drawing/2014/main" id="{3BFF10F8-41D1-20B3-8723-FFE454E70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56767" y="4445707"/>
              <a:ext cx="1150283" cy="113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809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2"/>
              </p:nvPr>
            </p:nvSpPr>
            <p:spPr/>
            <p:txBody>
              <a:bodyPr numCol="2"/>
              <a:lstStyle/>
              <a:p>
                <a:pPr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US"/>
                  <a:t>Vad </a:t>
                </a:r>
                <a:r>
                  <a:rPr lang="en-US" err="1"/>
                  <a:t>är</a:t>
                </a:r>
                <a:r>
                  <a:rPr lang="en-US"/>
                  <a:t> </a:t>
                </a:r>
                <a:r>
                  <a:rPr lang="en-US" err="1"/>
                  <a:t>en</a:t>
                </a:r>
                <a:r>
                  <a:rPr lang="en-US"/>
                  <a:t> </a:t>
                </a:r>
                <a:r>
                  <a:rPr lang="en-US" err="1"/>
                  <a:t>givare</a:t>
                </a:r>
                <a:r>
                  <a:rPr lang="en-US"/>
                  <a:t>?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err="1"/>
                  <a:t>En</a:t>
                </a:r>
                <a:r>
                  <a:rPr lang="en-US"/>
                  <a:t> </a:t>
                </a:r>
                <a:r>
                  <a:rPr lang="en-US" err="1"/>
                  <a:t>anordning</a:t>
                </a:r>
                <a:r>
                  <a:rPr lang="en-US"/>
                  <a:t> </a:t>
                </a:r>
                <a:r>
                  <a:rPr lang="en-US" err="1"/>
                  <a:t>som</a:t>
                </a:r>
                <a:r>
                  <a:rPr lang="en-US"/>
                  <a:t> </a:t>
                </a:r>
                <a:r>
                  <a:rPr lang="en-US" err="1"/>
                  <a:t>omvandlar</a:t>
                </a:r>
                <a:r>
                  <a:rPr lang="en-US"/>
                  <a:t> </a:t>
                </a:r>
                <a:r>
                  <a:rPr lang="en-US" err="1"/>
                  <a:t>fysikalisk</a:t>
                </a:r>
                <a:r>
                  <a:rPr lang="en-US"/>
                  <a:t> </a:t>
                </a:r>
                <a:r>
                  <a:rPr lang="en-US" err="1"/>
                  <a:t>storhet</a:t>
                </a:r>
                <a:r>
                  <a:rPr lang="en-US"/>
                  <a:t> till </a:t>
                </a:r>
                <a:r>
                  <a:rPr lang="en-US" err="1"/>
                  <a:t>en</a:t>
                </a:r>
                <a:r>
                  <a:rPr lang="en-US"/>
                  <a:t> </a:t>
                </a:r>
                <a:r>
                  <a:rPr lang="en-US" err="1"/>
                  <a:t>elektrisk</a:t>
                </a:r>
                <a:r>
                  <a:rPr lang="en-US"/>
                  <a:t> signal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endParaRPr lang="en-US"/>
              </a:p>
              <a:p>
                <a:pPr lvl="1">
                  <a:buClr>
                    <a:srgbClr val="FF6600"/>
                  </a:buClr>
                  <a:buSzPct val="80000"/>
                </a:pP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r>
                  <a:rPr lang="en-US" err="1"/>
                  <a:t>Mekaniska</a:t>
                </a:r>
                <a:r>
                  <a:rPr lang="en-US"/>
                  <a:t> </a:t>
                </a:r>
                <a:r>
                  <a:rPr lang="en-US" err="1"/>
                  <a:t>storheter</a:t>
                </a: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err="1"/>
                  <a:t>Temperatur</a:t>
                </a:r>
                <a:r>
                  <a:rPr lang="en-US"/>
                  <a:t> (enhet: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°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err="1"/>
                  <a:t>Fuktighet</a:t>
                </a:r>
                <a:r>
                  <a:rPr lang="en-US"/>
                  <a:t> (</a:t>
                </a:r>
                <a:r>
                  <a:rPr lang="en-US" err="1"/>
                  <a:t>enhet</a:t>
                </a:r>
                <a:r>
                  <a:rPr lang="en-US"/>
                  <a:t>: %)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err="1"/>
                  <a:t>Flöde</a:t>
                </a:r>
                <a:r>
                  <a:rPr lang="en-US"/>
                  <a:t> (</a:t>
                </a:r>
                <a:r>
                  <a:rPr lang="en-US" err="1"/>
                  <a:t>enhet</a:t>
                </a:r>
                <a:r>
                  <a:rPr lang="en-US"/>
                  <a:t>: l/s)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err="1"/>
                  <a:t>Tryck</a:t>
                </a:r>
                <a:r>
                  <a:rPr lang="en-US"/>
                  <a:t> / </a:t>
                </a:r>
                <a:r>
                  <a:rPr lang="en-US" err="1"/>
                  <a:t>differenstryck</a:t>
                </a:r>
                <a:r>
                  <a:rPr lang="en-US"/>
                  <a:t> (pa)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/>
                  <a:t>CO</a:t>
                </a:r>
                <a:r>
                  <a:rPr lang="en-US" baseline="-25000"/>
                  <a:t>2</a:t>
                </a:r>
                <a:r>
                  <a:rPr lang="en-US"/>
                  <a:t> (</a:t>
                </a:r>
                <a:r>
                  <a:rPr lang="en-US" err="1"/>
                  <a:t>enhet</a:t>
                </a:r>
                <a:r>
                  <a:rPr lang="en-US"/>
                  <a:t>: ppm)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/>
                  <a:t>VOC, </a:t>
                </a:r>
                <a:r>
                  <a:rPr lang="en-US" err="1"/>
                  <a:t>organiska</a:t>
                </a:r>
                <a:r>
                  <a:rPr lang="en-US"/>
                  <a:t> </a:t>
                </a:r>
                <a:r>
                  <a:rPr lang="en-US" err="1"/>
                  <a:t>föreningar</a:t>
                </a:r>
                <a:endParaRPr lang="en-US"/>
              </a:p>
              <a:p>
                <a:pPr marL="468000" lvl="2" indent="0">
                  <a:buClr>
                    <a:srgbClr val="FF6600"/>
                  </a:buClr>
                  <a:buSzPct val="80000"/>
                  <a:buNone/>
                </a:pPr>
                <a:r>
                  <a:rPr lang="en-US"/>
                  <a:t>(</a:t>
                </a:r>
                <a:r>
                  <a:rPr lang="en-US" err="1"/>
                  <a:t>enhet</a:t>
                </a:r>
                <a:r>
                  <a:rPr lang="en-US"/>
                  <a:t>: ppm)</a:t>
                </a:r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r>
                  <a:rPr lang="en-US" err="1"/>
                  <a:t>Elektriska</a:t>
                </a:r>
                <a:r>
                  <a:rPr lang="en-US"/>
                  <a:t> </a:t>
                </a:r>
                <a:r>
                  <a:rPr lang="en-US" err="1"/>
                  <a:t>storheter</a:t>
                </a:r>
                <a:endParaRPr lang="en-US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err="1"/>
                  <a:t>Spänning</a:t>
                </a:r>
                <a:r>
                  <a:rPr lang="en-US"/>
                  <a:t> (ex. 0 – 10V)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/>
                  <a:t>Ström (ex. 4-20mA)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err="1"/>
                  <a:t>Resistans</a:t>
                </a:r>
                <a:r>
                  <a:rPr lang="en-US"/>
                  <a:t> (ohm)</a:t>
                </a:r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1058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</p:spTree>
    <p:extLst>
      <p:ext uri="{BB962C8B-B14F-4D97-AF65-F5344CB8AC3E}">
        <p14:creationId xmlns:p14="http://schemas.microsoft.com/office/powerpoint/2010/main" val="11229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5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grpSp>
        <p:nvGrpSpPr>
          <p:cNvPr id="22" name="Grupp 21">
            <a:extLst>
              <a:ext uri="{FF2B5EF4-FFF2-40B4-BE49-F238E27FC236}">
                <a16:creationId xmlns:a16="http://schemas.microsoft.com/office/drawing/2014/main" id="{696C9A09-3810-AA36-9046-19E7CE967F4A}"/>
              </a:ext>
            </a:extLst>
          </p:cNvPr>
          <p:cNvGrpSpPr/>
          <p:nvPr/>
        </p:nvGrpSpPr>
        <p:grpSpPr>
          <a:xfrm>
            <a:off x="1628258" y="1657436"/>
            <a:ext cx="3494233" cy="4419429"/>
            <a:chOff x="1628258" y="1657436"/>
            <a:chExt cx="3494233" cy="4419429"/>
          </a:xfrm>
        </p:grpSpPr>
        <p:sp>
          <p:nvSpPr>
            <p:cNvPr id="3" name="Rechteck 16">
              <a:extLst>
                <a:ext uri="{FF2B5EF4-FFF2-40B4-BE49-F238E27FC236}">
                  <a16:creationId xmlns:a16="http://schemas.microsoft.com/office/drawing/2014/main" id="{1932020A-042D-8F40-A85D-BE231A3FA6AA}"/>
                </a:ext>
              </a:extLst>
            </p:cNvPr>
            <p:cNvSpPr>
              <a:spLocks/>
            </p:cNvSpPr>
            <p:nvPr/>
          </p:nvSpPr>
          <p:spPr>
            <a:xfrm>
              <a:off x="1631504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err="1">
                  <a:solidFill>
                    <a:schemeClr val="bg1"/>
                  </a:solidFill>
                </a:rPr>
                <a:t>Passiva</a:t>
              </a:r>
              <a:r>
                <a:rPr lang="en-GB" b="1">
                  <a:solidFill>
                    <a:schemeClr val="bg1"/>
                  </a:solidFill>
                </a:rPr>
                <a:t> </a:t>
              </a:r>
              <a:r>
                <a:rPr lang="en-GB" b="1" err="1">
                  <a:solidFill>
                    <a:schemeClr val="bg1"/>
                  </a:solidFill>
                </a:rPr>
                <a:t>givare</a:t>
              </a:r>
              <a:endParaRPr lang="en-GB" b="1">
                <a:solidFill>
                  <a:schemeClr val="bg1"/>
                </a:solidFill>
              </a:endParaRPr>
            </a:p>
          </p:txBody>
        </p:sp>
        <p:sp>
          <p:nvSpPr>
            <p:cNvPr id="7" name="Rechteck 19">
              <a:extLst>
                <a:ext uri="{FF2B5EF4-FFF2-40B4-BE49-F238E27FC236}">
                  <a16:creationId xmlns:a16="http://schemas.microsoft.com/office/drawing/2014/main" id="{F924FB0E-800B-BB08-3615-0013E3DF4F4D}"/>
                </a:ext>
              </a:extLst>
            </p:cNvPr>
            <p:cNvSpPr/>
            <p:nvPr/>
          </p:nvSpPr>
          <p:spPr>
            <a:xfrm>
              <a:off x="1628258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Genererar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egen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utan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behov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av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extern </a:t>
              </a:r>
              <a:r>
                <a:rPr lang="en-GB" sz="1600" err="1">
                  <a:solidFill>
                    <a:srgbClr val="000000"/>
                  </a:solidFill>
                </a:rPr>
                <a:t>energikälla</a:t>
              </a:r>
              <a:r>
                <a:rPr lang="en-GB" sz="1600">
                  <a:solidFill>
                    <a:srgbClr val="000000"/>
                  </a:solidFill>
                </a:rPr>
                <a:t>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i</a:t>
              </a:r>
              <a:r>
                <a:rPr lang="en-GB" sz="1600">
                  <a:solidFill>
                    <a:srgbClr val="000000"/>
                  </a:solidFill>
                </a:rPr>
                <a:t> ohm: Pt-, Ni-, NTC100, 500, 1000 etc.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 err="1">
                  <a:solidFill>
                    <a:srgbClr val="000000"/>
                  </a:solidFill>
                </a:rPr>
                <a:t>Produktex</a:t>
              </a:r>
              <a:r>
                <a:rPr lang="en-GB" sz="1600" i="1">
                  <a:solidFill>
                    <a:srgbClr val="000000"/>
                  </a:solidFill>
                </a:rPr>
                <a:t>: 01CT-1..</a:t>
              </a:r>
            </a:p>
          </p:txBody>
        </p:sp>
      </p:grpSp>
      <p:grpSp>
        <p:nvGrpSpPr>
          <p:cNvPr id="23" name="Grupp 22">
            <a:extLst>
              <a:ext uri="{FF2B5EF4-FFF2-40B4-BE49-F238E27FC236}">
                <a16:creationId xmlns:a16="http://schemas.microsoft.com/office/drawing/2014/main" id="{CD901012-3A37-66B5-C9F7-08CD4CE3FE84}"/>
              </a:ext>
            </a:extLst>
          </p:cNvPr>
          <p:cNvGrpSpPr/>
          <p:nvPr/>
        </p:nvGrpSpPr>
        <p:grpSpPr>
          <a:xfrm>
            <a:off x="6740826" y="1657436"/>
            <a:ext cx="3494233" cy="4419429"/>
            <a:chOff x="6740826" y="1657436"/>
            <a:chExt cx="3494233" cy="4419429"/>
          </a:xfrm>
        </p:grpSpPr>
        <p:sp>
          <p:nvSpPr>
            <p:cNvPr id="8" name="Rechteck 16">
              <a:extLst>
                <a:ext uri="{FF2B5EF4-FFF2-40B4-BE49-F238E27FC236}">
                  <a16:creationId xmlns:a16="http://schemas.microsoft.com/office/drawing/2014/main" id="{C4299EA9-4529-9A30-7BBB-D5B51E3550ED}"/>
                </a:ext>
              </a:extLst>
            </p:cNvPr>
            <p:cNvSpPr>
              <a:spLocks/>
            </p:cNvSpPr>
            <p:nvPr/>
          </p:nvSpPr>
          <p:spPr>
            <a:xfrm>
              <a:off x="6744072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err="1">
                  <a:solidFill>
                    <a:schemeClr val="bg1"/>
                  </a:solidFill>
                </a:rPr>
                <a:t>Aktiva</a:t>
              </a:r>
              <a:r>
                <a:rPr lang="en-GB" b="1">
                  <a:solidFill>
                    <a:schemeClr val="bg1"/>
                  </a:solidFill>
                </a:rPr>
                <a:t> </a:t>
              </a:r>
              <a:r>
                <a:rPr lang="en-GB" b="1" err="1">
                  <a:solidFill>
                    <a:schemeClr val="bg1"/>
                  </a:solidFill>
                </a:rPr>
                <a:t>givare</a:t>
              </a:r>
              <a:endParaRPr lang="en-GB" b="1">
                <a:solidFill>
                  <a:schemeClr val="bg1"/>
                </a:solidFill>
              </a:endParaRPr>
            </a:p>
          </p:txBody>
        </p:sp>
        <p:sp>
          <p:nvSpPr>
            <p:cNvPr id="9" name="Rechteck 19">
              <a:extLst>
                <a:ext uri="{FF2B5EF4-FFF2-40B4-BE49-F238E27FC236}">
                  <a16:creationId xmlns:a16="http://schemas.microsoft.com/office/drawing/2014/main" id="{73CE7D3A-1224-44A2-C20E-7977DF5754CC}"/>
                </a:ext>
              </a:extLst>
            </p:cNvPr>
            <p:cNvSpPr/>
            <p:nvPr/>
          </p:nvSpPr>
          <p:spPr>
            <a:xfrm>
              <a:off x="6740826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En </a:t>
              </a:r>
              <a:r>
                <a:rPr lang="en-GB" sz="1600" err="1">
                  <a:solidFill>
                    <a:srgbClr val="000000"/>
                  </a:solidFill>
                </a:rPr>
                <a:t>aktiv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givare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kräver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extern </a:t>
              </a:r>
              <a:r>
                <a:rPr lang="en-GB" sz="1600" err="1">
                  <a:solidFill>
                    <a:srgbClr val="000000"/>
                  </a:solidFill>
                </a:rPr>
                <a:t>energikälla</a:t>
              </a:r>
              <a:r>
                <a:rPr lang="en-GB" sz="1600">
                  <a:solidFill>
                    <a:srgbClr val="000000"/>
                  </a:solidFill>
                </a:rPr>
                <a:t> för </a:t>
              </a:r>
              <a:r>
                <a:rPr lang="en-GB" sz="1600" err="1">
                  <a:solidFill>
                    <a:srgbClr val="000000"/>
                  </a:solidFill>
                </a:rPr>
                <a:t>att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generera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. 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i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spänning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eller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ström</a:t>
              </a:r>
              <a:r>
                <a:rPr lang="en-GB" sz="1600">
                  <a:solidFill>
                    <a:srgbClr val="000000"/>
                  </a:solidFill>
                </a:rPr>
                <a:t>: 0 – 10V, 4 – 20 mA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 err="1">
                  <a:solidFill>
                    <a:srgbClr val="000000"/>
                  </a:solidFill>
                </a:rPr>
                <a:t>Produktex</a:t>
              </a:r>
              <a:r>
                <a:rPr lang="en-GB" sz="1600" i="1">
                  <a:solidFill>
                    <a:srgbClr val="000000"/>
                  </a:solidFill>
                </a:rPr>
                <a:t>: 22DT-12…</a:t>
              </a:r>
            </a:p>
          </p:txBody>
        </p:sp>
      </p:grp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3423B00B-F4DE-CFF4-2472-0AD45B9B2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024" y="4518163"/>
            <a:ext cx="963770" cy="1364802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ED0E0CEA-BE98-3D80-173D-39467B3FD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119" y="4293096"/>
            <a:ext cx="1062127" cy="1518342"/>
          </a:xfrm>
          <a:prstGeom prst="rect">
            <a:avLst/>
          </a:prstGeom>
        </p:spPr>
      </p:pic>
      <p:pic>
        <p:nvPicPr>
          <p:cNvPr id="17" name="Bildobjekt 16">
            <a:extLst>
              <a:ext uri="{FF2B5EF4-FFF2-40B4-BE49-F238E27FC236}">
                <a16:creationId xmlns:a16="http://schemas.microsoft.com/office/drawing/2014/main" id="{990541FB-312D-7B7F-C301-DFB7389F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205" y="4456426"/>
            <a:ext cx="1129730" cy="1140645"/>
          </a:xfrm>
          <a:prstGeom prst="rect">
            <a:avLst/>
          </a:prstGeom>
        </p:spPr>
      </p:pic>
      <p:pic>
        <p:nvPicPr>
          <p:cNvPr id="19" name="Bildobjekt 18">
            <a:extLst>
              <a:ext uri="{FF2B5EF4-FFF2-40B4-BE49-F238E27FC236}">
                <a16:creationId xmlns:a16="http://schemas.microsoft.com/office/drawing/2014/main" id="{B9BE6AA3-8F2A-5334-8DF1-749F59A609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84" y="4428824"/>
            <a:ext cx="1185217" cy="125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1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DD42DC6D-4C81-C35D-C7EE-390CBBE91EEF}"/>
              </a:ext>
            </a:extLst>
          </p:cNvPr>
          <p:cNvGrpSpPr/>
          <p:nvPr/>
        </p:nvGrpSpPr>
        <p:grpSpPr>
          <a:xfrm>
            <a:off x="1631504" y="1556792"/>
            <a:ext cx="3494233" cy="4419429"/>
            <a:chOff x="1628258" y="1657436"/>
            <a:chExt cx="3494233" cy="4419429"/>
          </a:xfrm>
        </p:grpSpPr>
        <p:sp>
          <p:nvSpPr>
            <p:cNvPr id="10" name="Rechteck 16">
              <a:extLst>
                <a:ext uri="{FF2B5EF4-FFF2-40B4-BE49-F238E27FC236}">
                  <a16:creationId xmlns:a16="http://schemas.microsoft.com/office/drawing/2014/main" id="{DF235775-A850-C63A-122E-50F801554E14}"/>
                </a:ext>
              </a:extLst>
            </p:cNvPr>
            <p:cNvSpPr>
              <a:spLocks/>
            </p:cNvSpPr>
            <p:nvPr/>
          </p:nvSpPr>
          <p:spPr>
            <a:xfrm>
              <a:off x="1631504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>
                  <a:solidFill>
                    <a:schemeClr val="bg1"/>
                  </a:solidFill>
                </a:rPr>
                <a:t>PTC</a:t>
              </a:r>
            </a:p>
          </p:txBody>
        </p:sp>
        <p:sp>
          <p:nvSpPr>
            <p:cNvPr id="11" name="Rechteck 19">
              <a:extLst>
                <a:ext uri="{FF2B5EF4-FFF2-40B4-BE49-F238E27FC236}">
                  <a16:creationId xmlns:a16="http://schemas.microsoft.com/office/drawing/2014/main" id="{16B2C369-AC3F-D3C8-62D6-FF27EF8077E0}"/>
                </a:ext>
              </a:extLst>
            </p:cNvPr>
            <p:cNvSpPr/>
            <p:nvPr/>
          </p:nvSpPr>
          <p:spPr>
            <a:xfrm>
              <a:off x="1628258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PTC = positive temperature coefficient 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Ex. Pt100, Pt1000, Ni1000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Material: Platina </a:t>
              </a:r>
              <a:r>
                <a:rPr lang="en-GB" sz="1600" err="1">
                  <a:solidFill>
                    <a:srgbClr val="000000"/>
                  </a:solidFill>
                </a:rPr>
                <a:t>eller</a:t>
              </a:r>
              <a:r>
                <a:rPr lang="en-GB" sz="1600">
                  <a:solidFill>
                    <a:srgbClr val="000000"/>
                  </a:solidFill>
                </a:rPr>
                <a:t> Nickel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Fördelar</a:t>
              </a:r>
              <a:r>
                <a:rPr lang="en-GB" sz="1600">
                  <a:solidFill>
                    <a:srgbClr val="000000"/>
                  </a:solidFill>
                </a:rPr>
                <a:t>: </a:t>
              </a:r>
              <a:r>
                <a:rPr lang="en-GB" sz="1600" err="1">
                  <a:solidFill>
                    <a:srgbClr val="000000"/>
                  </a:solidFill>
                </a:rPr>
                <a:t>hög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noggrannhet</a:t>
              </a:r>
              <a:r>
                <a:rPr lang="en-GB" sz="1600">
                  <a:solidFill>
                    <a:srgbClr val="000000"/>
                  </a:solidFill>
                </a:rPr>
                <a:t>, </a:t>
              </a:r>
              <a:r>
                <a:rPr lang="en-GB" sz="1600" err="1">
                  <a:solidFill>
                    <a:srgbClr val="000000"/>
                  </a:solidFill>
                </a:rPr>
                <a:t>tål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höga</a:t>
              </a:r>
              <a:r>
                <a:rPr lang="en-GB" sz="1600">
                  <a:solidFill>
                    <a:srgbClr val="000000"/>
                  </a:solidFill>
                </a:rPr>
                <a:t> temperature </a:t>
              </a:r>
              <a:r>
                <a:rPr lang="en-GB" sz="1600" err="1">
                  <a:solidFill>
                    <a:srgbClr val="000000"/>
                  </a:solidFill>
                </a:rPr>
                <a:t>och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lång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livstid</a:t>
              </a:r>
              <a:endParaRPr lang="en-GB" sz="1600">
                <a:solidFill>
                  <a:srgbClr val="000000"/>
                </a:solidFill>
              </a:endParaRP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Max temp. 500°C</a:t>
              </a:r>
            </a:p>
            <a:p>
              <a:pPr>
                <a:spcBef>
                  <a:spcPts val="1200"/>
                </a:spcBef>
                <a:buClr>
                  <a:srgbClr val="FF6600"/>
                </a:buClr>
                <a:buSzPct val="80000"/>
              </a:pPr>
              <a:endParaRPr lang="en-GB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upp 15">
            <a:extLst>
              <a:ext uri="{FF2B5EF4-FFF2-40B4-BE49-F238E27FC236}">
                <a16:creationId xmlns:a16="http://schemas.microsoft.com/office/drawing/2014/main" id="{1487498C-2146-733D-CEB9-EEEA7D95B4C0}"/>
              </a:ext>
            </a:extLst>
          </p:cNvPr>
          <p:cNvGrpSpPr/>
          <p:nvPr/>
        </p:nvGrpSpPr>
        <p:grpSpPr>
          <a:xfrm>
            <a:off x="6600056" y="1556792"/>
            <a:ext cx="3494233" cy="4419429"/>
            <a:chOff x="1780658" y="1809836"/>
            <a:chExt cx="3494233" cy="4419429"/>
          </a:xfrm>
        </p:grpSpPr>
        <p:sp>
          <p:nvSpPr>
            <p:cNvPr id="12" name="Rechteck 16">
              <a:extLst>
                <a:ext uri="{FF2B5EF4-FFF2-40B4-BE49-F238E27FC236}">
                  <a16:creationId xmlns:a16="http://schemas.microsoft.com/office/drawing/2014/main" id="{1C59EA61-FD93-644C-AA8D-B9FCBB9F9638}"/>
                </a:ext>
              </a:extLst>
            </p:cNvPr>
            <p:cNvSpPr>
              <a:spLocks/>
            </p:cNvSpPr>
            <p:nvPr/>
          </p:nvSpPr>
          <p:spPr>
            <a:xfrm>
              <a:off x="1783904" y="18098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>
                  <a:solidFill>
                    <a:schemeClr val="bg1"/>
                  </a:solidFill>
                </a:rPr>
                <a:t>NTC</a:t>
              </a:r>
            </a:p>
          </p:txBody>
        </p:sp>
        <p:sp>
          <p:nvSpPr>
            <p:cNvPr id="13" name="Rechteck 19">
              <a:extLst>
                <a:ext uri="{FF2B5EF4-FFF2-40B4-BE49-F238E27FC236}">
                  <a16:creationId xmlns:a16="http://schemas.microsoft.com/office/drawing/2014/main" id="{3FA5DE36-D7F9-E6EF-5350-6519E5A9FB02}"/>
                </a:ext>
              </a:extLst>
            </p:cNvPr>
            <p:cNvSpPr/>
            <p:nvPr/>
          </p:nvSpPr>
          <p:spPr>
            <a:xfrm>
              <a:off x="1780658" y="24351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NTC = negative temperature coefficient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Ex. NTC1.8k, NTC10kCarel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Fördelar</a:t>
              </a:r>
              <a:r>
                <a:rPr lang="en-GB" sz="1600">
                  <a:solidFill>
                    <a:srgbClr val="000000"/>
                  </a:solidFill>
                </a:rPr>
                <a:t>: </a:t>
              </a:r>
              <a:r>
                <a:rPr lang="en-GB" sz="1600" err="1">
                  <a:solidFill>
                    <a:srgbClr val="000000"/>
                  </a:solidFill>
                </a:rPr>
                <a:t>lägre</a:t>
              </a:r>
              <a:r>
                <a:rPr lang="en-GB" sz="1600">
                  <a:solidFill>
                    <a:srgbClr val="000000"/>
                  </a:solidFill>
                </a:rPr>
                <a:t> pris </a:t>
              </a:r>
              <a:r>
                <a:rPr lang="en-GB" sz="1600" err="1">
                  <a:solidFill>
                    <a:srgbClr val="000000"/>
                  </a:solidFill>
                </a:rPr>
                <a:t>och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acceptabel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noggrannhet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upp</a:t>
              </a:r>
              <a:r>
                <a:rPr lang="en-GB" sz="1600">
                  <a:solidFill>
                    <a:srgbClr val="000000"/>
                  </a:solidFill>
                </a:rPr>
                <a:t> till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viss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temperatur</a:t>
              </a:r>
              <a:r>
                <a:rPr lang="en-GB" sz="1600">
                  <a:solidFill>
                    <a:srgbClr val="000000"/>
                  </a:solidFill>
                </a:rPr>
                <a:t>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>
                  <a:solidFill>
                    <a:srgbClr val="000000"/>
                  </a:solidFill>
                </a:rPr>
                <a:t>Max temp. 150</a:t>
              </a:r>
              <a:r>
                <a:rPr lang="en-GB" sz="1600">
                  <a:solidFill>
                    <a:srgbClr val="000000"/>
                  </a:solidFill>
                </a:rPr>
                <a:t>°C</a:t>
              </a:r>
              <a:endParaRPr lang="en-GB" sz="1600" i="1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418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2"/>
          </p:nvPr>
        </p:nvSpPr>
        <p:spPr>
          <a:xfrm>
            <a:off x="263352" y="1916832"/>
            <a:ext cx="4607485" cy="792088"/>
          </a:xfrm>
          <a:solidFill>
            <a:schemeClr val="lt2"/>
          </a:solidFill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err="1"/>
              <a:t>Utgående</a:t>
            </a:r>
            <a:r>
              <a:rPr lang="en-US"/>
              <a:t> </a:t>
            </a:r>
            <a:r>
              <a:rPr lang="en-US" err="1"/>
              <a:t>styrsignaler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ohm (</a:t>
            </a:r>
            <a:r>
              <a:rPr lang="el-GR"/>
              <a:t>Ω</a:t>
            </a:r>
            <a:r>
              <a:rPr lang="sv-SE"/>
              <a:t>)</a:t>
            </a:r>
            <a:endParaRPr lang="en-US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7564BAB8-C48A-05A3-B48C-AEFF232C6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79" y="474438"/>
            <a:ext cx="5472608" cy="623659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9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7466BC5-6AA2-4682-91AF-16297BB489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/>
          <a:lstStyle/>
          <a:p>
            <a:fld id="{C3A66C27-DA42-4C84-82C0-CB598FF3B326}" type="slidenum">
              <a:rPr lang="de-CH" smtClean="0"/>
              <a:pPr/>
              <a:t>8</a:t>
            </a:fld>
            <a:endParaRPr lang="de-CH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A5D865D-CA33-47FA-B68A-BC81F04CA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de-CH"/>
              <a:t>Video: </a:t>
            </a:r>
            <a:r>
              <a:rPr lang="de-CH" err="1"/>
              <a:t>fördelarna</a:t>
            </a:r>
            <a:r>
              <a:rPr lang="de-CH"/>
              <a:t> </a:t>
            </a:r>
            <a:r>
              <a:rPr lang="de-CH" err="1"/>
              <a:t>med</a:t>
            </a:r>
            <a:r>
              <a:rPr lang="de-CH"/>
              <a:t> </a:t>
            </a:r>
            <a:r>
              <a:rPr lang="de-CH" err="1"/>
              <a:t>Belimos</a:t>
            </a:r>
            <a:r>
              <a:rPr lang="de-CH"/>
              <a:t> </a:t>
            </a:r>
            <a:r>
              <a:rPr lang="de-CH" err="1"/>
              <a:t>givare</a:t>
            </a:r>
            <a:endParaRPr lang="de-CH"/>
          </a:p>
        </p:txBody>
      </p:sp>
      <p:pic>
        <p:nvPicPr>
          <p:cNvPr id="8" name="Grafik 4">
            <a:hlinkClick r:id="rId2"/>
            <a:extLst>
              <a:ext uri="{FF2B5EF4-FFF2-40B4-BE49-F238E27FC236}">
                <a16:creationId xmlns:a16="http://schemas.microsoft.com/office/drawing/2014/main" id="{8AD1FF4F-9DF0-4FDB-B87D-1C8F4F625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392" y="1894833"/>
            <a:ext cx="7269061" cy="4427519"/>
          </a:xfrm>
          <a:prstGeom prst="rect">
            <a:avLst/>
          </a:prstGeom>
        </p:spPr>
      </p:pic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05075B84-5B73-4FDC-80BC-0756398FB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774" y="5091969"/>
            <a:ext cx="1216756" cy="121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2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8FF1880A-C0FB-B604-F541-9F6BB7C5481D}"/>
              </a:ext>
            </a:extLst>
          </p:cNvPr>
          <p:cNvSpPr txBox="1"/>
          <p:nvPr/>
        </p:nvSpPr>
        <p:spPr>
          <a:xfrm>
            <a:off x="624418" y="1844824"/>
            <a:ext cx="1524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lt2"/>
                </a:solidFill>
              </a:rPr>
              <a:t>Nyheter</a:t>
            </a:r>
            <a:endParaRPr lang="en-US" sz="2800" b="1">
              <a:solidFill>
                <a:schemeClr val="lt2"/>
              </a:solidFill>
            </a:endParaRPr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A2B02DEA-F91A-70D0-9029-7683565C7BF2}"/>
              </a:ext>
            </a:extLst>
          </p:cNvPr>
          <p:cNvGrpSpPr/>
          <p:nvPr/>
        </p:nvGrpSpPr>
        <p:grpSpPr>
          <a:xfrm>
            <a:off x="2601767" y="2052259"/>
            <a:ext cx="3494233" cy="4419429"/>
            <a:chOff x="2601767" y="2052259"/>
            <a:chExt cx="3494233" cy="4419429"/>
          </a:xfrm>
        </p:grpSpPr>
        <p:grpSp>
          <p:nvGrpSpPr>
            <p:cNvPr id="14" name="Grupp 13">
              <a:extLst>
                <a:ext uri="{FF2B5EF4-FFF2-40B4-BE49-F238E27FC236}">
                  <a16:creationId xmlns:a16="http://schemas.microsoft.com/office/drawing/2014/main" id="{76492341-2F39-9429-B262-346F92CEA797}"/>
                </a:ext>
              </a:extLst>
            </p:cNvPr>
            <p:cNvGrpSpPr/>
            <p:nvPr/>
          </p:nvGrpSpPr>
          <p:grpSpPr>
            <a:xfrm>
              <a:off x="2601767" y="2052259"/>
              <a:ext cx="3494233" cy="4419429"/>
              <a:chOff x="1628258" y="1657436"/>
              <a:chExt cx="3494233" cy="4419429"/>
            </a:xfrm>
          </p:grpSpPr>
          <p:sp>
            <p:nvSpPr>
              <p:cNvPr id="15" name="Rechteck 16">
                <a:extLst>
                  <a:ext uri="{FF2B5EF4-FFF2-40B4-BE49-F238E27FC236}">
                    <a16:creationId xmlns:a16="http://schemas.microsoft.com/office/drawing/2014/main" id="{66EF27DB-DF66-9F1C-1940-42B40AF6B0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31504" y="1657436"/>
                <a:ext cx="3490987" cy="472903"/>
              </a:xfrm>
              <a:prstGeom prst="rect">
                <a:avLst/>
              </a:prstGeom>
              <a:solidFill>
                <a:schemeClr val="lt2"/>
              </a:solidFill>
              <a:ln w="12700">
                <a:solidFill>
                  <a:schemeClr val="accent3"/>
                </a:solidFill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bg2"/>
                  </a:buClr>
                </a:pPr>
                <a:r>
                  <a:rPr lang="en-GB" b="1" err="1">
                    <a:solidFill>
                      <a:schemeClr val="bg1"/>
                    </a:solidFill>
                  </a:rPr>
                  <a:t>Läckagegivare</a:t>
                </a:r>
                <a:endParaRPr lang="en-GB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Rechteck 19">
                <a:extLst>
                  <a:ext uri="{FF2B5EF4-FFF2-40B4-BE49-F238E27FC236}">
                    <a16:creationId xmlns:a16="http://schemas.microsoft.com/office/drawing/2014/main" id="{2A8E4DD9-B773-FA69-60BF-928D922B4E06}"/>
                  </a:ext>
                </a:extLst>
              </p:cNvPr>
              <p:cNvSpPr/>
              <p:nvPr/>
            </p:nvSpPr>
            <p:spPr>
              <a:xfrm>
                <a:off x="1628258" y="2282740"/>
                <a:ext cx="3486150" cy="37941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3"/>
                </a:solidFill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t"/>
              <a:lstStyle/>
              <a:p>
                <a:pPr marL="187200" indent="-187200">
                  <a:spcBef>
                    <a:spcPts val="1200"/>
                  </a:spcBef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GB" sz="1600" err="1">
                    <a:solidFill>
                      <a:srgbClr val="000000"/>
                    </a:solidFill>
                  </a:rPr>
                  <a:t>Detektering</a:t>
                </a:r>
                <a:r>
                  <a:rPr lang="en-GB" sz="1600">
                    <a:solidFill>
                      <a:srgbClr val="000000"/>
                    </a:solidFill>
                  </a:rPr>
                  <a:t> </a:t>
                </a:r>
                <a:r>
                  <a:rPr lang="en-GB" sz="1600" err="1">
                    <a:solidFill>
                      <a:srgbClr val="000000"/>
                    </a:solidFill>
                  </a:rPr>
                  <a:t>av</a:t>
                </a:r>
                <a:r>
                  <a:rPr lang="en-GB" sz="1600">
                    <a:solidFill>
                      <a:srgbClr val="000000"/>
                    </a:solidFill>
                  </a:rPr>
                  <a:t> </a:t>
                </a:r>
                <a:r>
                  <a:rPr lang="en-GB" sz="1600" err="1">
                    <a:solidFill>
                      <a:srgbClr val="000000"/>
                    </a:solidFill>
                  </a:rPr>
                  <a:t>vätskeläckage</a:t>
                </a:r>
                <a:endParaRPr lang="en-GB" sz="1600">
                  <a:solidFill>
                    <a:srgbClr val="000000"/>
                  </a:solidFill>
                </a:endParaRPr>
              </a:p>
              <a:p>
                <a:pPr marL="187200" indent="-187200">
                  <a:spcBef>
                    <a:spcPts val="1200"/>
                  </a:spcBef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GB" sz="1600">
                    <a:solidFill>
                      <a:srgbClr val="000000"/>
                    </a:solidFill>
                  </a:rPr>
                  <a:t>22HL-10</a:t>
                </a:r>
              </a:p>
            </p:txBody>
          </p:sp>
        </p:grpSp>
        <p:pic>
          <p:nvPicPr>
            <p:cNvPr id="13" name="Bildobjekt 12">
              <a:extLst>
                <a:ext uri="{FF2B5EF4-FFF2-40B4-BE49-F238E27FC236}">
                  <a16:creationId xmlns:a16="http://schemas.microsoft.com/office/drawing/2014/main" id="{752C4A62-E8B6-AFB2-5E13-CBB691090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6173" y="4293096"/>
              <a:ext cx="2277337" cy="1728192"/>
            </a:xfrm>
            <a:prstGeom prst="rect">
              <a:avLst/>
            </a:prstGeom>
          </p:spPr>
        </p:pic>
      </p:grpSp>
      <p:grpSp>
        <p:nvGrpSpPr>
          <p:cNvPr id="25" name="Grupp 24">
            <a:extLst>
              <a:ext uri="{FF2B5EF4-FFF2-40B4-BE49-F238E27FC236}">
                <a16:creationId xmlns:a16="http://schemas.microsoft.com/office/drawing/2014/main" id="{1913BA64-B990-C159-475F-0B319C5DBCF6}"/>
              </a:ext>
            </a:extLst>
          </p:cNvPr>
          <p:cNvGrpSpPr/>
          <p:nvPr/>
        </p:nvGrpSpPr>
        <p:grpSpPr>
          <a:xfrm>
            <a:off x="7282287" y="2044057"/>
            <a:ext cx="3494233" cy="4419429"/>
            <a:chOff x="7032104" y="1916832"/>
            <a:chExt cx="3494233" cy="4419429"/>
          </a:xfrm>
        </p:grpSpPr>
        <p:grpSp>
          <p:nvGrpSpPr>
            <p:cNvPr id="21" name="Grupp 20">
              <a:extLst>
                <a:ext uri="{FF2B5EF4-FFF2-40B4-BE49-F238E27FC236}">
                  <a16:creationId xmlns:a16="http://schemas.microsoft.com/office/drawing/2014/main" id="{D70F27FC-33E4-3CCE-A2C0-C9AEBAD35EAE}"/>
                </a:ext>
              </a:extLst>
            </p:cNvPr>
            <p:cNvGrpSpPr/>
            <p:nvPr/>
          </p:nvGrpSpPr>
          <p:grpSpPr>
            <a:xfrm>
              <a:off x="7032104" y="1916832"/>
              <a:ext cx="3494233" cy="4419429"/>
              <a:chOff x="1628258" y="1657436"/>
              <a:chExt cx="3494233" cy="4419429"/>
            </a:xfrm>
          </p:grpSpPr>
          <p:sp>
            <p:nvSpPr>
              <p:cNvPr id="23" name="Rechteck 16">
                <a:extLst>
                  <a:ext uri="{FF2B5EF4-FFF2-40B4-BE49-F238E27FC236}">
                    <a16:creationId xmlns:a16="http://schemas.microsoft.com/office/drawing/2014/main" id="{CAE7F416-41B1-1C94-F27C-5D91EFE1A1C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31504" y="1657436"/>
                <a:ext cx="3490987" cy="472903"/>
              </a:xfrm>
              <a:prstGeom prst="rect">
                <a:avLst/>
              </a:prstGeom>
              <a:solidFill>
                <a:schemeClr val="lt2"/>
              </a:solidFill>
              <a:ln w="12700">
                <a:solidFill>
                  <a:schemeClr val="accent3"/>
                </a:solidFill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bg2"/>
                  </a:buClr>
                </a:pPr>
                <a:r>
                  <a:rPr lang="en-GB" b="1" err="1">
                    <a:solidFill>
                      <a:schemeClr val="bg1"/>
                    </a:solidFill>
                  </a:rPr>
                  <a:t>Differenstryckgivare</a:t>
                </a:r>
                <a:endParaRPr lang="en-GB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Rechteck 19">
                <a:extLst>
                  <a:ext uri="{FF2B5EF4-FFF2-40B4-BE49-F238E27FC236}">
                    <a16:creationId xmlns:a16="http://schemas.microsoft.com/office/drawing/2014/main" id="{568177B8-9EEC-0953-E620-11BDE7F8B1E8}"/>
                  </a:ext>
                </a:extLst>
              </p:cNvPr>
              <p:cNvSpPr/>
              <p:nvPr/>
            </p:nvSpPr>
            <p:spPr>
              <a:xfrm>
                <a:off x="1628258" y="2282740"/>
                <a:ext cx="3486150" cy="37941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3"/>
                </a:solidFill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t"/>
              <a:lstStyle/>
              <a:p>
                <a:pPr marL="187200" indent="-187200">
                  <a:spcBef>
                    <a:spcPts val="1200"/>
                  </a:spcBef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GB" sz="1600" err="1">
                    <a:solidFill>
                      <a:srgbClr val="000000"/>
                    </a:solidFill>
                  </a:rPr>
                  <a:t>Aktiv</a:t>
                </a:r>
                <a:r>
                  <a:rPr lang="en-GB" sz="1600">
                    <a:solidFill>
                      <a:srgbClr val="000000"/>
                    </a:solidFill>
                  </a:rPr>
                  <a:t> </a:t>
                </a:r>
                <a:r>
                  <a:rPr lang="en-GB" sz="1600" err="1">
                    <a:solidFill>
                      <a:srgbClr val="000000"/>
                    </a:solidFill>
                  </a:rPr>
                  <a:t>differenstryckgivare</a:t>
                </a:r>
                <a:r>
                  <a:rPr lang="en-GB" sz="1600">
                    <a:solidFill>
                      <a:srgbClr val="000000"/>
                    </a:solidFill>
                  </a:rPr>
                  <a:t> </a:t>
                </a:r>
                <a:r>
                  <a:rPr lang="en-GB" sz="1600" err="1">
                    <a:solidFill>
                      <a:srgbClr val="000000"/>
                    </a:solidFill>
                  </a:rPr>
                  <a:t>vatten</a:t>
                </a:r>
                <a:endParaRPr lang="en-GB" sz="1600">
                  <a:solidFill>
                    <a:srgbClr val="000000"/>
                  </a:solidFill>
                </a:endParaRPr>
              </a:p>
              <a:p>
                <a:pPr marL="187200" indent="-187200">
                  <a:spcBef>
                    <a:spcPts val="1200"/>
                  </a:spcBef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GB" sz="1600">
                    <a:solidFill>
                      <a:srgbClr val="000000"/>
                    </a:solidFill>
                  </a:rPr>
                  <a:t>22PDP-18x</a:t>
                </a:r>
              </a:p>
            </p:txBody>
          </p:sp>
        </p:grpSp>
        <p:pic>
          <p:nvPicPr>
            <p:cNvPr id="19" name="Bildobjekt 18">
              <a:extLst>
                <a:ext uri="{FF2B5EF4-FFF2-40B4-BE49-F238E27FC236}">
                  <a16:creationId xmlns:a16="http://schemas.microsoft.com/office/drawing/2014/main" id="{7EF2079D-A687-E0F1-9DF7-4886D6635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8168" y="3645024"/>
              <a:ext cx="2232248" cy="2283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0697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err="1"/>
              <a:t>Frågor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116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8FF1880A-C0FB-B604-F541-9F6BB7C5481D}"/>
              </a:ext>
            </a:extLst>
          </p:cNvPr>
          <p:cNvSpPr txBox="1"/>
          <p:nvPr/>
        </p:nvSpPr>
        <p:spPr>
          <a:xfrm>
            <a:off x="624418" y="1844824"/>
            <a:ext cx="6037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lt2"/>
                </a:solidFill>
              </a:rPr>
              <a:t>Hands-on workshop </a:t>
            </a:r>
            <a:r>
              <a:rPr lang="en-US" sz="2800" b="1" err="1">
                <a:solidFill>
                  <a:schemeClr val="lt2"/>
                </a:solidFill>
              </a:rPr>
              <a:t>fram</a:t>
            </a:r>
            <a:r>
              <a:rPr lang="en-US" sz="2800" b="1">
                <a:solidFill>
                  <a:schemeClr val="lt2"/>
                </a:solidFill>
              </a:rPr>
              <a:t> till 16.30</a:t>
            </a:r>
          </a:p>
        </p:txBody>
      </p:sp>
    </p:spTree>
    <p:extLst>
      <p:ext uri="{BB962C8B-B14F-4D97-AF65-F5344CB8AC3E}">
        <p14:creationId xmlns:p14="http://schemas.microsoft.com/office/powerpoint/2010/main" val="3098471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783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2"/>
  <p:tag name="TEMPLATEID" val="Belimo169Logo"/>
  <p:tag name="LANGUAGEID" val="1033"/>
  <p:tag name="COLORTHEMEID" val="1"/>
  <p:tag name="BRANDID" val="Belimo"/>
  <p:tag name="CLIENT" val="BEL"/>
  <p:tag name="VERSION" val="1001"/>
  <p:tag name="REFERENCEDATE" val="45006"/>
  <p:tag name="DATE" val="March 21, 20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733323D-900E-40A4-A7BA-84677219AF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44ECA0-83B2-4286-815B-5D3C63666CBE}"/>
</file>

<file path=customXml/itemProps3.xml><?xml version="1.0" encoding="utf-8"?>
<ds:datastoreItem xmlns:ds="http://schemas.openxmlformats.org/officeDocument/2006/customXml" ds:itemID="{0296A7C5-678F-4CC5-84F0-CD36D3D188D8}">
  <ds:schemaRefs>
    <ds:schemaRef ds:uri="d549b9d6-181e-4214-b341-950143c64e1a"/>
    <ds:schemaRef ds:uri="f2cf1b0a-023d-431e-a166-c16457bccf9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Application>Microsoft Office PowerPoint</Application>
  <PresentationFormat>Widescreen</PresentationFormat>
  <Slides>12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Office-tema</vt:lpstr>
      <vt:lpstr>Givare – nivå S1 och S2</vt:lpstr>
      <vt:lpstr>Givare S1 och S2</vt:lpstr>
      <vt:lpstr>Belimos givare</vt:lpstr>
      <vt:lpstr>Givare S1 och S2</vt:lpstr>
      <vt:lpstr>Givare S1 och S2</vt:lpstr>
      <vt:lpstr>Givare S1 och S2</vt:lpstr>
      <vt:lpstr>Givare S1 och S2</vt:lpstr>
      <vt:lpstr>Video: fördelarna med Belimos givare</vt:lpstr>
      <vt:lpstr>Givare S1 och S2</vt:lpstr>
      <vt:lpstr>PowerPoint Presentation</vt:lpstr>
      <vt:lpstr>Givare S1 och S2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Givare S1 och S2</dc:title>
  <dc:creator>Abdo Zaki</dc:creator>
  <cp:revision>1</cp:revision>
  <dcterms:created xsi:type="dcterms:W3CDTF">2023-03-21T08:16:12Z</dcterms:created>
  <dcterms:modified xsi:type="dcterms:W3CDTF">2024-12-02T10:12:39Z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