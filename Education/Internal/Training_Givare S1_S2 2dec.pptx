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7" r:id="rId5"/>
    <p:sldId id="258" r:id="rId6"/>
    <p:sldId id="379" r:id="rId7"/>
    <p:sldId id="261" r:id="rId8"/>
    <p:sldId id="262" r:id="rId9"/>
    <p:sldId id="263" r:id="rId10"/>
    <p:sldId id="380" r:id="rId11"/>
    <p:sldId id="259" r:id="rId12"/>
    <p:sldId id="508" r:id="rId13"/>
    <p:sldId id="260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CC3A32-54B4-44E3-6BA0-DDAFD26318B5}" v="2" dt="2025-02-17T10:29:11.227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éen Christina" userId="63c968b0-dd36-48ad-b5a7-a34be83676e8" providerId="ADAL" clId="{AF2DBFA1-BF7B-4165-85DF-8C42799BDAE5}"/>
    <pc:docChg chg="custSel delSld modSld">
      <pc:chgData name="Modéen Christina" userId="63c968b0-dd36-48ad-b5a7-a34be83676e8" providerId="ADAL" clId="{AF2DBFA1-BF7B-4165-85DF-8C42799BDAE5}" dt="2025-02-17T12:07:40.665" v="781" actId="20577"/>
      <pc:docMkLst>
        <pc:docMk/>
      </pc:docMkLst>
      <pc:sldChg chg="modSp mod">
        <pc:chgData name="Modéen Christina" userId="63c968b0-dd36-48ad-b5a7-a34be83676e8" providerId="ADAL" clId="{AF2DBFA1-BF7B-4165-85DF-8C42799BDAE5}" dt="2025-02-17T10:29:43.706" v="0" actId="20577"/>
        <pc:sldMkLst>
          <pc:docMk/>
          <pc:sldMk cId="2207704243" sldId="257"/>
        </pc:sldMkLst>
        <pc:spChg chg="mod">
          <ac:chgData name="Modéen Christina" userId="63c968b0-dd36-48ad-b5a7-a34be83676e8" providerId="ADAL" clId="{AF2DBFA1-BF7B-4165-85DF-8C42799BDAE5}" dt="2025-02-17T10:29:43.706" v="0" actId="20577"/>
          <ac:spMkLst>
            <pc:docMk/>
            <pc:sldMk cId="2207704243" sldId="257"/>
            <ac:spMk id="4" creationId="{F1314506-4292-4685-C473-8B0F7FC193E4}"/>
          </ac:spMkLst>
        </pc:spChg>
      </pc:sldChg>
      <pc:sldChg chg="modNotesTx">
        <pc:chgData name="Modéen Christina" userId="63c968b0-dd36-48ad-b5a7-a34be83676e8" providerId="ADAL" clId="{AF2DBFA1-BF7B-4165-85DF-8C42799BDAE5}" dt="2025-02-17T10:30:37.384" v="161" actId="20577"/>
        <pc:sldMkLst>
          <pc:docMk/>
          <pc:sldMk cId="1565260264" sldId="258"/>
        </pc:sldMkLst>
      </pc:sldChg>
      <pc:sldChg chg="modNotesTx">
        <pc:chgData name="Modéen Christina" userId="63c968b0-dd36-48ad-b5a7-a34be83676e8" providerId="ADAL" clId="{AF2DBFA1-BF7B-4165-85DF-8C42799BDAE5}" dt="2025-02-17T10:32:53.193" v="313" actId="20577"/>
        <pc:sldMkLst>
          <pc:docMk/>
          <pc:sldMk cId="1122972715" sldId="261"/>
        </pc:sldMkLst>
      </pc:sldChg>
      <pc:sldChg chg="modNotesTx">
        <pc:chgData name="Modéen Christina" userId="63c968b0-dd36-48ad-b5a7-a34be83676e8" providerId="ADAL" clId="{AF2DBFA1-BF7B-4165-85DF-8C42799BDAE5}" dt="2025-02-17T10:35:01.625" v="375"/>
        <pc:sldMkLst>
          <pc:docMk/>
          <pc:sldMk cId="3097319629" sldId="262"/>
        </pc:sldMkLst>
      </pc:sldChg>
      <pc:sldChg chg="modNotesTx">
        <pc:chgData name="Modéen Christina" userId="63c968b0-dd36-48ad-b5a7-a34be83676e8" providerId="ADAL" clId="{AF2DBFA1-BF7B-4165-85DF-8C42799BDAE5}" dt="2025-02-17T10:36:35.864" v="547" actId="20577"/>
        <pc:sldMkLst>
          <pc:docMk/>
          <pc:sldMk cId="1804181801" sldId="263"/>
        </pc:sldMkLst>
      </pc:sldChg>
      <pc:sldChg chg="modSp mod modNotesTx">
        <pc:chgData name="Modéen Christina" userId="63c968b0-dd36-48ad-b5a7-a34be83676e8" providerId="ADAL" clId="{AF2DBFA1-BF7B-4165-85DF-8C42799BDAE5}" dt="2025-02-17T12:07:40.665" v="781" actId="20577"/>
        <pc:sldMkLst>
          <pc:docMk/>
          <pc:sldMk cId="4048095822" sldId="379"/>
        </pc:sldMkLst>
        <pc:spChg chg="mod">
          <ac:chgData name="Modéen Christina" userId="63c968b0-dd36-48ad-b5a7-a34be83676e8" providerId="ADAL" clId="{AF2DBFA1-BF7B-4165-85DF-8C42799BDAE5}" dt="2025-02-17T10:31:14.224" v="236" actId="20577"/>
          <ac:spMkLst>
            <pc:docMk/>
            <pc:sldMk cId="4048095822" sldId="379"/>
            <ac:spMk id="42" creationId="{DE53C026-305A-4299-8E4E-3EAB89BCF66C}"/>
          </ac:spMkLst>
        </pc:spChg>
      </pc:sldChg>
      <pc:sldChg chg="modNotesTx">
        <pc:chgData name="Modéen Christina" userId="63c968b0-dd36-48ad-b5a7-a34be83676e8" providerId="ADAL" clId="{AF2DBFA1-BF7B-4165-85DF-8C42799BDAE5}" dt="2025-02-17T10:37:59.157" v="729" actId="20577"/>
        <pc:sldMkLst>
          <pc:docMk/>
          <pc:sldMk cId="4134297502" sldId="380"/>
        </pc:sldMkLst>
      </pc:sldChg>
      <pc:sldChg chg="del">
        <pc:chgData name="Modéen Christina" userId="63c968b0-dd36-48ad-b5a7-a34be83676e8" providerId="ADAL" clId="{AF2DBFA1-BF7B-4165-85DF-8C42799BDAE5}" dt="2025-02-17T10:37:31.349" v="678" actId="47"/>
        <pc:sldMkLst>
          <pc:docMk/>
          <pc:sldMk cId="3300697585" sldId="381"/>
        </pc:sldMkLst>
      </pc:sldChg>
      <pc:sldChg chg="del">
        <pc:chgData name="Modéen Christina" userId="63c968b0-dd36-48ad-b5a7-a34be83676e8" providerId="ADAL" clId="{AF2DBFA1-BF7B-4165-85DF-8C42799BDAE5}" dt="2025-02-17T10:37:24.608" v="677" actId="47"/>
        <pc:sldMkLst>
          <pc:docMk/>
          <pc:sldMk cId="2172524299" sldId="507"/>
        </pc:sldMkLst>
      </pc:sldChg>
    </pc:docChg>
  </pc:docChgLst>
  <pc:docChgLst>
    <pc:chgData name="Burstrom Rabert" userId="46739e88-e591-4669-8538-d65e5a549297" providerId="ADAL" clId="{91116881-6A63-4400-8529-CBD7C0903680}"/>
    <pc:docChg chg="modSld">
      <pc:chgData name="Burstrom Rabert" userId="46739e88-e591-4669-8538-d65e5a549297" providerId="ADAL" clId="{91116881-6A63-4400-8529-CBD7C0903680}" dt="2025-02-14T08:25:48.259" v="6"/>
      <pc:docMkLst>
        <pc:docMk/>
      </pc:docMkLst>
      <pc:sldChg chg="modAnim">
        <pc:chgData name="Burstrom Rabert" userId="46739e88-e591-4669-8538-d65e5a549297" providerId="ADAL" clId="{91116881-6A63-4400-8529-CBD7C0903680}" dt="2025-02-14T08:25:48.259" v="6"/>
        <pc:sldMkLst>
          <pc:docMk/>
          <pc:sldMk cId="1122972715" sldId="261"/>
        </pc:sldMkLst>
      </pc:sldChg>
    </pc:docChg>
  </pc:docChgLst>
  <pc:docChgLst>
    <pc:chgData name="Modéen Christina" userId="S::christina.modeen@belimo.se::63c968b0-dd36-48ad-b5a7-a34be83676e8" providerId="AD" clId="Web-{CBCC3A32-54B4-44E3-6BA0-DDAFD26318B5}"/>
    <pc:docChg chg="modSld">
      <pc:chgData name="Modéen Christina" userId="S::christina.modeen@belimo.se::63c968b0-dd36-48ad-b5a7-a34be83676e8" providerId="AD" clId="Web-{CBCC3A32-54B4-44E3-6BA0-DDAFD26318B5}" dt="2025-02-17T10:29:11.227" v="1"/>
      <pc:docMkLst>
        <pc:docMk/>
      </pc:docMkLst>
      <pc:sldChg chg="delSp modSp">
        <pc:chgData name="Modéen Christina" userId="S::christina.modeen@belimo.se::63c968b0-dd36-48ad-b5a7-a34be83676e8" providerId="AD" clId="Web-{CBCC3A32-54B4-44E3-6BA0-DDAFD26318B5}" dt="2025-02-17T10:29:11.227" v="1"/>
        <pc:sldMkLst>
          <pc:docMk/>
          <pc:sldMk cId="1565260264" sldId="258"/>
        </pc:sldMkLst>
        <pc:spChg chg="del">
          <ac:chgData name="Modéen Christina" userId="S::christina.modeen@belimo.se::63c968b0-dd36-48ad-b5a7-a34be83676e8" providerId="AD" clId="Web-{CBCC3A32-54B4-44E3-6BA0-DDAFD26318B5}" dt="2025-02-17T10:29:11.227" v="1"/>
          <ac:spMkLst>
            <pc:docMk/>
            <pc:sldMk cId="1565260264" sldId="258"/>
            <ac:spMk id="4" creationId="{00000000-0000-0000-0000-000000000000}"/>
          </ac:spMkLst>
        </pc:spChg>
        <pc:spChg chg="mod">
          <ac:chgData name="Modéen Christina" userId="S::christina.modeen@belimo.se::63c968b0-dd36-48ad-b5a7-a34be83676e8" providerId="AD" clId="Web-{CBCC3A32-54B4-44E3-6BA0-DDAFD26318B5}" dt="2025-02-17T10:29:07.274" v="0" actId="20577"/>
          <ac:spMkLst>
            <pc:docMk/>
            <pc:sldMk cId="1565260264" sldId="258"/>
            <ac:spMk id="6" creationId="{7B643CE7-B34B-E186-D156-9A59BA8848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53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I den här genomgången benar vi ut många begrepp vi får höra av kunderna. Målet med den här utbildningen är att vi ska prata om vad är aktiva, passiva nickel 1000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57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Detta är vad Belimo säljer. Luftkvalitet Co2 TEM = Termisk </a:t>
            </a:r>
            <a:r>
              <a:rPr lang="sv-SE" dirty="0" err="1"/>
              <a:t>energimätare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0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Temperatur </a:t>
            </a:r>
            <a:r>
              <a:rPr lang="sv-SE" dirty="0" err="1"/>
              <a:t>omvandlaas</a:t>
            </a:r>
            <a:r>
              <a:rPr lang="sv-SE" dirty="0"/>
              <a:t> till 0-10V, el 4-20mA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5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Passiva är alltid motstånd i ohm. Aktiva är 0-10v 4-20mA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8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Dessa är passiva. </a:t>
            </a:r>
            <a:r>
              <a:rPr lang="sv-SE" dirty="0" err="1"/>
              <a:t>Possitiva</a:t>
            </a:r>
            <a:r>
              <a:rPr lang="sv-SE" dirty="0"/>
              <a:t> är att motståndet ökar med ökad temp.  Negativa ökar med minskad temp.</a:t>
            </a:r>
            <a:br>
              <a:rPr lang="sv-SE" dirty="0"/>
            </a:br>
            <a:r>
              <a:rPr lang="sv-SE" dirty="0" err="1"/>
              <a:t>Possitiv</a:t>
            </a:r>
            <a:r>
              <a:rPr lang="sv-SE" dirty="0"/>
              <a:t> anger motståndet vi 0°C och Negativ vid 25°C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6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När använder man den ena</a:t>
            </a:r>
            <a:br>
              <a:rPr lang="sv-SE" dirty="0"/>
            </a:br>
            <a:r>
              <a:rPr lang="sv-SE" dirty="0"/>
              <a:t>NTC är vanligare vid kyla </a:t>
            </a:r>
            <a:r>
              <a:rPr lang="sv-SE" dirty="0" err="1"/>
              <a:t>pga</a:t>
            </a:r>
            <a:r>
              <a:rPr lang="sv-SE" dirty="0"/>
              <a:t> finare gradering och längre </a:t>
            </a:r>
            <a:r>
              <a:rPr lang="sv-SE" dirty="0" err="1"/>
              <a:t>temperatuspann</a:t>
            </a:r>
            <a:br>
              <a:rPr lang="sv-SE" dirty="0"/>
            </a:br>
            <a:r>
              <a:rPr lang="sv-SE" dirty="0"/>
              <a:t>Gå till hemsidan för att visa hur man navigerar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9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March 21, 2023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DF3263-CF9B-4EA7-AFFA-CBFE6704EC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488D11-6EA9-487D-9A4E-F9C299B0D1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88259-43EA-4E12-98C9-26B5C9E6A4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20843-58B8-4BF9-A704-7AAC2D1BD4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C5CC4-9514-4909-9025-50BC22270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215D2B-CA33-4F17-80AC-418F1866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8A1297-C9C8-4D28-AD12-F049964E4C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ACC796-2BF5-4ACA-A048-009BF772B7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105538-8213-42EE-9ECD-78BCDAE385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5E16F-B48E-4FFD-B2AB-742E010E10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4293E2-89BB-45F0-8F3E-633AC79854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734CFF-1795-4FE8-85CC-5659B4850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91947D-3AD9-4A26-9850-4DC4973993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7B5835-89AF-4FB4-B9D1-13A5D07C0B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0FF1BF-1755-46E9-83D5-62F91E01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6073475-BAE6-41FA-AEF6-04BE1445E0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11" Type="http://schemas.openxmlformats.org/officeDocument/2006/relationships/image" Target="../media/image11.png"/><Relationship Id="rId5" Type="http://schemas.openxmlformats.org/officeDocument/2006/relationships/image" Target="../media/image6.jpe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– </a:t>
            </a:r>
            <a:r>
              <a:rPr lang="en-US" err="1"/>
              <a:t>nivå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1314506-4292-4685-C473-8B0F7FC193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0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EC1F94E-1735-91D7-FDFD-D67AA99E2259}"/>
              </a:ext>
            </a:extLst>
          </p:cNvPr>
          <p:cNvSpPr txBox="1"/>
          <p:nvPr/>
        </p:nvSpPr>
        <p:spPr>
          <a:xfrm>
            <a:off x="1271464" y="1988840"/>
            <a:ext cx="152477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Passiva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84E63563-89B6-7090-7728-677E77CEB75C}"/>
              </a:ext>
            </a:extLst>
          </p:cNvPr>
          <p:cNvSpPr txBox="1"/>
          <p:nvPr/>
        </p:nvSpPr>
        <p:spPr>
          <a:xfrm>
            <a:off x="3287688" y="2924944"/>
            <a:ext cx="222368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Kanalgivare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CFB8AE8-1848-E154-0D59-27E2E4544F29}"/>
              </a:ext>
            </a:extLst>
          </p:cNvPr>
          <p:cNvSpPr txBox="1"/>
          <p:nvPr/>
        </p:nvSpPr>
        <p:spPr>
          <a:xfrm>
            <a:off x="1423864" y="4138407"/>
            <a:ext cx="186301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Rörgivare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579D9985-5031-C80F-A41A-26CEFA7F4203}"/>
              </a:ext>
            </a:extLst>
          </p:cNvPr>
          <p:cNvSpPr txBox="1"/>
          <p:nvPr/>
        </p:nvSpPr>
        <p:spPr>
          <a:xfrm>
            <a:off x="4783886" y="1831388"/>
            <a:ext cx="126509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Aktiva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4F0315DA-0428-7C59-CAA2-0D71469B6A2E}"/>
              </a:ext>
            </a:extLst>
          </p:cNvPr>
          <p:cNvSpPr txBox="1"/>
          <p:nvPr/>
        </p:nvSpPr>
        <p:spPr>
          <a:xfrm>
            <a:off x="3864753" y="5190846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Pt1000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64D087A-23C4-40C6-4304-2DF7E8AA8B48}"/>
              </a:ext>
            </a:extLst>
          </p:cNvPr>
          <p:cNvSpPr txBox="1"/>
          <p:nvPr/>
        </p:nvSpPr>
        <p:spPr>
          <a:xfrm>
            <a:off x="6240016" y="2475379"/>
            <a:ext cx="28023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Utomhusgivare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AA9FE86-FD71-DA67-FD1A-D46844592898}"/>
              </a:ext>
            </a:extLst>
          </p:cNvPr>
          <p:cNvSpPr txBox="1"/>
          <p:nvPr/>
        </p:nvSpPr>
        <p:spPr>
          <a:xfrm>
            <a:off x="6240016" y="5190846"/>
            <a:ext cx="24817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Energimätare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8A6CE1-EE51-D8C0-7992-6C52DCB17836}"/>
              </a:ext>
            </a:extLst>
          </p:cNvPr>
          <p:cNvSpPr txBox="1"/>
          <p:nvPr/>
        </p:nvSpPr>
        <p:spPr>
          <a:xfrm>
            <a:off x="6016225" y="3679041"/>
            <a:ext cx="22429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Rumsgivare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0591BF45-2EAF-5858-6789-63BAED814FD9}"/>
              </a:ext>
            </a:extLst>
          </p:cNvPr>
          <p:cNvSpPr txBox="1"/>
          <p:nvPr/>
        </p:nvSpPr>
        <p:spPr>
          <a:xfrm>
            <a:off x="8472264" y="4302035"/>
            <a:ext cx="24032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Flödesgivare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D55A547E-039E-928A-7FE7-DD8D3B15532C}"/>
              </a:ext>
            </a:extLst>
          </p:cNvPr>
          <p:cNvSpPr txBox="1"/>
          <p:nvPr/>
        </p:nvSpPr>
        <p:spPr>
          <a:xfrm>
            <a:off x="3202602" y="2138447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/>
              <a:t>Ni1000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7BB65857-3327-C6D0-795C-5233414AD59F}"/>
              </a:ext>
            </a:extLst>
          </p:cNvPr>
          <p:cNvSpPr txBox="1"/>
          <p:nvPr/>
        </p:nvSpPr>
        <p:spPr>
          <a:xfrm>
            <a:off x="1023755" y="3262176"/>
            <a:ext cx="92365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NTC</a:t>
            </a:r>
          </a:p>
        </p:txBody>
      </p:sp>
    </p:spTree>
    <p:extLst>
      <p:ext uri="{BB962C8B-B14F-4D97-AF65-F5344CB8AC3E}">
        <p14:creationId xmlns:p14="http://schemas.microsoft.com/office/powerpoint/2010/main" val="15652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0C4E26-C83B-4C26-9825-13FE645C1A97}" type="slidenum">
              <a:rPr lang="en-GB" smtClean="0"/>
              <a:t>3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E92163-CB8F-4A74-8B6E-E3DC3E0A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9" y="677466"/>
            <a:ext cx="6191662" cy="735310"/>
          </a:xfrm>
        </p:spPr>
        <p:txBody>
          <a:bodyPr/>
          <a:lstStyle/>
          <a:p>
            <a:r>
              <a:rPr lang="en-GB" err="1"/>
              <a:t>Belimos</a:t>
            </a:r>
            <a:r>
              <a:rPr lang="en-GB"/>
              <a:t> </a:t>
            </a:r>
            <a:r>
              <a:rPr lang="en-GB" err="1"/>
              <a:t>givare</a:t>
            </a:r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FF4A9E-422B-454F-87DC-943BD32766B2}"/>
              </a:ext>
            </a:extLst>
          </p:cNvPr>
          <p:cNvGrpSpPr/>
          <p:nvPr/>
        </p:nvGrpSpPr>
        <p:grpSpPr>
          <a:xfrm>
            <a:off x="1127448" y="1890712"/>
            <a:ext cx="2054063" cy="2096889"/>
            <a:chOff x="1127448" y="1890712"/>
            <a:chExt cx="2054063" cy="2096889"/>
          </a:xfrm>
        </p:grpSpPr>
        <p:sp>
          <p:nvSpPr>
            <p:cNvPr id="2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1F21A7-EF56-444E-9AF2-F1EE0A6FF62E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1890712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D939C5A-12D2-4FDD-B5D5-30B4DCBF7BEA}"/>
                </a:ext>
              </a:extLst>
            </p:cNvPr>
            <p:cNvSpPr/>
            <p:nvPr/>
          </p:nvSpPr>
          <p:spPr>
            <a:xfrm>
              <a:off x="1216027" y="1978764"/>
              <a:ext cx="1876902" cy="146237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1" name="Picture 30">
              <a:hlinkClick r:id="rId3" action="ppaction://hlinksldjump"/>
              <a:extLst>
                <a:ext uri="{FF2B5EF4-FFF2-40B4-BE49-F238E27FC236}">
                  <a16:creationId xmlns:a16="http://schemas.microsoft.com/office/drawing/2014/main" id="{42F2A516-C85A-4C59-9805-09AD0888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327" y="2008778"/>
              <a:ext cx="1019601" cy="136242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6A092D5-862B-4951-9965-B7680F3257FF}"/>
                </a:ext>
              </a:extLst>
            </p:cNvPr>
            <p:cNvSpPr txBox="1"/>
            <p:nvPr/>
          </p:nvSpPr>
          <p:spPr>
            <a:xfrm>
              <a:off x="1127448" y="3537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Temperatur</a:t>
              </a:r>
              <a:endParaRPr lang="en-GB" sz="1600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AFF2AA-C0FE-4065-A6DB-07B8773CE54D}"/>
              </a:ext>
            </a:extLst>
          </p:cNvPr>
          <p:cNvGrpSpPr/>
          <p:nvPr/>
        </p:nvGrpSpPr>
        <p:grpSpPr>
          <a:xfrm>
            <a:off x="3765828" y="1890712"/>
            <a:ext cx="2046551" cy="2096889"/>
            <a:chOff x="3213682" y="1890713"/>
            <a:chExt cx="2046551" cy="2096889"/>
          </a:xfrm>
        </p:grpSpPr>
        <p:sp>
          <p:nvSpPr>
            <p:cNvPr id="3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DC69C108-B682-4651-92E2-FED20AF3A068}"/>
                </a:ext>
              </a:extLst>
            </p:cNvPr>
            <p:cNvSpPr txBox="1">
              <a:spLocks/>
            </p:cNvSpPr>
            <p:nvPr/>
          </p:nvSpPr>
          <p:spPr>
            <a:xfrm>
              <a:off x="3213682" y="1890713"/>
              <a:ext cx="2046551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441BF0B-47CA-437D-A4AF-0B8C8F169C8E}"/>
                </a:ext>
              </a:extLst>
            </p:cNvPr>
            <p:cNvSpPr/>
            <p:nvPr/>
          </p:nvSpPr>
          <p:spPr>
            <a:xfrm>
              <a:off x="3298506" y="1981939"/>
              <a:ext cx="1876901" cy="1462379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6" name="Picture 35">
              <a:hlinkClick r:id="" action="ppaction://noaction"/>
              <a:extLst>
                <a:ext uri="{FF2B5EF4-FFF2-40B4-BE49-F238E27FC236}">
                  <a16:creationId xmlns:a16="http://schemas.microsoft.com/office/drawing/2014/main" id="{7AE841B0-8C54-4ACE-B74F-075CBF764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1602" y="2031979"/>
              <a:ext cx="819886" cy="139702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3DFBEB-2755-471F-8C56-385D7529A2DE}"/>
                </a:ext>
              </a:extLst>
            </p:cNvPr>
            <p:cNvSpPr txBox="1"/>
            <p:nvPr/>
          </p:nvSpPr>
          <p:spPr>
            <a:xfrm>
              <a:off x="3213682" y="3542312"/>
              <a:ext cx="20465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Luftfuktighet</a:t>
              </a:r>
              <a:endParaRPr lang="en-GB" sz="160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28C6B8-9B5C-4CE9-9CEF-3BAF81296E48}"/>
              </a:ext>
            </a:extLst>
          </p:cNvPr>
          <p:cNvGrpSpPr/>
          <p:nvPr/>
        </p:nvGrpSpPr>
        <p:grpSpPr>
          <a:xfrm>
            <a:off x="6396696" y="1890712"/>
            <a:ext cx="2066288" cy="2096889"/>
            <a:chOff x="5730844" y="1890713"/>
            <a:chExt cx="2066288" cy="2096889"/>
          </a:xfrm>
        </p:grpSpPr>
        <p:sp>
          <p:nvSpPr>
            <p:cNvPr id="3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F5F3FE15-6264-428C-8F7A-F8269B51369A}"/>
                </a:ext>
              </a:extLst>
            </p:cNvPr>
            <p:cNvSpPr txBox="1">
              <a:spLocks/>
            </p:cNvSpPr>
            <p:nvPr/>
          </p:nvSpPr>
          <p:spPr>
            <a:xfrm>
              <a:off x="5743069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36353125-FA32-4D55-A89E-47E3B22BADF7}"/>
                </a:ext>
              </a:extLst>
            </p:cNvPr>
            <p:cNvSpPr/>
            <p:nvPr/>
          </p:nvSpPr>
          <p:spPr>
            <a:xfrm>
              <a:off x="5831648" y="1981939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1" name="Picture 40">
              <a:hlinkClick r:id="" action="ppaction://noaction"/>
              <a:extLst>
                <a:ext uri="{FF2B5EF4-FFF2-40B4-BE49-F238E27FC236}">
                  <a16:creationId xmlns:a16="http://schemas.microsoft.com/office/drawing/2014/main" id="{92015969-E9FF-4C22-8661-DF3B48837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20" b="3084"/>
            <a:stretch/>
          </p:blipFill>
          <p:spPr>
            <a:xfrm>
              <a:off x="6207442" y="2063207"/>
              <a:ext cx="1102659" cy="136579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53C026-305A-4299-8E4E-3EAB89BCF66C}"/>
                </a:ext>
              </a:extLst>
            </p:cNvPr>
            <p:cNvSpPr txBox="1"/>
            <p:nvPr/>
          </p:nvSpPr>
          <p:spPr>
            <a:xfrm>
              <a:off x="5730844" y="3535796"/>
              <a:ext cx="2066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Luftkvalitet</a:t>
              </a:r>
              <a:endParaRPr lang="en-GB" sz="16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4F5E00E-3689-48F7-AC1C-57BEAD299DA1}"/>
              </a:ext>
            </a:extLst>
          </p:cNvPr>
          <p:cNvGrpSpPr/>
          <p:nvPr/>
        </p:nvGrpSpPr>
        <p:grpSpPr>
          <a:xfrm>
            <a:off x="9047301" y="1890712"/>
            <a:ext cx="2054063" cy="2096889"/>
            <a:chOff x="8467893" y="1890713"/>
            <a:chExt cx="2054063" cy="2096889"/>
          </a:xfrm>
        </p:grpSpPr>
        <p:sp>
          <p:nvSpPr>
            <p:cNvPr id="4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9CDA52-47CD-4E71-B077-0CCE74921D67}"/>
                </a:ext>
              </a:extLst>
            </p:cNvPr>
            <p:cNvSpPr txBox="1">
              <a:spLocks/>
            </p:cNvSpPr>
            <p:nvPr/>
          </p:nvSpPr>
          <p:spPr>
            <a:xfrm>
              <a:off x="8467893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810FFAD-BC67-4F0E-863F-86BDA8495DC5}"/>
                </a:ext>
              </a:extLst>
            </p:cNvPr>
            <p:cNvSpPr/>
            <p:nvPr/>
          </p:nvSpPr>
          <p:spPr>
            <a:xfrm>
              <a:off x="8556472" y="1985553"/>
              <a:ext cx="1876902" cy="1457761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6" name="Picture 45">
              <a:hlinkClick r:id="" action="ppaction://noaction"/>
              <a:extLst>
                <a:ext uri="{FF2B5EF4-FFF2-40B4-BE49-F238E27FC236}">
                  <a16:creationId xmlns:a16="http://schemas.microsoft.com/office/drawing/2014/main" id="{20241F4F-B9DC-414C-B04E-04892037F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1048" y="2213841"/>
              <a:ext cx="1187749" cy="947717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5BD2C0-A8A5-4737-8AF6-DA1481D6A9A8}"/>
                </a:ext>
              </a:extLst>
            </p:cNvPr>
            <p:cNvSpPr txBox="1"/>
            <p:nvPr/>
          </p:nvSpPr>
          <p:spPr>
            <a:xfrm>
              <a:off x="8467893" y="3544811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Tryck</a:t>
              </a:r>
              <a:endParaRPr lang="en-GB" sz="16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552933-68F9-41EC-80DD-367A92E45CAB}"/>
              </a:ext>
            </a:extLst>
          </p:cNvPr>
          <p:cNvGrpSpPr/>
          <p:nvPr/>
        </p:nvGrpSpPr>
        <p:grpSpPr>
          <a:xfrm>
            <a:off x="8256240" y="4211836"/>
            <a:ext cx="2054065" cy="2096889"/>
            <a:chOff x="7764848" y="4211836"/>
            <a:chExt cx="2054065" cy="2096889"/>
          </a:xfrm>
        </p:grpSpPr>
        <p:sp>
          <p:nvSpPr>
            <p:cNvPr id="83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B625C41-2C28-47B0-900A-B931B34D27B0}"/>
                </a:ext>
              </a:extLst>
            </p:cNvPr>
            <p:cNvSpPr txBox="1">
              <a:spLocks/>
            </p:cNvSpPr>
            <p:nvPr/>
          </p:nvSpPr>
          <p:spPr>
            <a:xfrm>
              <a:off x="7764850" y="4211836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84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F379637-BE71-4755-BC8B-12D164D98B43}"/>
                </a:ext>
              </a:extLst>
            </p:cNvPr>
            <p:cNvSpPr/>
            <p:nvPr/>
          </p:nvSpPr>
          <p:spPr>
            <a:xfrm>
              <a:off x="7853429" y="4303062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F80357D-DFB1-4A69-8E4F-4330D16A9F19}"/>
                </a:ext>
              </a:extLst>
            </p:cNvPr>
            <p:cNvSpPr txBox="1"/>
            <p:nvPr/>
          </p:nvSpPr>
          <p:spPr>
            <a:xfrm>
              <a:off x="7764848" y="5863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/>
                <a:t>TEM</a:t>
              </a:r>
            </a:p>
          </p:txBody>
        </p:sp>
        <p:pic>
          <p:nvPicPr>
            <p:cNvPr id="86" name="Grafik 1">
              <a:hlinkClick r:id="" action="ppaction://noaction"/>
              <a:extLst>
                <a:ext uri="{FF2B5EF4-FFF2-40B4-BE49-F238E27FC236}">
                  <a16:creationId xmlns:a16="http://schemas.microsoft.com/office/drawing/2014/main" id="{54AAA1E8-500E-41E8-AAA9-6BE7C376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17000"/>
                      </a14:imgEffect>
                      <a14:imgEffect>
                        <a14:brightnessContrast bright="11000" contrast="1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80751" y="4418568"/>
              <a:ext cx="1288677" cy="1297315"/>
            </a:xfrm>
            <a:prstGeom prst="rect">
              <a:avLst/>
            </a:prstGeom>
          </p:spPr>
        </p:pic>
      </p:grp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BB79C52-941A-DC29-DB1E-8167A08232A6}"/>
              </a:ext>
            </a:extLst>
          </p:cNvPr>
          <p:cNvGrpSpPr/>
          <p:nvPr/>
        </p:nvGrpSpPr>
        <p:grpSpPr>
          <a:xfrm>
            <a:off x="1881695" y="4211835"/>
            <a:ext cx="2054063" cy="2096889"/>
            <a:chOff x="1881695" y="4211835"/>
            <a:chExt cx="2054063" cy="209688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B4782A-DD58-4E68-B633-DE6ED977D0EF}"/>
                </a:ext>
              </a:extLst>
            </p:cNvPr>
            <p:cNvGrpSpPr/>
            <p:nvPr/>
          </p:nvGrpSpPr>
          <p:grpSpPr>
            <a:xfrm>
              <a:off x="1881695" y="4211835"/>
              <a:ext cx="2054063" cy="2096889"/>
              <a:chOff x="8400256" y="1890713"/>
              <a:chExt cx="2054063" cy="2096889"/>
            </a:xfrm>
          </p:grpSpPr>
          <p:sp>
            <p:nvSpPr>
              <p:cNvPr id="50" name="Text Placeholder 53">
                <a:hlinkClick r:id="" action="ppaction://noaction"/>
                <a:extLst>
                  <a:ext uri="{FF2B5EF4-FFF2-40B4-BE49-F238E27FC236}">
                    <a16:creationId xmlns:a16="http://schemas.microsoft.com/office/drawing/2014/main" id="{9C7E760B-665B-4ABD-B530-47546EE29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0256" y="1890713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5ACD6D4B-A871-478D-92E8-D0DB730311C4}"/>
                  </a:ext>
                </a:extLst>
              </p:cNvPr>
              <p:cNvSpPr/>
              <p:nvPr/>
            </p:nvSpPr>
            <p:spPr>
              <a:xfrm>
                <a:off x="8488835" y="1981939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DAB7667-8585-4A0A-BE63-631023338ECC}"/>
                  </a:ext>
                </a:extLst>
              </p:cNvPr>
              <p:cNvSpPr txBox="1"/>
              <p:nvPr/>
            </p:nvSpPr>
            <p:spPr>
              <a:xfrm>
                <a:off x="8400256" y="3534687"/>
                <a:ext cx="20540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 err="1"/>
                  <a:t>Flödesmätning</a:t>
                </a:r>
                <a:endParaRPr lang="en-GB" sz="1600" b="1" dirty="0"/>
              </a:p>
            </p:txBody>
          </p:sp>
        </p:grpSp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8A5A0EDE-4A2A-10A3-6953-1479BBF0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57932" y="4448604"/>
              <a:ext cx="1320633" cy="1257745"/>
            </a:xfrm>
            <a:prstGeom prst="rect">
              <a:avLst/>
            </a:prstGeom>
          </p:spPr>
        </p:pic>
      </p:grpSp>
      <p:grpSp>
        <p:nvGrpSpPr>
          <p:cNvPr id="12" name="Grupp 11">
            <a:extLst>
              <a:ext uri="{FF2B5EF4-FFF2-40B4-BE49-F238E27FC236}">
                <a16:creationId xmlns:a16="http://schemas.microsoft.com/office/drawing/2014/main" id="{08584490-07C5-A9CD-69DF-4742944F3F26}"/>
              </a:ext>
            </a:extLst>
          </p:cNvPr>
          <p:cNvGrpSpPr/>
          <p:nvPr/>
        </p:nvGrpSpPr>
        <p:grpSpPr>
          <a:xfrm>
            <a:off x="5068967" y="4211836"/>
            <a:ext cx="2054065" cy="2096889"/>
            <a:chOff x="5068967" y="4211836"/>
            <a:chExt cx="2054065" cy="20968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792FF8-140E-4B7E-8EED-B3D977620789}"/>
                </a:ext>
              </a:extLst>
            </p:cNvPr>
            <p:cNvGrpSpPr/>
            <p:nvPr/>
          </p:nvGrpSpPr>
          <p:grpSpPr>
            <a:xfrm>
              <a:off x="5068967" y="4211836"/>
              <a:ext cx="2054065" cy="2096889"/>
              <a:chOff x="5133980" y="4211836"/>
              <a:chExt cx="2054065" cy="2096889"/>
            </a:xfrm>
          </p:grpSpPr>
          <p:sp>
            <p:nvSpPr>
              <p:cNvPr id="78" name="Text Placeholder 5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99C121A-33AF-43F5-A18F-EEB9B1C46F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3982" y="4211836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8C8875E0-FEE1-47CD-99B3-00DBA5C0B5BF}"/>
                  </a:ext>
                </a:extLst>
              </p:cNvPr>
              <p:cNvSpPr/>
              <p:nvPr/>
            </p:nvSpPr>
            <p:spPr>
              <a:xfrm>
                <a:off x="5222561" y="4303062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5E96707-B15E-4358-8111-0A58F7E3E985}"/>
                  </a:ext>
                </a:extLst>
              </p:cNvPr>
              <p:cNvSpPr txBox="1"/>
              <p:nvPr/>
            </p:nvSpPr>
            <p:spPr>
              <a:xfrm>
                <a:off x="5133980" y="5863435"/>
                <a:ext cx="20540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 err="1"/>
                  <a:t>Rumsgivare</a:t>
                </a:r>
                <a:endParaRPr lang="en-GB" sz="1600" b="1" dirty="0"/>
              </a:p>
            </p:txBody>
          </p:sp>
        </p:grpSp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3BFF10F8-41D1-20B3-8723-FFE454E7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56767" y="4445707"/>
              <a:ext cx="1150283" cy="113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09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 numCol="2"/>
              <a:lstStyle/>
              <a:p>
                <a:pPr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US" dirty="0"/>
                  <a:t>Vad </a:t>
                </a:r>
                <a:r>
                  <a:rPr lang="en-US" dirty="0" err="1"/>
                  <a:t>är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givare</a:t>
                </a:r>
                <a:r>
                  <a:rPr lang="en-US" dirty="0"/>
                  <a:t>?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En </a:t>
                </a:r>
                <a:r>
                  <a:rPr lang="en-US" dirty="0" err="1"/>
                  <a:t>anordning</a:t>
                </a:r>
                <a:r>
                  <a:rPr lang="en-US" dirty="0"/>
                  <a:t> </a:t>
                </a:r>
                <a:r>
                  <a:rPr lang="en-US" dirty="0" err="1"/>
                  <a:t>som</a:t>
                </a:r>
                <a:r>
                  <a:rPr lang="en-US" dirty="0"/>
                  <a:t> </a:t>
                </a:r>
                <a:r>
                  <a:rPr lang="en-US" dirty="0" err="1"/>
                  <a:t>omvandlar</a:t>
                </a:r>
                <a:r>
                  <a:rPr lang="en-US" dirty="0"/>
                  <a:t> </a:t>
                </a:r>
                <a:r>
                  <a:rPr lang="en-US" dirty="0" err="1"/>
                  <a:t>fysikalisk</a:t>
                </a:r>
                <a:r>
                  <a:rPr lang="en-US" dirty="0"/>
                  <a:t> </a:t>
                </a:r>
                <a:r>
                  <a:rPr lang="en-US" dirty="0" err="1"/>
                  <a:t>storhet</a:t>
                </a:r>
                <a:r>
                  <a:rPr lang="en-US" dirty="0"/>
                  <a:t> till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elektrisk</a:t>
                </a:r>
                <a:r>
                  <a:rPr lang="en-US" dirty="0"/>
                  <a:t> signal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Mekaniska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Temperatur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Fuktighet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%)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Flöde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l/s)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Tryck</a:t>
                </a:r>
                <a:r>
                  <a:rPr lang="en-US" dirty="0"/>
                  <a:t> / </a:t>
                </a:r>
                <a:r>
                  <a:rPr lang="en-US" dirty="0" err="1"/>
                  <a:t>differenstryck</a:t>
                </a:r>
                <a:r>
                  <a:rPr lang="en-US" dirty="0"/>
                  <a:t> (pa)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CO</a:t>
                </a:r>
                <a:r>
                  <a:rPr lang="en-US" baseline="-25000" dirty="0"/>
                  <a:t>2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VOC, </a:t>
                </a:r>
                <a:r>
                  <a:rPr lang="en-US" dirty="0" err="1"/>
                  <a:t>organiska</a:t>
                </a:r>
                <a:r>
                  <a:rPr lang="en-US" dirty="0"/>
                  <a:t> </a:t>
                </a:r>
                <a:r>
                  <a:rPr lang="en-US" dirty="0" err="1"/>
                  <a:t>föreningar</a:t>
                </a:r>
                <a:endParaRPr lang="en-US" dirty="0"/>
              </a:p>
              <a:p>
                <a:pPr marL="468000" lvl="2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Elektriska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Spänning</a:t>
                </a:r>
                <a:r>
                  <a:rPr lang="en-US" dirty="0"/>
                  <a:t> (ex. 0 – 10V)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Ström (ex. 4-20mA)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Resistans</a:t>
                </a:r>
                <a:r>
                  <a:rPr lang="en-US" dirty="0"/>
                  <a:t> (ohm)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3"/>
                <a:stretch>
                  <a:fillRect l="-1058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</p:spTree>
    <p:extLst>
      <p:ext uri="{BB962C8B-B14F-4D97-AF65-F5344CB8AC3E}">
        <p14:creationId xmlns:p14="http://schemas.microsoft.com/office/powerpoint/2010/main" val="11229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5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grpSp>
        <p:nvGrpSpPr>
          <p:cNvPr id="22" name="Grupp 21">
            <a:extLst>
              <a:ext uri="{FF2B5EF4-FFF2-40B4-BE49-F238E27FC236}">
                <a16:creationId xmlns:a16="http://schemas.microsoft.com/office/drawing/2014/main" id="{696C9A09-3810-AA36-9046-19E7CE967F4A}"/>
              </a:ext>
            </a:extLst>
          </p:cNvPr>
          <p:cNvGrpSpPr/>
          <p:nvPr/>
        </p:nvGrpSpPr>
        <p:grpSpPr>
          <a:xfrm>
            <a:off x="1628258" y="1657436"/>
            <a:ext cx="3494233" cy="4419429"/>
            <a:chOff x="1628258" y="1657436"/>
            <a:chExt cx="3494233" cy="4419429"/>
          </a:xfrm>
        </p:grpSpPr>
        <p:sp>
          <p:nvSpPr>
            <p:cNvPr id="3" name="Rechteck 16">
              <a:extLst>
                <a:ext uri="{FF2B5EF4-FFF2-40B4-BE49-F238E27FC236}">
                  <a16:creationId xmlns:a16="http://schemas.microsoft.com/office/drawing/2014/main" id="{1932020A-042D-8F40-A85D-BE231A3FA6AA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Passiva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7" name="Rechteck 19">
              <a:extLst>
                <a:ext uri="{FF2B5EF4-FFF2-40B4-BE49-F238E27FC236}">
                  <a16:creationId xmlns:a16="http://schemas.microsoft.com/office/drawing/2014/main" id="{F924FB0E-800B-BB08-3615-0013E3DF4F4D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Genererar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egen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utan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behov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ohm: Pt-, Ni-, NTC100, 500, 1000 etc.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01CT-1..</a:t>
              </a:r>
            </a:p>
          </p:txBody>
        </p:sp>
      </p:grpSp>
      <p:grpSp>
        <p:nvGrpSpPr>
          <p:cNvPr id="23" name="Grupp 22">
            <a:extLst>
              <a:ext uri="{FF2B5EF4-FFF2-40B4-BE49-F238E27FC236}">
                <a16:creationId xmlns:a16="http://schemas.microsoft.com/office/drawing/2014/main" id="{CD901012-3A37-66B5-C9F7-08CD4CE3FE84}"/>
              </a:ext>
            </a:extLst>
          </p:cNvPr>
          <p:cNvGrpSpPr/>
          <p:nvPr/>
        </p:nvGrpSpPr>
        <p:grpSpPr>
          <a:xfrm>
            <a:off x="6740826" y="1657436"/>
            <a:ext cx="3494233" cy="4419429"/>
            <a:chOff x="6740826" y="1657436"/>
            <a:chExt cx="3494233" cy="4419429"/>
          </a:xfrm>
        </p:grpSpPr>
        <p:sp>
          <p:nvSpPr>
            <p:cNvPr id="8" name="Rechteck 16">
              <a:extLst>
                <a:ext uri="{FF2B5EF4-FFF2-40B4-BE49-F238E27FC236}">
                  <a16:creationId xmlns:a16="http://schemas.microsoft.com/office/drawing/2014/main" id="{C4299EA9-4529-9A30-7BBB-D5B51E3550ED}"/>
                </a:ext>
              </a:extLst>
            </p:cNvPr>
            <p:cNvSpPr>
              <a:spLocks/>
            </p:cNvSpPr>
            <p:nvPr/>
          </p:nvSpPr>
          <p:spPr>
            <a:xfrm>
              <a:off x="6744072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Aktiva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9" name="Rechteck 19">
              <a:extLst>
                <a:ext uri="{FF2B5EF4-FFF2-40B4-BE49-F238E27FC236}">
                  <a16:creationId xmlns:a16="http://schemas.microsoft.com/office/drawing/2014/main" id="{73CE7D3A-1224-44A2-C20E-7977DF5754CC}"/>
                </a:ext>
              </a:extLst>
            </p:cNvPr>
            <p:cNvSpPr/>
            <p:nvPr/>
          </p:nvSpPr>
          <p:spPr>
            <a:xfrm>
              <a:off x="6740826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En </a:t>
              </a:r>
              <a:r>
                <a:rPr lang="en-GB" sz="1600" err="1">
                  <a:solidFill>
                    <a:srgbClr val="000000"/>
                  </a:solidFill>
                </a:rPr>
                <a:t>aktiv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givare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kräver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 för </a:t>
              </a:r>
              <a:r>
                <a:rPr lang="en-GB" sz="1600" err="1">
                  <a:solidFill>
                    <a:srgbClr val="000000"/>
                  </a:solidFill>
                </a:rPr>
                <a:t>att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generera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.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spänning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ström</a:t>
              </a:r>
              <a:r>
                <a:rPr lang="en-GB" sz="1600">
                  <a:solidFill>
                    <a:srgbClr val="000000"/>
                  </a:solidFill>
                </a:rPr>
                <a:t>: 0 – 10V, 4 – 20 mA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22DT-12…</a:t>
              </a:r>
            </a:p>
          </p:txBody>
        </p:sp>
      </p:grp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3423B00B-F4DE-CFF4-2472-0AD45B9B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24" y="4518163"/>
            <a:ext cx="963770" cy="136480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ED0E0CEA-BE98-3D80-173D-39467B3FD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119" y="4293096"/>
            <a:ext cx="1062127" cy="1518342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990541FB-312D-7B7F-C301-DFB7389F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05" y="4456426"/>
            <a:ext cx="1129730" cy="1140645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B9BE6AA3-8F2A-5334-8DF1-749F59A60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84" y="4428824"/>
            <a:ext cx="1185217" cy="12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DD42DC6D-4C81-C35D-C7EE-390CBBE91EEF}"/>
              </a:ext>
            </a:extLst>
          </p:cNvPr>
          <p:cNvGrpSpPr/>
          <p:nvPr/>
        </p:nvGrpSpPr>
        <p:grpSpPr>
          <a:xfrm>
            <a:off x="1631504" y="1556792"/>
            <a:ext cx="3494233" cy="4419429"/>
            <a:chOff x="1628258" y="1657436"/>
            <a:chExt cx="3494233" cy="4419429"/>
          </a:xfrm>
        </p:grpSpPr>
        <p:sp>
          <p:nvSpPr>
            <p:cNvPr id="10" name="Rechteck 16">
              <a:extLst>
                <a:ext uri="{FF2B5EF4-FFF2-40B4-BE49-F238E27FC236}">
                  <a16:creationId xmlns:a16="http://schemas.microsoft.com/office/drawing/2014/main" id="{DF235775-A850-C63A-122E-50F801554E14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PTC</a:t>
              </a:r>
            </a:p>
          </p:txBody>
        </p:sp>
        <p:sp>
          <p:nvSpPr>
            <p:cNvPr id="11" name="Rechteck 19">
              <a:extLst>
                <a:ext uri="{FF2B5EF4-FFF2-40B4-BE49-F238E27FC236}">
                  <a16:creationId xmlns:a16="http://schemas.microsoft.com/office/drawing/2014/main" id="{16B2C369-AC3F-D3C8-62D6-FF27EF8077E0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PTC = positive temperature coefficient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Pt100, Pt1000, Ni1000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Material: Platina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Nickel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hög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, </a:t>
              </a:r>
              <a:r>
                <a:rPr lang="en-GB" sz="1600" err="1">
                  <a:solidFill>
                    <a:srgbClr val="000000"/>
                  </a:solidFill>
                </a:rPr>
                <a:t>tål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höga</a:t>
              </a:r>
              <a:r>
                <a:rPr lang="en-GB" sz="1600">
                  <a:solidFill>
                    <a:srgbClr val="000000"/>
                  </a:solidFill>
                </a:rPr>
                <a:t> temperature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lång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livstid</a:t>
              </a:r>
              <a:endParaRPr lang="en-GB" sz="1600">
                <a:solidFill>
                  <a:srgbClr val="000000"/>
                </a:solidFill>
              </a:endParaRP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Max temp. 500°C</a:t>
              </a:r>
            </a:p>
            <a:p>
              <a:pPr>
                <a:spcBef>
                  <a:spcPts val="1200"/>
                </a:spcBef>
                <a:buClr>
                  <a:srgbClr val="FF6600"/>
                </a:buClr>
                <a:buSzPct val="80000"/>
              </a:pPr>
              <a:endParaRPr lang="en-GB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upp 15">
            <a:extLst>
              <a:ext uri="{FF2B5EF4-FFF2-40B4-BE49-F238E27FC236}">
                <a16:creationId xmlns:a16="http://schemas.microsoft.com/office/drawing/2014/main" id="{1487498C-2146-733D-CEB9-EEEA7D95B4C0}"/>
              </a:ext>
            </a:extLst>
          </p:cNvPr>
          <p:cNvGrpSpPr/>
          <p:nvPr/>
        </p:nvGrpSpPr>
        <p:grpSpPr>
          <a:xfrm>
            <a:off x="6600056" y="1556792"/>
            <a:ext cx="3494233" cy="4419429"/>
            <a:chOff x="1780658" y="1809836"/>
            <a:chExt cx="3494233" cy="4419429"/>
          </a:xfrm>
        </p:grpSpPr>
        <p:sp>
          <p:nvSpPr>
            <p:cNvPr id="12" name="Rechteck 16">
              <a:extLst>
                <a:ext uri="{FF2B5EF4-FFF2-40B4-BE49-F238E27FC236}">
                  <a16:creationId xmlns:a16="http://schemas.microsoft.com/office/drawing/2014/main" id="{1C59EA61-FD93-644C-AA8D-B9FCBB9F9638}"/>
                </a:ext>
              </a:extLst>
            </p:cNvPr>
            <p:cNvSpPr>
              <a:spLocks/>
            </p:cNvSpPr>
            <p:nvPr/>
          </p:nvSpPr>
          <p:spPr>
            <a:xfrm>
              <a:off x="1783904" y="18098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NTC</a:t>
              </a:r>
            </a:p>
          </p:txBody>
        </p:sp>
        <p:sp>
          <p:nvSpPr>
            <p:cNvPr id="13" name="Rechteck 19">
              <a:extLst>
                <a:ext uri="{FF2B5EF4-FFF2-40B4-BE49-F238E27FC236}">
                  <a16:creationId xmlns:a16="http://schemas.microsoft.com/office/drawing/2014/main" id="{3FA5DE36-D7F9-E6EF-5350-6519E5A9FB02}"/>
                </a:ext>
              </a:extLst>
            </p:cNvPr>
            <p:cNvSpPr/>
            <p:nvPr/>
          </p:nvSpPr>
          <p:spPr>
            <a:xfrm>
              <a:off x="1780658" y="24351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NTC = negative temperature coefficient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NTC1.8k, NTC10kCarel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lägre</a:t>
              </a:r>
              <a:r>
                <a:rPr lang="en-GB" sz="1600">
                  <a:solidFill>
                    <a:srgbClr val="000000"/>
                  </a:solidFill>
                </a:rPr>
                <a:t> pris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acceptabel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upp</a:t>
              </a:r>
              <a:r>
                <a:rPr lang="en-GB" sz="1600">
                  <a:solidFill>
                    <a:srgbClr val="000000"/>
                  </a:solidFill>
                </a:rPr>
                <a:t> till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viss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temperatur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>
                  <a:solidFill>
                    <a:srgbClr val="000000"/>
                  </a:solidFill>
                </a:rPr>
                <a:t>Max temp. 150</a:t>
              </a:r>
              <a:r>
                <a:rPr lang="en-GB" sz="1600">
                  <a:solidFill>
                    <a:srgbClr val="000000"/>
                  </a:solidFill>
                </a:rPr>
                <a:t>°C</a:t>
              </a:r>
              <a:endParaRPr lang="en-GB" sz="1600" i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418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2"/>
          </p:nvPr>
        </p:nvSpPr>
        <p:spPr>
          <a:xfrm>
            <a:off x="263352" y="1916832"/>
            <a:ext cx="4607485" cy="792088"/>
          </a:xfrm>
          <a:solidFill>
            <a:schemeClr val="lt2"/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err="1"/>
              <a:t>Utgående</a:t>
            </a:r>
            <a:r>
              <a:rPr lang="en-US"/>
              <a:t> </a:t>
            </a:r>
            <a:r>
              <a:rPr lang="en-US" err="1"/>
              <a:t>styrsignaler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ohm (</a:t>
            </a:r>
            <a:r>
              <a:rPr lang="el-GR"/>
              <a:t>Ω</a:t>
            </a:r>
            <a:r>
              <a:rPr lang="sv-SE"/>
              <a:t>)</a:t>
            </a:r>
            <a:endParaRPr lang="en-US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564BAB8-C48A-05A3-B48C-AEFF232C6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79" y="474438"/>
            <a:ext cx="5472608" cy="623659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err="1"/>
              <a:t>Frågor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11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FF1880A-C0FB-B604-F541-9F6BB7C5481D}"/>
              </a:ext>
            </a:extLst>
          </p:cNvPr>
          <p:cNvSpPr txBox="1"/>
          <p:nvPr/>
        </p:nvSpPr>
        <p:spPr>
          <a:xfrm>
            <a:off x="624418" y="1844824"/>
            <a:ext cx="6037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lt2"/>
                </a:solidFill>
              </a:rPr>
              <a:t>Hands-on workshop </a:t>
            </a:r>
            <a:r>
              <a:rPr lang="en-US" sz="2800" b="1" err="1">
                <a:solidFill>
                  <a:schemeClr val="lt2"/>
                </a:solidFill>
              </a:rPr>
              <a:t>fram</a:t>
            </a:r>
            <a:r>
              <a:rPr lang="en-US" sz="2800" b="1">
                <a:solidFill>
                  <a:schemeClr val="lt2"/>
                </a:solidFill>
              </a:rPr>
              <a:t> till 16.30</a:t>
            </a:r>
          </a:p>
        </p:txBody>
      </p:sp>
    </p:spTree>
    <p:extLst>
      <p:ext uri="{BB962C8B-B14F-4D97-AF65-F5344CB8AC3E}">
        <p14:creationId xmlns:p14="http://schemas.microsoft.com/office/powerpoint/2010/main" val="309847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783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006"/>
  <p:tag name="DATE" val="March 21, 20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AC5343-1C88-4AFB-868B-1B69911B092A}"/>
</file>

<file path=customXml/itemProps2.xml><?xml version="1.0" encoding="utf-8"?>
<ds:datastoreItem xmlns:ds="http://schemas.openxmlformats.org/officeDocument/2006/customXml" ds:itemID="{0296A7C5-678F-4CC5-84F0-CD36D3D188D8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d549b9d6-181e-4214-b341-950143c64e1a"/>
    <ds:schemaRef ds:uri="http://schemas.microsoft.com/office/2006/documentManagement/types"/>
    <ds:schemaRef ds:uri="http://schemas.openxmlformats.org/package/2006/metadata/core-properties"/>
    <ds:schemaRef ds:uri="f2cf1b0a-023d-431e-a166-c16457bccf9d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733323D-900E-40A4-A7BA-84677219AF7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5268511-52de-428f-bc29-d3325c69c449}" enabled="0" method="" siteId="{35268511-52de-428f-bc29-d3325c69c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101</TotalTime>
  <Words>427</Words>
  <Application>Microsoft Office PowerPoint</Application>
  <PresentationFormat>Bredbild</PresentationFormat>
  <Paragraphs>97</Paragraphs>
  <Slides>10</Slides>
  <Notes>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Office-tema</vt:lpstr>
      <vt:lpstr>Givare – nivå S1 och S2</vt:lpstr>
      <vt:lpstr>Givare S1 och S2</vt:lpstr>
      <vt:lpstr>Belimos givare</vt:lpstr>
      <vt:lpstr>Givare S1 och S2</vt:lpstr>
      <vt:lpstr>Givare S1 och S2</vt:lpstr>
      <vt:lpstr>Givare S1 och S2</vt:lpstr>
      <vt:lpstr>Givare S1 och S2</vt:lpstr>
      <vt:lpstr>PowerPoint-presentation</vt:lpstr>
      <vt:lpstr>Givare S1 och S2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Givare S1 och S2</dc:title>
  <dc:creator>Abdo Zaki</dc:creator>
  <cp:lastModifiedBy>Modéen Christina</cp:lastModifiedBy>
  <cp:revision>5</cp:revision>
  <dcterms:created xsi:type="dcterms:W3CDTF">2023-03-21T08:16:12Z</dcterms:created>
  <dcterms:modified xsi:type="dcterms:W3CDTF">2025-02-17T12:07:47Z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