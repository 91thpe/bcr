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6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7" r:id="rId5"/>
    <p:sldId id="2319" r:id="rId6"/>
    <p:sldId id="278" r:id="rId7"/>
    <p:sldId id="266" r:id="rId8"/>
    <p:sldId id="261" r:id="rId9"/>
    <p:sldId id="267" r:id="rId10"/>
    <p:sldId id="2147350944" r:id="rId11"/>
    <p:sldId id="262" r:id="rId12"/>
    <p:sldId id="280" r:id="rId13"/>
    <p:sldId id="2147377156" r:id="rId14"/>
    <p:sldId id="2147378264" r:id="rId15"/>
    <p:sldId id="272" r:id="rId16"/>
    <p:sldId id="279" r:id="rId17"/>
    <p:sldId id="273" r:id="rId18"/>
    <p:sldId id="264" r:id="rId19"/>
    <p:sldId id="274" r:id="rId20"/>
    <p:sldId id="275" r:id="rId21"/>
    <p:sldId id="276" r:id="rId22"/>
    <p:sldId id="277" r:id="rId23"/>
    <p:sldId id="259" r:id="rId24"/>
    <p:sldId id="260" r:id="rId25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E65D00"/>
    <a:srgbClr val="DD673A"/>
    <a:srgbClr val="CC5300"/>
    <a:srgbClr val="DA5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9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…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göra</a:t>
            </a:r>
            <a:r>
              <a:rPr lang="en-US"/>
              <a:t> det med </a:t>
            </a:r>
            <a:r>
              <a:rPr lang="en-US" err="1"/>
              <a:t>så</a:t>
            </a:r>
            <a:r>
              <a:rPr lang="en-US"/>
              <a:t> </a:t>
            </a:r>
            <a:r>
              <a:rPr lang="en-US" err="1"/>
              <a:t>litet</a:t>
            </a:r>
            <a:r>
              <a:rPr lang="en-US"/>
              <a:t> </a:t>
            </a:r>
            <a:r>
              <a:rPr lang="en-US" err="1"/>
              <a:t>avbrott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möjligt</a:t>
            </a:r>
            <a:r>
              <a:rPr lang="en-US"/>
              <a:t> av </a:t>
            </a:r>
            <a:r>
              <a:rPr lang="en-US" err="1"/>
              <a:t>verksamheten</a:t>
            </a:r>
            <a:endParaRPr lang="en-US"/>
          </a:p>
          <a:p>
            <a:r>
              <a:rPr lang="en-US"/>
              <a:t>(LED)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79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64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0" i="0">
                <a:effectLst/>
                <a:latin typeface="+mj-lt"/>
              </a:rPr>
              <a:t>A retrofit specialist evaluates your building and uses our tool to provide a savings estimate, investment range, and break-even analysis within 1-2 days.</a:t>
            </a:r>
            <a:endParaRPr lang="fr-CH" sz="1200" b="0" i="0">
              <a:effectLst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i="0">
              <a:effectLst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0" i="0">
                <a:effectLst/>
                <a:latin typeface="+mj-lt"/>
              </a:rPr>
              <a:t>As an optional step, we can enhance your system with smart devices for energy flow visualization or comparison.</a:t>
            </a:r>
            <a:endParaRPr lang="en-CH" sz="120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i="0">
              <a:effectLst/>
              <a:latin typeface="+mj-lt"/>
            </a:endParaRPr>
          </a:p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en-CH" sz="1200" i="0">
                <a:effectLst/>
                <a:latin typeface="+mj-lt"/>
              </a:rPr>
              <a:t>Upgrade with smart devices on pipes and ducts with minimal disruption your running HVAC system</a:t>
            </a:r>
          </a:p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en-CH" sz="1200">
                <a:latin typeface="+mj-lt"/>
              </a:rPr>
              <a:t>u</a:t>
            </a:r>
            <a:r>
              <a:rPr lang="en-CH" sz="1200" i="0">
                <a:effectLst/>
                <a:latin typeface="+mj-lt"/>
              </a:rPr>
              <a:t>sually requiring 5 days for a 6000 square meter building. This involves installing around 20 devices at a cost of </a:t>
            </a:r>
            <a:r>
              <a:rPr lang="fr-CH" sz="1200" i="0">
                <a:effectLst/>
                <a:latin typeface="+mj-lt"/>
              </a:rPr>
              <a:t>EUR</a:t>
            </a:r>
            <a:r>
              <a:rPr lang="en-CH" sz="1200" i="0">
                <a:effectLst/>
                <a:latin typeface="+mj-lt"/>
              </a:rPr>
              <a:t> 20,000, without needing to evacuate the building or remove furniture.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Basically, our devices have the necessary engineering know-how built into the product.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90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"/>
              <a:t>Dieses Tool ermöglicht es uns, /</a:t>
            </a:r>
          </a:p>
          <a:p>
            <a:endParaRPr lang="de"/>
          </a:p>
          <a:p>
            <a:r>
              <a:rPr lang="en-US"/>
              <a:t>https://stage.k8s-belimo-retrofit-portal.xiag.ch/</a:t>
            </a:r>
          </a:p>
          <a:p>
            <a:r>
              <a:rPr lang="en-US" b="0" i="0">
                <a:solidFill>
                  <a:srgbClr val="242424"/>
                </a:solidFill>
                <a:effectLst/>
                <a:highlight>
                  <a:srgbClr val="EFE5CB"/>
                </a:highlight>
                <a:latin typeface="Segoe UI" panose="020B0502040204020203" pitchFamily="34" charset="0"/>
              </a:rPr>
              <a:t>marie.curie@belimo.ch</a:t>
            </a:r>
            <a:br>
              <a:rPr lang="en-US" b="0">
                <a:solidFill>
                  <a:srgbClr val="242424"/>
                </a:solidFill>
                <a:effectLst/>
                <a:latin typeface="var(--fontFamilyCustomFont800, var(--fontFamilyBase))"/>
              </a:rPr>
            </a:br>
            <a:r>
              <a:rPr lang="en-US" b="0" err="1">
                <a:solidFill>
                  <a:srgbClr val="242424"/>
                </a:solidFill>
                <a:effectLst/>
                <a:latin typeface="var(--fontFamilyCustomFont800, var(--fontFamilyBase))"/>
              </a:rPr>
              <a:t>bIDYdgm</a:t>
            </a:r>
            <a:r>
              <a:rPr lang="en-US" b="0">
                <a:solidFill>
                  <a:srgbClr val="242424"/>
                </a:solidFill>
                <a:effectLst/>
                <a:latin typeface="var(--fontFamilyCustomFont800, var(--fontFamilyBase))"/>
              </a:rPr>
              <a:t>$</a:t>
            </a:r>
            <a:endParaRPr lang="de"/>
          </a:p>
          <a:p>
            <a:endParaRPr lang="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8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" noProof="0"/>
              <a:t>Das Tool umfasst 5 Registerkarten, die unabhängig voneinander bearbeitet und editiert werden können, obwohl sie einem standardmäßigen Bewertungsprozess folgen.</a:t>
            </a:r>
          </a:p>
          <a:p>
            <a:endParaRPr lang="en-US" noProof="0"/>
          </a:p>
          <a:p>
            <a:pPr algn="l" fontAlgn="base"/>
            <a:r>
              <a:rPr lang="de" sz="1200" b="1" i="0" cap="all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WILLKOMMEN BEIM RETROFIT+ PORTAL </a:t>
            </a:r>
            <a:r>
              <a:rPr lang="de" sz="1200" b="0" i="0" cap="all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!</a:t>
            </a:r>
            <a:endParaRPr lang="fr-FR" sz="1200" b="0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Bewerten Sie das HLK-System Ihres Gebäudes in nur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1–2 Stunden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und decken Sie das Potenzial zur Einsparung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von CO2 und Energiekosten </a:t>
            </a:r>
            <a:r>
              <a:rPr lang="de" sz="1200" b="1" i="0" baseline="-250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auf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 Generieren Sie umsetzbare Erkenntnisse und einen professionellen Bericht als Grundlage für Nachrüstentscheidungen </a:t>
            </a:r>
            <a:r>
              <a:rPr lang="de" sz="1200">
                <a:solidFill>
                  <a:srgbClr val="000000"/>
                </a:solidFill>
                <a:latin typeface="inherit"/>
              </a:rPr>
              <a:t>.</a:t>
            </a:r>
            <a:endParaRPr lang="en-US" sz="1200" b="0" i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en-US" noProof="0"/>
          </a:p>
          <a:p>
            <a:pPr algn="l" fontAlgn="base"/>
            <a:r>
              <a:rPr lang="de" sz="1200" b="1" i="0" cap="all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GRUNDLEGENDE GEBÄUDEINFORMATIONEN</a:t>
            </a:r>
            <a:endParaRPr lang="fr-FR" sz="1200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Erfassen Sie schnell die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wesentlichen Details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des bewerteten Gebäudes, um einen Überblick über die aktuelle Situation zu erhalten. Dieser Schritt gewährleistet genaue und wertvolle Erkenntnisse für Ihre Bewertung</a:t>
            </a:r>
          </a:p>
          <a:p>
            <a:endParaRPr lang="en-US" noProof="0"/>
          </a:p>
          <a:p>
            <a:pPr algn="l" fontAlgn="base"/>
            <a:r>
              <a:rPr lang="de" sz="1200" b="1" i="0" cap="all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HVAC-BEWERTUNG AUF BASIS VON ISO 52120</a:t>
            </a:r>
            <a:endParaRPr lang="en-US" sz="1200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Bewerten Sie schnell und einfach das Potenzial Ihres Gebäudes. Unser Tool bewertet Ihr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HLK-System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und berechnet das Einsparpotenzial auf Grundlage der internationalen Norm ISO 52120. Erhalten Sie Einblicke in BACS-Verbesserungen und erfahren Sie, wie Sie die Energieeffizienz optimieren und Kosten senken können.</a:t>
            </a:r>
          </a:p>
          <a:p>
            <a:endParaRPr lang="en-US" noProof="0"/>
          </a:p>
          <a:p>
            <a:pPr algn="l" fontAlgn="base"/>
            <a:r>
              <a:rPr lang="de" sz="1200" b="1" i="0" cap="all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VEREINFACHTE SCHEMAS</a:t>
            </a:r>
            <a:endParaRPr lang="fr-FR" sz="1200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Beschreiben Sie die aktuelle HLK-Anlage und entwerfen Sie ein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Blockdiagramm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 Erstellen Sie schnell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mehrere Zukunftsszenarien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um potenzielle Verbesserungen und Optimierungen zu visualisieren </a:t>
            </a:r>
            <a:r>
              <a:rPr lang="de" sz="1200">
                <a:solidFill>
                  <a:srgbClr val="000000"/>
                </a:solidFill>
                <a:latin typeface="inherit"/>
              </a:rPr>
              <a:t>.</a:t>
            </a:r>
            <a:endParaRPr lang="en-US" b="0" i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en-US" noProof="0"/>
          </a:p>
          <a:p>
            <a:pPr algn="l" fontAlgn="base"/>
            <a:r>
              <a:rPr lang="de" sz="1200" b="1" i="0" cap="all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BERICHT UND MASSNAHMEN</a:t>
            </a:r>
            <a:endParaRPr lang="fr-FR" sz="1200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Entdecken Sie, wie viel </a:t>
            </a:r>
            <a:r>
              <a:rPr lang="de" sz="1200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CO2 und Energiekosten Sie in Ihrem Gebäude einsparen können. </a:t>
            </a:r>
            <a:r>
              <a:rPr lang="de" sz="1200" b="1" i="0" baseline="-250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Ermitteln </a:t>
            </a:r>
            <a:r>
              <a:rPr lang="de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Sie anhand von Break-Even-Berechnungen und anderen wichtigen Finanzkennzahlen, wie rentabel Ihr Projekt ist. Erstellen Sie ganz einfach einen personalisierten Bericht, der Sie bei Ihren Sanierungsentscheidungen unterstützt.</a:t>
            </a:r>
            <a:endParaRPr lang="en-US" sz="1200" b="0" i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fr-FR" noProof="0"/>
          </a:p>
          <a:p>
            <a:r>
              <a:rPr lang="de" noProof="0"/>
              <a:t>+++</a:t>
            </a:r>
          </a:p>
          <a:p>
            <a:r>
              <a:rPr lang="de" noProof="0"/>
              <a:t>Die letzten drei Module ermöglichen die Bewertung des BMS-Systems, erstellen ein Diagramm zum Vorschlagen technischer Lösungen und bearbeiten einen oder mehrere Berichte je nach Detaillierungsgrad und gewünschten Themen.</a:t>
            </a:r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76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This is precisely what we did with the plant of an international automotive manufacturer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33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Flöden</a:t>
            </a:r>
            <a:r>
              <a:rPr lang="en-US"/>
              <a:t> </a:t>
            </a:r>
            <a:r>
              <a:rPr lang="en-US" err="1"/>
              <a:t>ner</a:t>
            </a:r>
            <a:r>
              <a:rPr lang="en-US"/>
              <a:t> med 50%. </a:t>
            </a:r>
          </a:p>
          <a:p>
            <a:r>
              <a:rPr lang="sv-SE"/>
              <a:t>nom att styra produktionen enligt </a:t>
            </a:r>
            <a:r>
              <a:rPr lang="sv-SE" err="1"/>
              <a:t>zonefterfrågan,förbrukningen</a:t>
            </a:r>
            <a:r>
              <a:rPr lang="sv-SE"/>
              <a:t> kan minskas med 20 till 30 % i följande applikationer: fläkt </a:t>
            </a:r>
            <a:r>
              <a:rPr lang="sv-SE" err="1"/>
              <a:t>ochpumpoptimerare</a:t>
            </a:r>
            <a:endParaRPr lang="en-US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DE1988-D53E-4D64-84AC-A2DF2B3894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3B3E93-8BC6-44B0-B42A-796F75B1114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D7C14-47DC-47FF-98A2-3102DA3611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871C46-20A3-4FD4-AA55-82721228E9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6BBE08-F812-473F-86FD-F67C354E1C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C4D89-5D9F-45A1-8B35-2C745DE2BD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E3A58F-A8C4-40E9-90D4-17A62CFBE1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436B92-4425-4D31-9583-8D285C3C13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E8322-00E8-49BF-B7C7-E5EB39428D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D7E4D5-9D56-4CAF-BFF4-ABD6E2F34E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2382E-BEED-4694-B2E2-3EDF15754D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DED33-CB92-42FD-8312-F71731CB0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749468-5C4C-47CA-A89D-2FF55D786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C809B6-B6FB-4BDB-A393-30F3864A3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87ADD1-CCCE-45B2-9183-DED29C1AD5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A5D7CFB-7906-4DE8-A061-46C8230F3B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sv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19" Type="http://schemas.openxmlformats.org/officeDocument/2006/relationships/image" Target="../media/image31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34.emf"/><Relationship Id="rId12" Type="http://schemas.openxmlformats.org/officeDocument/2006/relationships/image" Target="../media/image3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3.emf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6.png"/><Relationship Id="rId4" Type="http://schemas.openxmlformats.org/officeDocument/2006/relationships/notesSlide" Target="../notesSlides/notesSlide4.xml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6" Type="http://schemas.openxmlformats.org/officeDocument/2006/relationships/image" Target="../media/image40.png"/><Relationship Id="rId5" Type="http://schemas.openxmlformats.org/officeDocument/2006/relationships/image" Target="../media/image39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31.png"/><Relationship Id="rId3" Type="http://schemas.openxmlformats.org/officeDocument/2006/relationships/image" Target="../media/image16.svg"/><Relationship Id="rId7" Type="http://schemas.openxmlformats.org/officeDocument/2006/relationships/image" Target="../media/image26.svg"/><Relationship Id="rId12" Type="http://schemas.openxmlformats.org/officeDocument/2006/relationships/image" Target="../media/image23.png"/><Relationship Id="rId17" Type="http://schemas.openxmlformats.org/officeDocument/2006/relationships/image" Target="../media/image30.sv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1.png"/><Relationship Id="rId19" Type="http://schemas.openxmlformats.org/officeDocument/2006/relationships/image" Target="../media/image32.svg"/><Relationship Id="rId4" Type="http://schemas.openxmlformats.org/officeDocument/2006/relationships/image" Target="../media/image17.png"/><Relationship Id="rId9" Type="http://schemas.openxmlformats.org/officeDocument/2006/relationships/image" Target="../media/image20.sv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34.emf"/><Relationship Id="rId12" Type="http://schemas.openxmlformats.org/officeDocument/2006/relationships/image" Target="../media/image50.jpe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3.emf"/><Relationship Id="rId11" Type="http://schemas.openxmlformats.org/officeDocument/2006/relationships/image" Target="../media/image49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48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4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15D8-CCD5-F440-DEED-30C4A12C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84C05379-B82D-68A8-12F5-DEEAF33C2DC6}"/>
              </a:ext>
            </a:extLst>
          </p:cNvPr>
          <p:cNvSpPr/>
          <p:nvPr/>
        </p:nvSpPr>
        <p:spPr>
          <a:xfrm>
            <a:off x="624418" y="1340768"/>
            <a:ext cx="2735278" cy="302433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9D98B17-85B0-DADC-21B6-6E0B4CE78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200"/>
              <a:t>Belimo Education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5BBF9B-0620-049D-2766-2DD4720F1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415" y="1412776"/>
            <a:ext cx="10943167" cy="2327200"/>
          </a:xfrm>
        </p:spPr>
        <p:txBody>
          <a:bodyPr/>
          <a:lstStyle/>
          <a:p>
            <a:r>
              <a:rPr lang="en-US" sz="4400">
                <a:solidFill>
                  <a:schemeClr val="bg1"/>
                </a:solidFill>
              </a:rPr>
              <a:t>RetroFit+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1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products </a:t>
            </a:r>
            <a:br/>
            <a:r>
              <a:rPr b="0"/>
              <a:t>Seamless integration of innovative HVAC field-devices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54EA9C-550E-4A18-8C7A-BDD3827D5F4B}" type="slidenum">
              <a:rPr lang="en-US" smtClean="0"/>
              <a:t>2</a:t>
            </a:fld>
            <a:endParaRPr lang="en-US"/>
          </a:p>
        </p:txBody>
      </p:sp>
      <p:pic>
        <p:nvPicPr>
          <p:cNvPr id="26" name="Picture 130">
            <a:extLst>
              <a:ext uri="{FF2B5EF4-FFF2-40B4-BE49-F238E27FC236}">
                <a16:creationId xmlns:a16="http://schemas.microsoft.com/office/drawing/2014/main" id="{58DA3BB7-73C8-421A-BBA8-9E964BEBE4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044"/>
          <a:stretch/>
        </p:blipFill>
        <p:spPr>
          <a:xfrm>
            <a:off x="4895419" y="1518212"/>
            <a:ext cx="370356" cy="688253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4F877D-F17D-4464-8232-3A47FDE94BC7}"/>
              </a:ext>
            </a:extLst>
          </p:cNvPr>
          <p:cNvSpPr txBox="1"/>
          <p:nvPr/>
        </p:nvSpPr>
        <p:spPr>
          <a:xfrm>
            <a:off x="2483203" y="1946335"/>
            <a:ext cx="20304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b="1">
                <a:solidFill>
                  <a:schemeClr val="bg2"/>
                </a:solidFill>
              </a:rPr>
              <a:t>Damper actuators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A9779-AC2B-4D92-89F5-3D63090CDF51}"/>
              </a:ext>
            </a:extLst>
          </p:cNvPr>
          <p:cNvSpPr txBox="1"/>
          <p:nvPr/>
        </p:nvSpPr>
        <p:spPr>
          <a:xfrm>
            <a:off x="2483203" y="2545236"/>
            <a:ext cx="3365046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Non fail-safe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Fail-safe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Actuators for harsh environmental conditions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Fast running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Linear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Fire damper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Smoke control damper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Variable air volume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3D64D6-D7BA-4B3C-8341-3C2071D79947}"/>
              </a:ext>
            </a:extLst>
          </p:cNvPr>
          <p:cNvSpPr txBox="1"/>
          <p:nvPr/>
        </p:nvSpPr>
        <p:spPr>
          <a:xfrm>
            <a:off x="6736271" y="1946335"/>
            <a:ext cx="16030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b="1">
                <a:solidFill>
                  <a:schemeClr val="bg2"/>
                </a:solidFill>
              </a:rPr>
              <a:t>Control valves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80C750-2079-464F-830A-0673EFA95023}"/>
              </a:ext>
            </a:extLst>
          </p:cNvPr>
          <p:cNvSpPr txBox="1"/>
          <p:nvPr/>
        </p:nvSpPr>
        <p:spPr>
          <a:xfrm>
            <a:off x="6744072" y="2522800"/>
            <a:ext cx="2735702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Energy Valves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Pressure-independent control valves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Zone valves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Characterised control valves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Ball valves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Butterfly valves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Globe valves 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Potable water valves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6C0C7-7F5B-4A4E-9529-E242037EA6EA}"/>
              </a:ext>
            </a:extLst>
          </p:cNvPr>
          <p:cNvSpPr txBox="1"/>
          <p:nvPr/>
        </p:nvSpPr>
        <p:spPr>
          <a:xfrm>
            <a:off x="2457077" y="4652401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b="1">
                <a:solidFill>
                  <a:schemeClr val="bg2"/>
                </a:solidFill>
              </a:rPr>
              <a:t>Sensors / Meters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E5973C-8D5B-42D3-A516-981DDBFE071F}"/>
              </a:ext>
            </a:extLst>
          </p:cNvPr>
          <p:cNvSpPr txBox="1"/>
          <p:nvPr/>
        </p:nvSpPr>
        <p:spPr>
          <a:xfrm>
            <a:off x="2457077" y="5251302"/>
            <a:ext cx="252531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Duct sensors (Air)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Pipe sensors (Water)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Outdoor sensors (Air)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Room units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Thermal Energy Meters (TEM)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Belimo Energy Valve™ with TEM</a:t>
            </a:r>
          </a:p>
        </p:txBody>
      </p:sp>
      <p:pic>
        <p:nvPicPr>
          <p:cNvPr id="58" name="Picture 2">
            <a:extLst>
              <a:ext uri="{FF2B5EF4-FFF2-40B4-BE49-F238E27FC236}">
                <a16:creationId xmlns:a16="http://schemas.microsoft.com/office/drawing/2014/main" id="{D254E084-136A-474A-8658-758B5C68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061" l="2633" r="98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828773" y="4167700"/>
            <a:ext cx="519157" cy="786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33">
            <a:extLst>
              <a:ext uri="{FF2B5EF4-FFF2-40B4-BE49-F238E27FC236}">
                <a16:creationId xmlns:a16="http://schemas.microsoft.com/office/drawing/2014/main" id="{1A18C815-FB00-4957-8A02-193BD63EB8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112" y="1439198"/>
            <a:ext cx="515725" cy="793423"/>
          </a:xfrm>
          <a:prstGeom prst="rect">
            <a:avLst/>
          </a:prstGeom>
          <a:ln>
            <a:noFill/>
          </a:ln>
        </p:spPr>
      </p:pic>
      <p:sp>
        <p:nvSpPr>
          <p:cNvPr id="25" name="TextBox 50">
            <a:extLst>
              <a:ext uri="{FF2B5EF4-FFF2-40B4-BE49-F238E27FC236}">
                <a16:creationId xmlns:a16="http://schemas.microsoft.com/office/drawing/2014/main" id="{0D603ACB-CF75-455B-B8C0-639D52EDF20B}"/>
              </a:ext>
            </a:extLst>
          </p:cNvPr>
          <p:cNvSpPr txBox="1"/>
          <p:nvPr/>
        </p:nvSpPr>
        <p:spPr>
          <a:xfrm>
            <a:off x="6736271" y="4618854"/>
            <a:ext cx="10836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b="1">
                <a:solidFill>
                  <a:schemeClr val="accent1"/>
                </a:solidFill>
              </a:rPr>
              <a:t>RetroFIT+</a:t>
            </a:r>
          </a:p>
        </p:txBody>
      </p:sp>
      <p:sp>
        <p:nvSpPr>
          <p:cNvPr id="27" name="TextBox 51">
            <a:extLst>
              <a:ext uri="{FF2B5EF4-FFF2-40B4-BE49-F238E27FC236}">
                <a16:creationId xmlns:a16="http://schemas.microsoft.com/office/drawing/2014/main" id="{5020B667-DA11-41BE-8942-C273255EE5DC}"/>
              </a:ext>
            </a:extLst>
          </p:cNvPr>
          <p:cNvSpPr txBox="1"/>
          <p:nvPr/>
        </p:nvSpPr>
        <p:spPr>
          <a:xfrm>
            <a:off x="6750216" y="5248454"/>
            <a:ext cx="463992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Damper 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Control valve/actuators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Butterfly valve/actuators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Globe valve/actuators</a:t>
            </a:r>
          </a:p>
          <a:p>
            <a:pPr marL="140400" indent="-1404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sz="1200"/>
              <a:t>Variable air volume</a:t>
            </a: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6E0D561D-44D0-46B9-AC36-C79FE49E79C1}"/>
              </a:ext>
            </a:extLst>
          </p:cNvPr>
          <p:cNvSpPr/>
          <p:nvPr/>
        </p:nvSpPr>
        <p:spPr>
          <a:xfrm>
            <a:off x="2491877" y="2290695"/>
            <a:ext cx="2957363" cy="73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err="1"/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6E0D561D-44D0-46B9-AC36-C79FE49E79C1}"/>
              </a:ext>
            </a:extLst>
          </p:cNvPr>
          <p:cNvSpPr/>
          <p:nvPr/>
        </p:nvSpPr>
        <p:spPr>
          <a:xfrm>
            <a:off x="6744072" y="2263348"/>
            <a:ext cx="2957363" cy="73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err="1"/>
          </a:p>
        </p:txBody>
      </p:sp>
      <p:sp>
        <p:nvSpPr>
          <p:cNvPr id="40" name="Rectangle 14">
            <a:extLst>
              <a:ext uri="{FF2B5EF4-FFF2-40B4-BE49-F238E27FC236}">
                <a16:creationId xmlns:a16="http://schemas.microsoft.com/office/drawing/2014/main" id="{6E0D561D-44D0-46B9-AC36-C79FE49E79C1}"/>
              </a:ext>
            </a:extLst>
          </p:cNvPr>
          <p:cNvSpPr/>
          <p:nvPr/>
        </p:nvSpPr>
        <p:spPr>
          <a:xfrm>
            <a:off x="2457077" y="4967926"/>
            <a:ext cx="2957363" cy="73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err="1"/>
          </a:p>
        </p:txBody>
      </p:sp>
      <p:sp>
        <p:nvSpPr>
          <p:cNvPr id="42" name="Rectangle 14">
            <a:extLst>
              <a:ext uri="{FF2B5EF4-FFF2-40B4-BE49-F238E27FC236}">
                <a16:creationId xmlns:a16="http://schemas.microsoft.com/office/drawing/2014/main" id="{6E0D561D-44D0-46B9-AC36-C79FE49E79C1}"/>
              </a:ext>
            </a:extLst>
          </p:cNvPr>
          <p:cNvSpPr/>
          <p:nvPr/>
        </p:nvSpPr>
        <p:spPr>
          <a:xfrm>
            <a:off x="6744072" y="4965070"/>
            <a:ext cx="2957363" cy="733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err="1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0625" y="4289552"/>
            <a:ext cx="690164" cy="69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7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128C-647B-8F7C-D70B-C541D553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5F79B4D-B7BA-EB3F-A964-FE6528472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3</a:t>
            </a:fld>
            <a:endParaRPr lang="en-US"/>
          </a:p>
        </p:txBody>
      </p:sp>
      <p:pic>
        <p:nvPicPr>
          <p:cNvPr id="12" name="Platshållare för innehåll 11">
            <a:extLst>
              <a:ext uri="{FF2B5EF4-FFF2-40B4-BE49-F238E27FC236}">
                <a16:creationId xmlns:a16="http://schemas.microsoft.com/office/drawing/2014/main" id="{54E480B9-345A-4A1B-EE65-9D6A65B65D1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847528" y="2956987"/>
            <a:ext cx="1224136" cy="2348702"/>
          </a:xfrm>
        </p:spPr>
      </p:pic>
      <p:sp>
        <p:nvSpPr>
          <p:cNvPr id="8" name="Rubrik 7">
            <a:extLst>
              <a:ext uri="{FF2B5EF4-FFF2-40B4-BE49-F238E27FC236}">
                <a16:creationId xmlns:a16="http://schemas.microsoft.com/office/drawing/2014/main" id="{62584721-8216-429B-3083-A54B735D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40A6D3C-7EF6-B99E-F9B9-70410BF325E8}"/>
              </a:ext>
            </a:extLst>
          </p:cNvPr>
          <p:cNvSpPr txBox="1"/>
          <p:nvPr/>
        </p:nvSpPr>
        <p:spPr>
          <a:xfrm>
            <a:off x="1559496" y="2060848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Retrofit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60C1863E-D6F1-F8B1-7DFE-287D47690DDD}"/>
              </a:ext>
            </a:extLst>
          </p:cNvPr>
          <p:cNvSpPr txBox="1"/>
          <p:nvPr/>
        </p:nvSpPr>
        <p:spPr>
          <a:xfrm>
            <a:off x="9023666" y="2060847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Retrofit+</a:t>
            </a:r>
          </a:p>
        </p:txBody>
      </p:sp>
      <p:sp>
        <p:nvSpPr>
          <p:cNvPr id="13" name="Pil: höger 12">
            <a:extLst>
              <a:ext uri="{FF2B5EF4-FFF2-40B4-BE49-F238E27FC236}">
                <a16:creationId xmlns:a16="http://schemas.microsoft.com/office/drawing/2014/main" id="{14CC26A8-90B5-F6C8-1611-B8EAC28BD7D1}"/>
              </a:ext>
            </a:extLst>
          </p:cNvPr>
          <p:cNvSpPr/>
          <p:nvPr/>
        </p:nvSpPr>
        <p:spPr>
          <a:xfrm>
            <a:off x="4295800" y="3478220"/>
            <a:ext cx="2304256" cy="86409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A63F4D0C-523D-9F98-04E8-C7D818ABA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890" y="3036542"/>
            <a:ext cx="4277700" cy="22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4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B2C51-0F9E-6BB9-36A2-8C1A993C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39E9-AEB4-E5F3-F13A-A91FFFE8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RetroFit</a:t>
            </a:r>
            <a:r>
              <a:rPr lang="en-US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6F0C0C-1BB9-3572-80A7-2FDC75FB093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err="1"/>
              <a:t>Utbyte</a:t>
            </a:r>
            <a:r>
              <a:rPr lang="en-US"/>
              <a:t> av </a:t>
            </a:r>
            <a:r>
              <a:rPr lang="en-US" err="1"/>
              <a:t>produkter</a:t>
            </a:r>
            <a:r>
              <a:rPr lang="en-US"/>
              <a:t> med </a:t>
            </a:r>
            <a:r>
              <a:rPr lang="en-US" err="1"/>
              <a:t>målet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spara</a:t>
            </a:r>
            <a:r>
              <a:rPr lang="en-US"/>
              <a:t> </a:t>
            </a:r>
            <a:r>
              <a:rPr lang="en-US" err="1"/>
              <a:t>energi</a:t>
            </a:r>
            <a:r>
              <a:rPr lang="en-US"/>
              <a:t>             </a:t>
            </a:r>
            <a:r>
              <a:rPr lang="en-US" err="1"/>
              <a:t>spara</a:t>
            </a:r>
            <a:r>
              <a:rPr lang="en-US"/>
              <a:t> </a:t>
            </a:r>
            <a:r>
              <a:rPr lang="en-US" err="1"/>
              <a:t>energikostnader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B0E309B-4F76-01EC-B7FA-400518943B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4</a:t>
            </a:fld>
            <a:endParaRPr lang="en-US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77180F77-AB80-4363-24AD-F25F9F6E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9F932432-D28E-9EBA-30B6-7D33BC65C7A5}"/>
              </a:ext>
            </a:extLst>
          </p:cNvPr>
          <p:cNvSpPr txBox="1"/>
          <p:nvPr/>
        </p:nvSpPr>
        <p:spPr>
          <a:xfrm>
            <a:off x="6023992" y="3140968"/>
            <a:ext cx="4824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Enligt</a:t>
            </a:r>
            <a:r>
              <a:rPr lang="en-US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ISO 52120-1</a:t>
            </a:r>
          </a:p>
          <a:p>
            <a:r>
              <a:rPr lang="en-US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	- </a:t>
            </a:r>
            <a:r>
              <a:rPr lang="sv-SE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Energiprestanda av byggnader. 	Bidrag från byggnadsautomation, 	styrning och 	byggnadsförvaltning</a:t>
            </a:r>
            <a:endParaRPr lang="en-US">
              <a:solidFill>
                <a:srgbClr val="E65D0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7E9B871-9BC4-AAB4-70CA-60E52F738926}"/>
              </a:ext>
            </a:extLst>
          </p:cNvPr>
          <p:cNvSpPr/>
          <p:nvPr/>
        </p:nvSpPr>
        <p:spPr>
          <a:xfrm>
            <a:off x="1127448" y="4725144"/>
            <a:ext cx="3388630" cy="561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cxnSp>
        <p:nvCxnSpPr>
          <p:cNvPr id="7" name="Rak pilkoppling 6">
            <a:extLst>
              <a:ext uri="{FF2B5EF4-FFF2-40B4-BE49-F238E27FC236}">
                <a16:creationId xmlns:a16="http://schemas.microsoft.com/office/drawing/2014/main" id="{5A391276-13F0-FAB4-4271-D3172CE3532C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4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839E-5070-3C37-97B1-A752689C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8B96-F43D-9340-E1A3-FED2510B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RetroFit</a:t>
            </a:r>
            <a:r>
              <a:rPr lang="en-US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592FC5-84F7-4009-D2D8-A5E9CA9562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18" y="1893887"/>
            <a:ext cx="10943167" cy="4414838"/>
          </a:xfrm>
        </p:spPr>
        <p:txBody>
          <a:bodyPr/>
          <a:lstStyle/>
          <a:p>
            <a:r>
              <a:rPr lang="en-US" err="1"/>
              <a:t>Utbyte</a:t>
            </a:r>
            <a:r>
              <a:rPr lang="en-US"/>
              <a:t> av </a:t>
            </a:r>
            <a:r>
              <a:rPr lang="en-US" err="1"/>
              <a:t>produkter</a:t>
            </a:r>
            <a:r>
              <a:rPr lang="en-US"/>
              <a:t> med </a:t>
            </a:r>
            <a:r>
              <a:rPr lang="en-US" err="1"/>
              <a:t>målet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spara</a:t>
            </a:r>
            <a:r>
              <a:rPr lang="en-US"/>
              <a:t> </a:t>
            </a:r>
            <a:r>
              <a:rPr lang="en-US" err="1"/>
              <a:t>energi</a:t>
            </a:r>
            <a:r>
              <a:rPr lang="en-US"/>
              <a:t>             </a:t>
            </a:r>
            <a:r>
              <a:rPr lang="en-US" err="1"/>
              <a:t>spara</a:t>
            </a:r>
            <a:r>
              <a:rPr lang="en-US"/>
              <a:t> </a:t>
            </a:r>
            <a:r>
              <a:rPr lang="en-US" err="1"/>
              <a:t>energikostnader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6A7A8CF-F564-736F-9179-3973AD5CF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5</a:t>
            </a:fld>
            <a:endParaRPr lang="en-US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E047C944-4442-071B-A0D4-5240B535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6" name="Pil: höger 35">
            <a:extLst>
              <a:ext uri="{FF2B5EF4-FFF2-40B4-BE49-F238E27FC236}">
                <a16:creationId xmlns:a16="http://schemas.microsoft.com/office/drawing/2014/main" id="{5EC84CF9-9E46-4A0A-256F-7B1E451956FA}"/>
              </a:ext>
            </a:extLst>
          </p:cNvPr>
          <p:cNvSpPr/>
          <p:nvPr/>
        </p:nvSpPr>
        <p:spPr>
          <a:xfrm rot="16200000">
            <a:off x="3791744" y="3933056"/>
            <a:ext cx="828092" cy="25202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E9B8177F-21EE-67DD-73E4-04C86C7AF27E}"/>
              </a:ext>
            </a:extLst>
          </p:cNvPr>
          <p:cNvSpPr txBox="1"/>
          <p:nvPr/>
        </p:nvSpPr>
        <p:spPr>
          <a:xfrm>
            <a:off x="6023992" y="3661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Ex. </a:t>
            </a:r>
            <a:r>
              <a:rPr lang="en-US" sz="280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Rankas</a:t>
            </a:r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upp</a:t>
            </a:r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från</a:t>
            </a:r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 till B</a:t>
            </a:r>
          </a:p>
        </p:txBody>
      </p:sp>
      <p:cxnSp>
        <p:nvCxnSpPr>
          <p:cNvPr id="39" name="Rak pilkoppling 38">
            <a:extLst>
              <a:ext uri="{FF2B5EF4-FFF2-40B4-BE49-F238E27FC236}">
                <a16:creationId xmlns:a16="http://schemas.microsoft.com/office/drawing/2014/main" id="{D1575B2A-D2E1-1FDE-FA7B-84CC260E268C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ak koppling 42">
            <a:extLst>
              <a:ext uri="{FF2B5EF4-FFF2-40B4-BE49-F238E27FC236}">
                <a16:creationId xmlns:a16="http://schemas.microsoft.com/office/drawing/2014/main" id="{3BF6BC7F-1458-E56D-57B4-BB453059B315}"/>
              </a:ext>
            </a:extLst>
          </p:cNvPr>
          <p:cNvCxnSpPr>
            <a:cxnSpLocks/>
          </p:cNvCxnSpPr>
          <p:nvPr/>
        </p:nvCxnSpPr>
        <p:spPr>
          <a:xfrm>
            <a:off x="3629064" y="3573016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E1866EAA-C19A-1BFA-C0D1-74679F10333A}"/>
              </a:ext>
            </a:extLst>
          </p:cNvPr>
          <p:cNvCxnSpPr>
            <a:cxnSpLocks/>
          </p:cNvCxnSpPr>
          <p:nvPr/>
        </p:nvCxnSpPr>
        <p:spPr>
          <a:xfrm>
            <a:off x="3783731" y="4581128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ktangel 50">
            <a:extLst>
              <a:ext uri="{FF2B5EF4-FFF2-40B4-BE49-F238E27FC236}">
                <a16:creationId xmlns:a16="http://schemas.microsoft.com/office/drawing/2014/main" id="{A1FB3C01-1D52-1C6B-E10B-F87EEBB30124}"/>
              </a:ext>
            </a:extLst>
          </p:cNvPr>
          <p:cNvSpPr/>
          <p:nvPr/>
        </p:nvSpPr>
        <p:spPr>
          <a:xfrm>
            <a:off x="1127448" y="4725144"/>
            <a:ext cx="3388630" cy="561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71091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9F6CB-19FB-278B-07E5-1C4ACA12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EE46-B936-9148-E30C-0A9E118B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RetroFit</a:t>
            </a:r>
            <a:r>
              <a:rPr lang="en-US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C70E8-24C0-6389-4F1E-96BB573ADE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18" y="1893887"/>
            <a:ext cx="10943167" cy="4414838"/>
          </a:xfrm>
        </p:spPr>
        <p:txBody>
          <a:bodyPr/>
          <a:lstStyle/>
          <a:p>
            <a:r>
              <a:rPr lang="en-US" err="1"/>
              <a:t>Utbyte</a:t>
            </a:r>
            <a:r>
              <a:rPr lang="en-US"/>
              <a:t> av </a:t>
            </a:r>
            <a:r>
              <a:rPr lang="en-US" err="1"/>
              <a:t>produkter</a:t>
            </a:r>
            <a:r>
              <a:rPr lang="en-US"/>
              <a:t> med </a:t>
            </a:r>
            <a:r>
              <a:rPr lang="en-US" err="1"/>
              <a:t>målet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spara</a:t>
            </a:r>
            <a:r>
              <a:rPr lang="en-US"/>
              <a:t> </a:t>
            </a:r>
            <a:r>
              <a:rPr lang="en-US" err="1"/>
              <a:t>energi</a:t>
            </a:r>
            <a:r>
              <a:rPr lang="en-US"/>
              <a:t>             </a:t>
            </a:r>
            <a:r>
              <a:rPr lang="en-US" err="1"/>
              <a:t>spara</a:t>
            </a:r>
            <a:r>
              <a:rPr lang="en-US"/>
              <a:t> </a:t>
            </a:r>
            <a:r>
              <a:rPr lang="en-US" err="1"/>
              <a:t>energikostnader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C44162-BD0B-9870-04C3-6AD3B79720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6</a:t>
            </a:fld>
            <a:endParaRPr lang="en-US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B7D83302-1B5D-F4C2-D9BC-5DD1AD675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6" name="Pil: höger 35">
            <a:extLst>
              <a:ext uri="{FF2B5EF4-FFF2-40B4-BE49-F238E27FC236}">
                <a16:creationId xmlns:a16="http://schemas.microsoft.com/office/drawing/2014/main" id="{A22E7B90-145E-559C-2EB5-B11DB6A59D66}"/>
              </a:ext>
            </a:extLst>
          </p:cNvPr>
          <p:cNvSpPr/>
          <p:nvPr/>
        </p:nvSpPr>
        <p:spPr>
          <a:xfrm rot="16200000">
            <a:off x="3791744" y="3933056"/>
            <a:ext cx="828092" cy="25202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47EA7DD4-F079-4BAF-E721-4F1AEE61A3CA}"/>
              </a:ext>
            </a:extLst>
          </p:cNvPr>
          <p:cNvSpPr txBox="1"/>
          <p:nvPr/>
        </p:nvSpPr>
        <p:spPr>
          <a:xfrm>
            <a:off x="6023992" y="3661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Ex. </a:t>
            </a:r>
            <a:r>
              <a:rPr lang="en-US" sz="280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Rankas</a:t>
            </a:r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upp</a:t>
            </a:r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från</a:t>
            </a:r>
            <a:r>
              <a:rPr lang="en-US" sz="28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 till B</a:t>
            </a:r>
          </a:p>
        </p:txBody>
      </p:sp>
      <p:cxnSp>
        <p:nvCxnSpPr>
          <p:cNvPr id="39" name="Rak pilkoppling 38">
            <a:extLst>
              <a:ext uri="{FF2B5EF4-FFF2-40B4-BE49-F238E27FC236}">
                <a16:creationId xmlns:a16="http://schemas.microsoft.com/office/drawing/2014/main" id="{64B5D9BB-60C2-66E9-7CFC-F54CA141419E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ak koppling 42">
            <a:extLst>
              <a:ext uri="{FF2B5EF4-FFF2-40B4-BE49-F238E27FC236}">
                <a16:creationId xmlns:a16="http://schemas.microsoft.com/office/drawing/2014/main" id="{36E35B63-7EEC-BFA9-9B5F-B5A3AB80E956}"/>
              </a:ext>
            </a:extLst>
          </p:cNvPr>
          <p:cNvCxnSpPr>
            <a:cxnSpLocks/>
          </p:cNvCxnSpPr>
          <p:nvPr/>
        </p:nvCxnSpPr>
        <p:spPr>
          <a:xfrm>
            <a:off x="3629064" y="3573016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E89F8F5F-8A48-1C60-86D2-C9F5497EC649}"/>
              </a:ext>
            </a:extLst>
          </p:cNvPr>
          <p:cNvCxnSpPr>
            <a:cxnSpLocks/>
          </p:cNvCxnSpPr>
          <p:nvPr/>
        </p:nvCxnSpPr>
        <p:spPr>
          <a:xfrm>
            <a:off x="3783731" y="4581128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6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F2FE1A7-3C9F-E1AC-097F-7EA59B79C959}"/>
              </a:ext>
            </a:extLst>
          </p:cNvPr>
          <p:cNvGrpSpPr/>
          <p:nvPr/>
        </p:nvGrpSpPr>
        <p:grpSpPr>
          <a:xfrm>
            <a:off x="1120296" y="2808945"/>
            <a:ext cx="9306305" cy="3646973"/>
            <a:chOff x="547420" y="1707932"/>
            <a:chExt cx="11568960" cy="4687072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8756" y="2222582"/>
              <a:ext cx="3975304" cy="3930852"/>
            </a:xfrm>
            <a:prstGeom prst="rect">
              <a:avLst/>
            </a:prstGeom>
          </p:spPr>
        </p:pic>
        <p:sp>
          <p:nvSpPr>
            <p:cNvPr id="10" name="Textfeld 9"/>
            <p:cNvSpPr txBox="1"/>
            <p:nvPr/>
          </p:nvSpPr>
          <p:spPr>
            <a:xfrm>
              <a:off x="547420" y="2591720"/>
              <a:ext cx="1600571" cy="474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/>
                <a:t>ISO </a:t>
              </a:r>
              <a:r>
                <a:rPr lang="de-CH"/>
                <a:t>52120</a:t>
              </a:r>
              <a:endParaRPr lang="en-CH"/>
            </a:p>
          </p:txBody>
        </p:sp>
        <p:sp>
          <p:nvSpPr>
            <p:cNvPr id="4" name="Rechteck 3"/>
            <p:cNvSpPr/>
            <p:nvPr/>
          </p:nvSpPr>
          <p:spPr>
            <a:xfrm>
              <a:off x="7828156" y="5390934"/>
              <a:ext cx="3672408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HVAC </a:t>
              </a:r>
              <a:r>
                <a:rPr lang="sv-SE" sz="1600"/>
                <a:t>energianvändning</a:t>
              </a:r>
              <a:r>
                <a:rPr lang="en-CH" sz="1600"/>
                <a:t> (100%)</a:t>
              </a:r>
            </a:p>
          </p:txBody>
        </p:sp>
        <p:sp>
          <p:nvSpPr>
            <p:cNvPr id="6" name="Pfeil nach links 5"/>
            <p:cNvSpPr/>
            <p:nvPr/>
          </p:nvSpPr>
          <p:spPr>
            <a:xfrm>
              <a:off x="10300724" y="4212671"/>
              <a:ext cx="1199839" cy="890231"/>
            </a:xfrm>
            <a:prstGeom prst="left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-29%</a:t>
              </a:r>
            </a:p>
          </p:txBody>
        </p:sp>
        <p:sp>
          <p:nvSpPr>
            <p:cNvPr id="11" name="Pfeil nach links 10"/>
            <p:cNvSpPr/>
            <p:nvPr/>
          </p:nvSpPr>
          <p:spPr>
            <a:xfrm>
              <a:off x="9795882" y="3220675"/>
              <a:ext cx="1704681" cy="890231"/>
            </a:xfrm>
            <a:prstGeom prst="left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-41%</a:t>
              </a:r>
            </a:p>
          </p:txBody>
        </p:sp>
        <p:sp>
          <p:nvSpPr>
            <p:cNvPr id="12" name="Pfeil nach links 11"/>
            <p:cNvSpPr/>
            <p:nvPr/>
          </p:nvSpPr>
          <p:spPr>
            <a:xfrm>
              <a:off x="9340324" y="2222582"/>
              <a:ext cx="2160240" cy="890231"/>
            </a:xfrm>
            <a:prstGeom prst="left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-55%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3085899" y="1709234"/>
              <a:ext cx="3806153" cy="395554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square" rtlCol="0">
              <a:spAutoFit/>
            </a:bodyPr>
            <a:lstStyle/>
            <a:p>
              <a:r>
                <a:rPr lang="en-CH" sz="1400"/>
                <a:t>BACS</a:t>
              </a:r>
              <a:r>
                <a:rPr lang="sv-SE" sz="1400"/>
                <a:t>-klassning</a:t>
              </a:r>
              <a:r>
                <a:rPr lang="en-CH" sz="1400"/>
                <a:t> / HVAC </a:t>
              </a:r>
              <a:r>
                <a:rPr lang="sv-SE" sz="1400"/>
                <a:t>system</a:t>
              </a:r>
              <a:r>
                <a:rPr lang="en-CH" sz="1400"/>
                <a:t> </a:t>
              </a:r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4731813" y="2366900"/>
              <a:ext cx="2218338" cy="949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1400"/>
                <a:t>Hög energieffektivitets-</a:t>
              </a:r>
              <a:r>
                <a:rPr lang="en-CH" sz="1400"/>
                <a:t>BACS</a:t>
              </a:r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5243625" y="3346741"/>
              <a:ext cx="1289625" cy="6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400"/>
                <a:t>A</a:t>
              </a:r>
              <a:r>
                <a:rPr lang="sv-SE" sz="1400" err="1"/>
                <a:t>vancerad</a:t>
              </a:r>
              <a:endParaRPr lang="en-CH" sz="1400"/>
            </a:p>
            <a:p>
              <a:r>
                <a:rPr lang="en-CH" sz="1400"/>
                <a:t>BACS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6042161" y="4310692"/>
              <a:ext cx="1132278" cy="6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400"/>
                <a:t>Standard</a:t>
              </a:r>
            </a:p>
            <a:p>
              <a:r>
                <a:rPr lang="en-CH" sz="1400"/>
                <a:t>BACS</a:t>
              </a:r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6951433" y="5274642"/>
              <a:ext cx="839344" cy="6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400"/>
                <a:t>Ingen</a:t>
              </a:r>
              <a:endParaRPr lang="en-CH" sz="1400"/>
            </a:p>
            <a:p>
              <a:r>
                <a:rPr lang="en-CH" sz="1400"/>
                <a:t>BACS</a:t>
              </a:r>
            </a:p>
          </p:txBody>
        </p:sp>
        <p:cxnSp>
          <p:nvCxnSpPr>
            <p:cNvPr id="18" name="Gerader Verbinder 17"/>
            <p:cNvCxnSpPr/>
            <p:nvPr/>
          </p:nvCxnSpPr>
          <p:spPr>
            <a:xfrm>
              <a:off x="11500564" y="2180630"/>
              <a:ext cx="0" cy="38583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Grafik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1554" y="1707932"/>
              <a:ext cx="887137" cy="713258"/>
            </a:xfrm>
            <a:prstGeom prst="rect">
              <a:avLst/>
            </a:prstGeom>
          </p:spPr>
        </p:pic>
        <p:sp>
          <p:nvSpPr>
            <p:cNvPr id="24" name="Textfeld 23"/>
            <p:cNvSpPr txBox="1"/>
            <p:nvPr/>
          </p:nvSpPr>
          <p:spPr>
            <a:xfrm>
              <a:off x="7252093" y="1707932"/>
              <a:ext cx="4248470" cy="395554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square" rtlCol="0">
              <a:spAutoFit/>
            </a:bodyPr>
            <a:lstStyle/>
            <a:p>
              <a:r>
                <a:rPr lang="sv-SE" sz="1400"/>
                <a:t>Förväntad energibesparing i</a:t>
              </a:r>
              <a:r>
                <a:rPr lang="en-CH" sz="1400"/>
                <a:t> HVAC</a:t>
              </a:r>
            </a:p>
          </p:txBody>
        </p:sp>
        <p:sp>
          <p:nvSpPr>
            <p:cNvPr id="25" name="Textfeld 24"/>
            <p:cNvSpPr txBox="1"/>
            <p:nvPr/>
          </p:nvSpPr>
          <p:spPr>
            <a:xfrm rot="20290607">
              <a:off x="7609664" y="3419608"/>
              <a:ext cx="1757507" cy="593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b="1">
                  <a:solidFill>
                    <a:srgbClr val="FFFFFF"/>
                  </a:solidFill>
                </a:rPr>
                <a:t>Small Devices, Big Impact.</a:t>
              </a:r>
            </a:p>
          </p:txBody>
        </p:sp>
        <p:pic>
          <p:nvPicPr>
            <p:cNvPr id="2050" name="Picture 2" descr="Image result for EU logo">
              <a:extLst>
                <a:ext uri="{FF2B5EF4-FFF2-40B4-BE49-F238E27FC236}">
                  <a16:creationId xmlns:a16="http://schemas.microsoft.com/office/drawing/2014/main" id="{D217D090-BB24-4085-AD51-9F0ABB99B2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8786"/>
            <a:stretch/>
          </p:blipFill>
          <p:spPr bwMode="auto">
            <a:xfrm>
              <a:off x="691434" y="1707932"/>
              <a:ext cx="1080120" cy="713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85DA4A-C5B5-4703-A352-6F9D3696B821}"/>
                </a:ext>
              </a:extLst>
            </p:cNvPr>
            <p:cNvSpPr txBox="1"/>
            <p:nvPr/>
          </p:nvSpPr>
          <p:spPr>
            <a:xfrm>
              <a:off x="7828156" y="6039006"/>
              <a:ext cx="4288224" cy="355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200"/>
                <a:t>BACS = Building Automation &amp; Control Systems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DF76FD-A8C8-0660-DB0A-5EA668A4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Betydelsen</a:t>
            </a:r>
            <a:r>
              <a:rPr lang="en-US"/>
              <a:t> av HVAC system</a:t>
            </a:r>
            <a:br>
              <a:rPr lang="en-US"/>
            </a:br>
            <a:r>
              <a:rPr lang="sv-SE">
                <a:solidFill>
                  <a:schemeClr val="bg2"/>
                </a:solidFill>
              </a:rPr>
              <a:t>Effektiviteten i din utrustning har stor inverkan på ditt VVS-system</a:t>
            </a:r>
            <a:endParaRPr lang="en-US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03C1D45-DC3F-8E20-C2AB-4BBCD327B1E0}"/>
              </a:ext>
            </a:extLst>
          </p:cNvPr>
          <p:cNvSpPr txBox="1"/>
          <p:nvPr/>
        </p:nvSpPr>
        <p:spPr>
          <a:xfrm>
            <a:off x="3975100" y="18891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80000" indent="-180000"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  <a:buFont typeface="Arial" panose="020B0604020202020204" pitchFamily="34" charset="0"/>
              <a:buChar char="•"/>
            </a:pPr>
            <a:endParaRPr lang="en-CH" sz="1400" kern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B896292E-1B5E-E531-2633-BC268905E3D1}"/>
              </a:ext>
            </a:extLst>
          </p:cNvPr>
          <p:cNvSpPr/>
          <p:nvPr/>
        </p:nvSpPr>
        <p:spPr>
          <a:xfrm>
            <a:off x="3627484" y="2125228"/>
            <a:ext cx="1717644" cy="4267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/>
              <a:t>Bättre kontroll</a:t>
            </a:r>
            <a:endParaRPr lang="en-CH" sz="160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6B2CC11-5A07-E8F2-724E-69C23BC797E9}"/>
              </a:ext>
            </a:extLst>
          </p:cNvPr>
          <p:cNvSpPr/>
          <p:nvPr/>
        </p:nvSpPr>
        <p:spPr>
          <a:xfrm>
            <a:off x="6513670" y="1839502"/>
            <a:ext cx="3533405" cy="909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/>
              <a:t>Effektivare HVAC </a:t>
            </a:r>
            <a:r>
              <a:rPr lang="en-CH" sz="2000"/>
              <a:t>System</a:t>
            </a:r>
          </a:p>
        </p:txBody>
      </p:sp>
      <p:sp>
        <p:nvSpPr>
          <p:cNvPr id="34" name="Pfeil: nach rechts 33">
            <a:extLst>
              <a:ext uri="{FF2B5EF4-FFF2-40B4-BE49-F238E27FC236}">
                <a16:creationId xmlns:a16="http://schemas.microsoft.com/office/drawing/2014/main" id="{9BD4B933-9741-E849-6EBD-81A84B0B3D3E}"/>
              </a:ext>
            </a:extLst>
          </p:cNvPr>
          <p:cNvSpPr/>
          <p:nvPr/>
        </p:nvSpPr>
        <p:spPr>
          <a:xfrm>
            <a:off x="5415143" y="2182521"/>
            <a:ext cx="1062507" cy="30777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282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2EFB-6C5D-716A-EC9F-4ECF84A1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5E3B-619A-89B0-24F9-1AB197C8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RetroFit</a:t>
            </a:r>
            <a:r>
              <a:rPr lang="en-US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D4C15D-B213-B2CA-FEA7-841DABAEC4E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err="1"/>
              <a:t>Lösningen</a:t>
            </a:r>
            <a:r>
              <a:rPr lang="en-US"/>
              <a:t>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skräddarsydd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AD56B32-89A0-5A71-BAF9-AC5FCE9D6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8</a:t>
            </a:fld>
            <a:endParaRPr lang="en-US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9C104835-4B91-1C36-540D-B2A30EA7CF7B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4" name="Bild 3" descr="Sjukvård kontur">
              <a:extLst>
                <a:ext uri="{FF2B5EF4-FFF2-40B4-BE49-F238E27FC236}">
                  <a16:creationId xmlns:a16="http://schemas.microsoft.com/office/drawing/2014/main" id="{ED4224F7-CFC8-669A-022D-5C36389A4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8951FC80-DF00-CAD1-BBBF-7D051BC06857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8" name="Bild 7" descr="Sjukhus kontur">
                <a:extLst>
                  <a:ext uri="{FF2B5EF4-FFF2-40B4-BE49-F238E27FC236}">
                    <a16:creationId xmlns:a16="http://schemas.microsoft.com/office/drawing/2014/main" id="{33F61C92-2003-8223-A4A6-BE4A4BBE8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5B42BD70-E4A8-3D5B-84D7-96E8E5E6A96A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Sjukhus</a:t>
                </a:r>
                <a:endParaRPr lang="en-US"/>
              </a:p>
            </p:txBody>
          </p:sp>
        </p:grpSp>
      </p:grpSp>
      <p:grpSp>
        <p:nvGrpSpPr>
          <p:cNvPr id="38" name="Grupp 37">
            <a:extLst>
              <a:ext uri="{FF2B5EF4-FFF2-40B4-BE49-F238E27FC236}">
                <a16:creationId xmlns:a16="http://schemas.microsoft.com/office/drawing/2014/main" id="{577B8A99-B33F-0CC2-CFA4-195076BAC6B3}"/>
              </a:ext>
            </a:extLst>
          </p:cNvPr>
          <p:cNvGrpSpPr/>
          <p:nvPr/>
        </p:nvGrpSpPr>
        <p:grpSpPr>
          <a:xfrm>
            <a:off x="2639616" y="3868117"/>
            <a:ext cx="2044149" cy="2299627"/>
            <a:chOff x="2639616" y="3868117"/>
            <a:chExt cx="2044149" cy="2299627"/>
          </a:xfrm>
        </p:grpSpPr>
        <p:sp>
          <p:nvSpPr>
            <p:cNvPr id="22" name="textruta 21">
              <a:extLst>
                <a:ext uri="{FF2B5EF4-FFF2-40B4-BE49-F238E27FC236}">
                  <a16:creationId xmlns:a16="http://schemas.microsoft.com/office/drawing/2014/main" id="{5752271E-AE94-9635-4B8A-5876A26D83E1}"/>
                </a:ext>
              </a:extLst>
            </p:cNvPr>
            <p:cNvSpPr txBox="1"/>
            <p:nvPr/>
          </p:nvSpPr>
          <p:spPr>
            <a:xfrm>
              <a:off x="2639616" y="579841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Utbildn.byggnader</a:t>
              </a:r>
              <a:endParaRPr lang="en-US"/>
            </a:p>
          </p:txBody>
        </p:sp>
        <p:pic>
          <p:nvPicPr>
            <p:cNvPr id="7" name="Bild 6" descr="Skola kontur">
              <a:extLst>
                <a:ext uri="{FF2B5EF4-FFF2-40B4-BE49-F238E27FC236}">
                  <a16:creationId xmlns:a16="http://schemas.microsoft.com/office/drawing/2014/main" id="{E892A1A0-BC20-1DBE-6818-0CB653DB8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51174" y="4303826"/>
              <a:ext cx="1549297" cy="1549297"/>
            </a:xfrm>
            <a:prstGeom prst="rect">
              <a:avLst/>
            </a:prstGeom>
          </p:spPr>
        </p:pic>
        <p:pic>
          <p:nvPicPr>
            <p:cNvPr id="11" name="Bild 10" descr="Läraren har kontur">
              <a:extLst>
                <a:ext uri="{FF2B5EF4-FFF2-40B4-BE49-F238E27FC236}">
                  <a16:creationId xmlns:a16="http://schemas.microsoft.com/office/drawing/2014/main" id="{3806A322-7B28-F9AB-2261-24AA275FD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18301" y="3868117"/>
              <a:ext cx="609407" cy="609407"/>
            </a:xfrm>
            <a:prstGeom prst="rect">
              <a:avLst/>
            </a:prstGeom>
          </p:spPr>
        </p:pic>
      </p:grpSp>
      <p:grpSp>
        <p:nvGrpSpPr>
          <p:cNvPr id="39" name="Grupp 38">
            <a:extLst>
              <a:ext uri="{FF2B5EF4-FFF2-40B4-BE49-F238E27FC236}">
                <a16:creationId xmlns:a16="http://schemas.microsoft.com/office/drawing/2014/main" id="{301FEE93-B3DB-9A7D-6EFB-9408B3D4AC44}"/>
              </a:ext>
            </a:extLst>
          </p:cNvPr>
          <p:cNvGrpSpPr/>
          <p:nvPr/>
        </p:nvGrpSpPr>
        <p:grpSpPr>
          <a:xfrm>
            <a:off x="4735562" y="4768826"/>
            <a:ext cx="1582484" cy="1366321"/>
            <a:chOff x="4735562" y="4768826"/>
            <a:chExt cx="1582484" cy="1366321"/>
          </a:xfrm>
        </p:grpSpPr>
        <p:sp>
          <p:nvSpPr>
            <p:cNvPr id="21" name="textruta 20">
              <a:extLst>
                <a:ext uri="{FF2B5EF4-FFF2-40B4-BE49-F238E27FC236}">
                  <a16:creationId xmlns:a16="http://schemas.microsoft.com/office/drawing/2014/main" id="{46CC7E88-F2B6-75E5-6F12-D57A207FC013}"/>
                </a:ext>
              </a:extLst>
            </p:cNvPr>
            <p:cNvSpPr txBox="1"/>
            <p:nvPr/>
          </p:nvSpPr>
          <p:spPr>
            <a:xfrm>
              <a:off x="4735562" y="5765815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Restauranger</a:t>
              </a:r>
              <a:endParaRPr lang="en-US"/>
            </a:p>
          </p:txBody>
        </p:sp>
        <p:pic>
          <p:nvPicPr>
            <p:cNvPr id="15" name="Bild 14" descr="Kniv och gaffel kontur">
              <a:extLst>
                <a:ext uri="{FF2B5EF4-FFF2-40B4-BE49-F238E27FC236}">
                  <a16:creationId xmlns:a16="http://schemas.microsoft.com/office/drawing/2014/main" id="{CE29DA4F-A2AA-84C4-CBA8-071BBEB7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20484" y="4768826"/>
              <a:ext cx="914400" cy="914400"/>
            </a:xfrm>
            <a:prstGeom prst="rect">
              <a:avLst/>
            </a:prstGeom>
          </p:spPr>
        </p:pic>
      </p:grpSp>
      <p:grpSp>
        <p:nvGrpSpPr>
          <p:cNvPr id="40" name="Grupp 39">
            <a:extLst>
              <a:ext uri="{FF2B5EF4-FFF2-40B4-BE49-F238E27FC236}">
                <a16:creationId xmlns:a16="http://schemas.microsoft.com/office/drawing/2014/main" id="{8EE9C457-EBA7-912B-9913-6DC4B300A527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353171" y="4303827"/>
            <a:chExt cx="1520837" cy="1827776"/>
          </a:xfrm>
        </p:grpSpPr>
        <p:grpSp>
          <p:nvGrpSpPr>
            <p:cNvPr id="31" name="Grupp 30">
              <a:extLst>
                <a:ext uri="{FF2B5EF4-FFF2-40B4-BE49-F238E27FC236}">
                  <a16:creationId xmlns:a16="http://schemas.microsoft.com/office/drawing/2014/main" id="{7453DF2D-00BB-7749-64D6-171D41794462}"/>
                </a:ext>
              </a:extLst>
            </p:cNvPr>
            <p:cNvGrpSpPr/>
            <p:nvPr/>
          </p:nvGrpSpPr>
          <p:grpSpPr>
            <a:xfrm>
              <a:off x="6353171" y="4303827"/>
              <a:ext cx="1520837" cy="1827776"/>
              <a:chOff x="6802682" y="4789044"/>
              <a:chExt cx="1159234" cy="1641559"/>
            </a:xfrm>
          </p:grpSpPr>
          <p:pic>
            <p:nvPicPr>
              <p:cNvPr id="16" name="Bild 15" descr="Hotellklocka kontur">
                <a:extLst>
                  <a:ext uri="{FF2B5EF4-FFF2-40B4-BE49-F238E27FC236}">
                    <a16:creationId xmlns:a16="http://schemas.microsoft.com/office/drawing/2014/main" id="{A1525F32-2F1A-0736-BB33-C697E49C9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802682" y="4789044"/>
                <a:ext cx="1159234" cy="1159234"/>
              </a:xfrm>
              <a:prstGeom prst="rect">
                <a:avLst/>
              </a:prstGeom>
            </p:spPr>
          </p:pic>
          <p:sp>
            <p:nvSpPr>
              <p:cNvPr id="24" name="textruta 23">
                <a:extLst>
                  <a:ext uri="{FF2B5EF4-FFF2-40B4-BE49-F238E27FC236}">
                    <a16:creationId xmlns:a16="http://schemas.microsoft.com/office/drawing/2014/main" id="{CD3BB16D-C186-2684-6A01-D6ECCF615E08}"/>
                  </a:ext>
                </a:extLst>
              </p:cNvPr>
              <p:cNvSpPr txBox="1"/>
              <p:nvPr/>
            </p:nvSpPr>
            <p:spPr>
              <a:xfrm>
                <a:off x="7000304" y="6061271"/>
                <a:ext cx="774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Hotell</a:t>
                </a:r>
                <a:endParaRPr lang="en-US"/>
              </a:p>
            </p:txBody>
          </p:sp>
        </p:grpSp>
        <p:pic>
          <p:nvPicPr>
            <p:cNvPr id="19" name="Bild 18" descr="Hotellklocka kontur">
              <a:extLst>
                <a:ext uri="{FF2B5EF4-FFF2-40B4-BE49-F238E27FC236}">
                  <a16:creationId xmlns:a16="http://schemas.microsoft.com/office/drawing/2014/main" id="{1AD33CAD-38F9-8180-586D-9C8ADB41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398382" y="4600320"/>
              <a:ext cx="1094748" cy="1094748"/>
            </a:xfrm>
            <a:prstGeom prst="rect">
              <a:avLst/>
            </a:prstGeom>
          </p:spPr>
        </p:pic>
      </p:grpSp>
      <p:grpSp>
        <p:nvGrpSpPr>
          <p:cNvPr id="41" name="Grupp 40">
            <a:extLst>
              <a:ext uri="{FF2B5EF4-FFF2-40B4-BE49-F238E27FC236}">
                <a16:creationId xmlns:a16="http://schemas.microsoft.com/office/drawing/2014/main" id="{951CE2EE-C6BA-7533-6F6D-2D5CE03378A5}"/>
              </a:ext>
            </a:extLst>
          </p:cNvPr>
          <p:cNvGrpSpPr/>
          <p:nvPr/>
        </p:nvGrpSpPr>
        <p:grpSpPr>
          <a:xfrm>
            <a:off x="7874009" y="4542114"/>
            <a:ext cx="1612416" cy="1546621"/>
            <a:chOff x="7874009" y="4542114"/>
            <a:chExt cx="1612416" cy="1546621"/>
          </a:xfrm>
        </p:grpSpPr>
        <p:sp>
          <p:nvSpPr>
            <p:cNvPr id="25" name="textruta 24">
              <a:extLst>
                <a:ext uri="{FF2B5EF4-FFF2-40B4-BE49-F238E27FC236}">
                  <a16:creationId xmlns:a16="http://schemas.microsoft.com/office/drawing/2014/main" id="{4C6EB747-F523-CCB0-ACEE-E9042D701938}"/>
                </a:ext>
              </a:extLst>
            </p:cNvPr>
            <p:cNvSpPr txBox="1"/>
            <p:nvPr/>
          </p:nvSpPr>
          <p:spPr>
            <a:xfrm>
              <a:off x="7874009" y="5674286"/>
              <a:ext cx="1612416" cy="4144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Köpcentrum</a:t>
              </a:r>
              <a:endParaRPr lang="en-US"/>
            </a:p>
          </p:txBody>
        </p:sp>
        <p:pic>
          <p:nvPicPr>
            <p:cNvPr id="35" name="Bild 34" descr="Kasse med hel fyllning">
              <a:extLst>
                <a:ext uri="{FF2B5EF4-FFF2-40B4-BE49-F238E27FC236}">
                  <a16:creationId xmlns:a16="http://schemas.microsoft.com/office/drawing/2014/main" id="{CF9B60C2-0B6B-7FC4-70D3-444568723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146695" y="4542114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upp 41">
            <a:extLst>
              <a:ext uri="{FF2B5EF4-FFF2-40B4-BE49-F238E27FC236}">
                <a16:creationId xmlns:a16="http://schemas.microsoft.com/office/drawing/2014/main" id="{60C8EABA-2D06-8CA8-F2E0-9D974C510F2F}"/>
              </a:ext>
            </a:extLst>
          </p:cNvPr>
          <p:cNvGrpSpPr/>
          <p:nvPr/>
        </p:nvGrpSpPr>
        <p:grpSpPr>
          <a:xfrm>
            <a:off x="9672968" y="4600320"/>
            <a:ext cx="1103552" cy="1441141"/>
            <a:chOff x="9672968" y="4600320"/>
            <a:chExt cx="1103552" cy="1441141"/>
          </a:xfrm>
        </p:grpSpPr>
        <p:sp>
          <p:nvSpPr>
            <p:cNvPr id="26" name="textruta 25">
              <a:extLst>
                <a:ext uri="{FF2B5EF4-FFF2-40B4-BE49-F238E27FC236}">
                  <a16:creationId xmlns:a16="http://schemas.microsoft.com/office/drawing/2014/main" id="{678D4395-9E3D-9B85-723E-D7F4DC33A881}"/>
                </a:ext>
              </a:extLst>
            </p:cNvPr>
            <p:cNvSpPr txBox="1"/>
            <p:nvPr/>
          </p:nvSpPr>
          <p:spPr>
            <a:xfrm>
              <a:off x="9867304" y="567212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Kontor</a:t>
              </a:r>
              <a:endParaRPr lang="en-US"/>
            </a:p>
          </p:txBody>
        </p:sp>
        <p:pic>
          <p:nvPicPr>
            <p:cNvPr id="37" name="Bild 36" descr="Stad kontur">
              <a:extLst>
                <a:ext uri="{FF2B5EF4-FFF2-40B4-BE49-F238E27FC236}">
                  <a16:creationId xmlns:a16="http://schemas.microsoft.com/office/drawing/2014/main" id="{E932673C-EF4B-95A8-E6BC-FC833FBAD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672968" y="4600320"/>
              <a:ext cx="1103552" cy="110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75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564EF2-281C-9732-6979-750AC64BE5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564EF2-281C-9732-6979-750AC64BE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7">
            <a:extLst>
              <a:ext uri="{FF2B5EF4-FFF2-40B4-BE49-F238E27FC236}">
                <a16:creationId xmlns:a16="http://schemas.microsoft.com/office/drawing/2014/main" id="{AB779E9D-66A6-50FB-E4B9-38BB8CA968FB}"/>
              </a:ext>
            </a:extLst>
          </p:cNvPr>
          <p:cNvSpPr/>
          <p:nvPr/>
        </p:nvSpPr>
        <p:spPr>
          <a:xfrm>
            <a:off x="2654764" y="3265270"/>
            <a:ext cx="1330655" cy="1330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2BB8AC3-B253-CA3B-2717-A4FB6ED287E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8901" y="549274"/>
            <a:ext cx="807793" cy="317690"/>
          </a:xfrm>
          <a:prstGeom prst="rect">
            <a:avLst/>
          </a:prstGeom>
        </p:spPr>
      </p:pic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9E66E9F7-F592-4224-6C01-279E1D9320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476274"/>
            <a:ext cx="791064" cy="180114"/>
          </a:xfrm>
        </p:spPr>
        <p:txBody>
          <a:bodyPr lIns="0" tIns="0" rIns="0" bIns="0">
            <a:noAutofit/>
          </a:bodyPr>
          <a:lstStyle/>
          <a:p>
            <a:fld id="{7B06F2F6-E945-43FC-BABC-9B8B9FFB3384}" type="slidenum">
              <a:rPr lang="en-CH" sz="900" smtClean="0">
                <a:latin typeface="Arial Nova" panose="020B0504020202020204" pitchFamily="34" charset="0"/>
              </a:rPr>
              <a:pPr/>
              <a:t>9</a:t>
            </a:fld>
            <a:endParaRPr lang="en-CH" sz="900">
              <a:latin typeface="Arial Nova" panose="020B0504020202020204" pitchFamily="34" charset="0"/>
            </a:endParaRPr>
          </a:p>
        </p:txBody>
      </p:sp>
      <p:sp>
        <p:nvSpPr>
          <p:cNvPr id="2" name="Rectangle 51">
            <a:extLst>
              <a:ext uri="{FF2B5EF4-FFF2-40B4-BE49-F238E27FC236}">
                <a16:creationId xmlns:a16="http://schemas.microsoft.com/office/drawing/2014/main" id="{0FF56BED-EFB7-FFE6-EB1D-116E8F357016}"/>
              </a:ext>
            </a:extLst>
          </p:cNvPr>
          <p:cNvSpPr>
            <a:spLocks/>
          </p:cNvSpPr>
          <p:nvPr/>
        </p:nvSpPr>
        <p:spPr>
          <a:xfrm>
            <a:off x="798096" y="1779597"/>
            <a:ext cx="3401484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r>
              <a:rPr lang="en-CH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HVAC / </a:t>
            </a:r>
            <a:r>
              <a:rPr lang="sv-SE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utvärdering</a:t>
            </a:r>
            <a:br>
              <a:rPr lang="en-CH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</a:br>
            <a:r>
              <a:rPr lang="en-CH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ISO EN 52120</a:t>
            </a:r>
          </a:p>
        </p:txBody>
      </p:sp>
      <p:grpSp>
        <p:nvGrpSpPr>
          <p:cNvPr id="3" name="Group 56">
            <a:extLst>
              <a:ext uri="{FF2B5EF4-FFF2-40B4-BE49-F238E27FC236}">
                <a16:creationId xmlns:a16="http://schemas.microsoft.com/office/drawing/2014/main" id="{FC659E16-3E7A-FE6E-5A45-A22E7BBB12A7}"/>
              </a:ext>
            </a:extLst>
          </p:cNvPr>
          <p:cNvGrpSpPr>
            <a:grpSpLocks/>
          </p:cNvGrpSpPr>
          <p:nvPr/>
        </p:nvGrpSpPr>
        <p:grpSpPr>
          <a:xfrm>
            <a:off x="798096" y="3352321"/>
            <a:ext cx="3401484" cy="1999339"/>
            <a:chOff x="623888" y="2857200"/>
            <a:chExt cx="2806983" cy="1704530"/>
          </a:xfrm>
        </p:grpSpPr>
        <p:grpSp>
          <p:nvGrpSpPr>
            <p:cNvPr id="4" name="Group 57">
              <a:extLst>
                <a:ext uri="{FF2B5EF4-FFF2-40B4-BE49-F238E27FC236}">
                  <a16:creationId xmlns:a16="http://schemas.microsoft.com/office/drawing/2014/main" id="{EDE4D2CB-53DD-5E2F-CCC6-E61F56CFED16}"/>
                </a:ext>
              </a:extLst>
            </p:cNvPr>
            <p:cNvGrpSpPr/>
            <p:nvPr/>
          </p:nvGrpSpPr>
          <p:grpSpPr>
            <a:xfrm>
              <a:off x="623888" y="2857200"/>
              <a:ext cx="2806983" cy="1704530"/>
              <a:chOff x="919162" y="2924238"/>
              <a:chExt cx="2806983" cy="1704530"/>
            </a:xfrm>
          </p:grpSpPr>
          <p:pic>
            <p:nvPicPr>
              <p:cNvPr id="7" name="Picture 74">
                <a:extLst>
                  <a:ext uri="{FF2B5EF4-FFF2-40B4-BE49-F238E27FC236}">
                    <a16:creationId xmlns:a16="http://schemas.microsoft.com/office/drawing/2014/main" id="{E2A93E3B-95B9-D150-FB9E-BCE4A6141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3222" b="94988" l="3696" r="96232">
                            <a14:foregroundMark x1="11159" y1="6205" x2="13188" y2="34010"/>
                            <a14:foregroundMark x1="13188" y1="34010" x2="11667" y2="92840"/>
                            <a14:foregroundMark x1="11667" y1="92840" x2="6812" y2="92005"/>
                            <a14:foregroundMark x1="6812" y1="92005" x2="11014" y2="95227"/>
                            <a14:foregroundMark x1="11014" y1="95227" x2="18768" y2="95585"/>
                            <a14:foregroundMark x1="18768" y1="95585" x2="29855" y2="94511"/>
                            <a14:foregroundMark x1="29855" y1="94511" x2="22029" y2="91527"/>
                            <a14:foregroundMark x1="22029" y1="91527" x2="28696" y2="91408"/>
                            <a14:foregroundMark x1="28696" y1="91408" x2="72826" y2="92959"/>
                            <a14:foregroundMark x1="72826" y1="92959" x2="82754" y2="91766"/>
                            <a14:foregroundMark x1="82754" y1="91766" x2="88116" y2="94630"/>
                            <a14:foregroundMark x1="88116" y1="94630" x2="94565" y2="92840"/>
                            <a14:foregroundMark x1="94565" y1="92840" x2="96304" y2="93198"/>
                            <a14:foregroundMark x1="7826" y1="95823" x2="3768" y2="93079"/>
                            <a14:foregroundMark x1="3768" y1="93079" x2="6522" y2="92482"/>
                            <a14:foregroundMark x1="12246" y1="90453" x2="25652" y2="88305"/>
                            <a14:foregroundMark x1="25652" y1="88305" x2="16377" y2="88544"/>
                            <a14:foregroundMark x1="16377" y1="88544" x2="26159" y2="89976"/>
                            <a14:foregroundMark x1="26159" y1="89976" x2="44420" y2="87589"/>
                            <a14:foregroundMark x1="44420" y1="87589" x2="58768" y2="88902"/>
                            <a14:foregroundMark x1="58768" y1="88902" x2="76594" y2="87351"/>
                            <a14:foregroundMark x1="76594" y1="87351" x2="82029" y2="89737"/>
                            <a14:foregroundMark x1="82029" y1="89737" x2="88043" y2="89260"/>
                            <a14:foregroundMark x1="88043" y1="89260" x2="89275" y2="9189"/>
                            <a14:foregroundMark x1="89275" y1="9189" x2="87174" y2="4177"/>
                            <a14:foregroundMark x1="89058" y1="7160" x2="82609" y2="3699"/>
                            <a14:foregroundMark x1="82609" y1="3699" x2="11884" y2="3819"/>
                            <a14:foregroundMark x1="11884" y1="3819" x2="11377" y2="9189"/>
                            <a14:foregroundMark x1="83623" y1="3222" x2="88406" y2="4057"/>
                            <a14:foregroundMark x1="88406" y1="4057" x2="89420" y2="7518"/>
                            <a14:foregroundMark x1="11667" y1="25060" x2="10967" y2="35128"/>
                            <a14:foregroundMark x1="12609" y1="53341" x2="12246" y2="28520"/>
                            <a14:foregroundMark x1="89348" y1="60501" x2="88623" y2="94988"/>
                            <a14:foregroundMark x1="75290" y1="69093" x2="63406" y2="63962"/>
                            <a14:foregroundMark x1="63406" y1="63962" x2="77319" y2="63723"/>
                            <a14:foregroundMark x1="77319" y1="63723" x2="71522" y2="60024"/>
                            <a14:foregroundMark x1="71522" y1="60024" x2="71377" y2="60024"/>
                            <a14:foregroundMark x1="52174" y1="67900" x2="59928" y2="65513"/>
                            <a14:foregroundMark x1="59928" y1="65513" x2="61304" y2="64081"/>
                            <a14:backgroundMark x1="8333" y1="7041" x2="8623" y2="59905"/>
                            <a14:backgroundMark x1="10290" y1="35203" x2="10870" y2="494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162" y="2924238"/>
                <a:ext cx="2806983" cy="1704530"/>
              </a:xfrm>
              <a:prstGeom prst="rect">
                <a:avLst/>
              </a:prstGeom>
            </p:spPr>
          </p:pic>
          <p:pic>
            <p:nvPicPr>
              <p:cNvPr id="9" name="Picture 76">
                <a:extLst>
                  <a:ext uri="{FF2B5EF4-FFF2-40B4-BE49-F238E27FC236}">
                    <a16:creationId xmlns:a16="http://schemas.microsoft.com/office/drawing/2014/main" id="{B6F493DB-5567-1270-CA2C-041C83AE22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775" t="1017" r="775" b="1482"/>
              <a:stretch/>
            </p:blipFill>
            <p:spPr>
              <a:xfrm>
                <a:off x="1275245" y="3010902"/>
                <a:ext cx="2119494" cy="1416645"/>
              </a:xfrm>
              <a:prstGeom prst="rect">
                <a:avLst/>
              </a:prstGeom>
            </p:spPr>
          </p:pic>
          <p:sp>
            <p:nvSpPr>
              <p:cNvPr id="12" name="Rectangle 77">
                <a:extLst>
                  <a:ext uri="{FF2B5EF4-FFF2-40B4-BE49-F238E27FC236}">
                    <a16:creationId xmlns:a16="http://schemas.microsoft.com/office/drawing/2014/main" id="{52503803-75B9-DB9C-52EA-964313E7B84F}"/>
                  </a:ext>
                </a:extLst>
              </p:cNvPr>
              <p:cNvSpPr/>
              <p:nvPr/>
            </p:nvSpPr>
            <p:spPr>
              <a:xfrm>
                <a:off x="1669170" y="3095048"/>
                <a:ext cx="1369305" cy="97161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2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5" name="TextBox 59">
              <a:extLst>
                <a:ext uri="{FF2B5EF4-FFF2-40B4-BE49-F238E27FC236}">
                  <a16:creationId xmlns:a16="http://schemas.microsoft.com/office/drawing/2014/main" id="{ABC2C0DB-3BB0-38AF-BDA5-8FC28649D6D5}"/>
                </a:ext>
              </a:extLst>
            </p:cNvPr>
            <p:cNvSpPr txBox="1"/>
            <p:nvPr/>
          </p:nvSpPr>
          <p:spPr>
            <a:xfrm>
              <a:off x="1241048" y="3007767"/>
              <a:ext cx="1243845" cy="144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sz="500" b="1">
                  <a:solidFill>
                    <a:sysClr val="windowText" lastClr="000000"/>
                  </a:solidFill>
                  <a:latin typeface="Arial Nova" panose="020B0504020202020204" pitchFamily="34" charset="0"/>
                </a:rPr>
                <a:t>RetroFIT + Assessment Tool</a:t>
              </a:r>
            </a:p>
          </p:txBody>
        </p: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id="{E3CAC6C5-2543-CCED-E81D-DFC049FCC6AD}"/>
              </a:ext>
            </a:extLst>
          </p:cNvPr>
          <p:cNvSpPr txBox="1">
            <a:spLocks/>
          </p:cNvSpPr>
          <p:nvPr/>
        </p:nvSpPr>
        <p:spPr>
          <a:xfrm>
            <a:off x="798096" y="2416040"/>
            <a:ext cx="3292469" cy="7386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sv-SE" sz="1200" kern="0"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Inledande bedömning av ditt byggnaders HVAC-system för att avslöja besparingspotential (1 – 2 dagar) med valfri installation av smarta enheter för visualisering av energiflöde</a:t>
            </a:r>
            <a:endParaRPr lang="en-CH" sz="1200" kern="0"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5" name="Rectangle 53">
            <a:extLst>
              <a:ext uri="{FF2B5EF4-FFF2-40B4-BE49-F238E27FC236}">
                <a16:creationId xmlns:a16="http://schemas.microsoft.com/office/drawing/2014/main" id="{0BD61E64-ED8C-07D9-F401-227BEDF53596}"/>
              </a:ext>
            </a:extLst>
          </p:cNvPr>
          <p:cNvSpPr>
            <a:spLocks/>
          </p:cNvSpPr>
          <p:nvPr/>
        </p:nvSpPr>
        <p:spPr>
          <a:xfrm>
            <a:off x="5071988" y="1779588"/>
            <a:ext cx="3401484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r>
              <a:rPr lang="en-CH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Up</a:t>
            </a:r>
            <a:r>
              <a:rPr lang="sv-SE" sz="1600" b="1" kern="0" err="1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ppgradera</a:t>
            </a:r>
            <a:r>
              <a:rPr lang="en-CH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 </a:t>
            </a:r>
            <a:br>
              <a:rPr lang="en-CH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</a:br>
            <a:r>
              <a:rPr lang="sv-SE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en byggnad</a:t>
            </a:r>
            <a:endParaRPr lang="en-CH" sz="1600" b="1" kern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8D9F752E-A73F-DF24-A0C1-A2A0FDE0AC34}"/>
              </a:ext>
            </a:extLst>
          </p:cNvPr>
          <p:cNvSpPr txBox="1">
            <a:spLocks/>
          </p:cNvSpPr>
          <p:nvPr/>
        </p:nvSpPr>
        <p:spPr>
          <a:xfrm>
            <a:off x="5071988" y="2416040"/>
            <a:ext cx="3443532" cy="5539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sv-SE" sz="1200" kern="0"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Uppgradera med smarta enheter på rör och kanaler med minimala avbrott i ditt fungerande VVS-system – projektet avslutat inom några dagar</a:t>
            </a:r>
            <a:endParaRPr lang="en-CH" sz="1200" kern="0"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4D22B00-C404-AC8D-7CAD-2718649C9109}"/>
              </a:ext>
            </a:extLst>
          </p:cNvPr>
          <p:cNvSpPr/>
          <p:nvPr/>
        </p:nvSpPr>
        <p:spPr>
          <a:xfrm>
            <a:off x="7255339" y="3265270"/>
            <a:ext cx="1330655" cy="1330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6E7E7D0-FAA5-8605-9E05-DB460ED3DFF0}"/>
              </a:ext>
            </a:extLst>
          </p:cNvPr>
          <p:cNvSpPr/>
          <p:nvPr/>
        </p:nvSpPr>
        <p:spPr>
          <a:xfrm>
            <a:off x="9392608" y="3975189"/>
            <a:ext cx="1330655" cy="133065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200" b="1">
                <a:latin typeface="Arial Nova" panose="020B0504020202020204" pitchFamily="34" charset="0"/>
              </a:rPr>
              <a:t>Repeat</a:t>
            </a:r>
          </a:p>
        </p:txBody>
      </p:sp>
      <p:sp>
        <p:nvSpPr>
          <p:cNvPr id="14" name="Rechteck 19">
            <a:extLst>
              <a:ext uri="{FF2B5EF4-FFF2-40B4-BE49-F238E27FC236}">
                <a16:creationId xmlns:a16="http://schemas.microsoft.com/office/drawing/2014/main" id="{BA6FAE60-6D61-DB6E-42F5-1CBCAACBD924}"/>
              </a:ext>
            </a:extLst>
          </p:cNvPr>
          <p:cNvSpPr/>
          <p:nvPr/>
        </p:nvSpPr>
        <p:spPr>
          <a:xfrm>
            <a:off x="9772120" y="3596024"/>
            <a:ext cx="1330655" cy="133065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200" b="1">
                <a:latin typeface="Arial Nova" panose="020B0504020202020204" pitchFamily="34" charset="0"/>
              </a:rPr>
              <a:t>Repeat</a:t>
            </a:r>
          </a:p>
        </p:txBody>
      </p:sp>
      <p:sp>
        <p:nvSpPr>
          <p:cNvPr id="22" name="Rechteck 19">
            <a:extLst>
              <a:ext uri="{FF2B5EF4-FFF2-40B4-BE49-F238E27FC236}">
                <a16:creationId xmlns:a16="http://schemas.microsoft.com/office/drawing/2014/main" id="{EE78BD90-53EC-05DC-6983-37D5CDE4FC62}"/>
              </a:ext>
            </a:extLst>
          </p:cNvPr>
          <p:cNvSpPr/>
          <p:nvPr/>
        </p:nvSpPr>
        <p:spPr>
          <a:xfrm>
            <a:off x="10151631" y="3265270"/>
            <a:ext cx="1330655" cy="133065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200" b="1">
                <a:latin typeface="Arial Nova" panose="020B0504020202020204" pitchFamily="34" charset="0"/>
              </a:rPr>
              <a:t>Repeat</a:t>
            </a:r>
          </a:p>
        </p:txBody>
      </p:sp>
      <p:sp>
        <p:nvSpPr>
          <p:cNvPr id="23" name="Rectangle 53">
            <a:extLst>
              <a:ext uri="{FF2B5EF4-FFF2-40B4-BE49-F238E27FC236}">
                <a16:creationId xmlns:a16="http://schemas.microsoft.com/office/drawing/2014/main" id="{E03894D3-4943-70E6-4526-98D18763E097}"/>
              </a:ext>
            </a:extLst>
          </p:cNvPr>
          <p:cNvSpPr>
            <a:spLocks/>
          </p:cNvSpPr>
          <p:nvPr/>
        </p:nvSpPr>
        <p:spPr>
          <a:xfrm>
            <a:off x="9693162" y="1779588"/>
            <a:ext cx="2117838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r>
              <a:rPr lang="sv-SE" sz="1600" b="1" kern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Implementera i de andra byggnaderna</a:t>
            </a:r>
            <a:endParaRPr lang="en-CH" sz="1600" b="1" kern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6EE30C0-1F4D-F9C2-53C4-B9C666AA4887}"/>
              </a:ext>
            </a:extLst>
          </p:cNvPr>
          <p:cNvSpPr/>
          <p:nvPr/>
        </p:nvSpPr>
        <p:spPr>
          <a:xfrm>
            <a:off x="381000" y="1780315"/>
            <a:ext cx="293193" cy="2936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b="1"/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EA6A5E0-5A48-ECF7-2CD5-E7C81951304A}"/>
              </a:ext>
            </a:extLst>
          </p:cNvPr>
          <p:cNvSpPr/>
          <p:nvPr/>
        </p:nvSpPr>
        <p:spPr>
          <a:xfrm>
            <a:off x="4662828" y="1780315"/>
            <a:ext cx="293193" cy="2936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b="1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E7DD51F-FAA8-E8AB-3260-17E3453EE54C}"/>
              </a:ext>
            </a:extLst>
          </p:cNvPr>
          <p:cNvSpPr/>
          <p:nvPr/>
        </p:nvSpPr>
        <p:spPr>
          <a:xfrm>
            <a:off x="9246011" y="1781042"/>
            <a:ext cx="293193" cy="2936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b="1"/>
              <a:t>3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AC5E1F85-9678-0B20-473D-187F63055E5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7861" y="5450360"/>
            <a:ext cx="1012937" cy="822646"/>
          </a:xfrm>
          <a:prstGeom prst="rect">
            <a:avLst/>
          </a:prstGeom>
        </p:spPr>
      </p:pic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D15C3BE-DD07-84A7-C4AB-D528E8338027}"/>
              </a:ext>
            </a:extLst>
          </p:cNvPr>
          <p:cNvCxnSpPr>
            <a:cxnSpLocks/>
          </p:cNvCxnSpPr>
          <p:nvPr/>
        </p:nvCxnSpPr>
        <p:spPr>
          <a:xfrm flipH="1">
            <a:off x="2940794" y="5940364"/>
            <a:ext cx="316335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ACE2149B-E25A-6C5A-F3E3-023BC7B0CCCF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15" t="36626" r="1470"/>
          <a:stretch/>
        </p:blipFill>
        <p:spPr>
          <a:xfrm>
            <a:off x="5551056" y="3449886"/>
            <a:ext cx="2814769" cy="1855958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398F62C-F2F0-16F2-14FD-9611C73F85F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4461" y="5509112"/>
            <a:ext cx="1012937" cy="822646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801FC78-D9F7-F735-5076-4A1B352E4EE3}"/>
              </a:ext>
            </a:extLst>
          </p:cNvPr>
          <p:cNvCxnSpPr>
            <a:cxnSpLocks/>
          </p:cNvCxnSpPr>
          <p:nvPr/>
        </p:nvCxnSpPr>
        <p:spPr>
          <a:xfrm flipH="1">
            <a:off x="7255339" y="5605416"/>
            <a:ext cx="316335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3">
            <a:extLst>
              <a:ext uri="{FF2B5EF4-FFF2-40B4-BE49-F238E27FC236}">
                <a16:creationId xmlns:a16="http://schemas.microsoft.com/office/drawing/2014/main" id="{34CE9FA8-4B7A-3194-836F-F4A2E2587A4B}"/>
              </a:ext>
            </a:extLst>
          </p:cNvPr>
          <p:cNvSpPr txBox="1">
            <a:spLocks/>
          </p:cNvSpPr>
          <p:nvPr/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2900"/>
              </a:lnSpc>
              <a:spcBef>
                <a:spcPct val="0"/>
              </a:spcBef>
              <a:buNone/>
              <a:defRPr sz="2700" b="1" kern="1200" spc="-4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RetroFIT</a:t>
            </a:r>
            <a:r>
              <a:rPr lang="en-US"/>
              <a:t>+  – </a:t>
            </a:r>
            <a:r>
              <a:rPr lang="sv-SE"/>
              <a:t>Ett enkelt tillvägagångssätt.</a:t>
            </a:r>
          </a:p>
          <a:p>
            <a:r>
              <a:rPr lang="sv-SE">
                <a:solidFill>
                  <a:schemeClr val="lt2"/>
                </a:solidFill>
              </a:rPr>
              <a:t>Vi tar bort komplexiteten i ditt eftermonteringsprojekt.</a:t>
            </a:r>
            <a:endParaRPr lang="en-US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56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 animBg="1"/>
      <p:bldP spid="20" grpId="0" animBg="1"/>
      <p:bldP spid="14" grpId="0" animBg="1"/>
      <p:bldP spid="22" grpId="0" animBg="1"/>
      <p:bldP spid="23" grpId="0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30727B4-6D5D-7980-A3B5-30E7CE8FB1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0727B4-6D5D-7980-A3B5-30E7CE8FB1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FBC33ED-8ACA-0F4D-3263-C5A01F5C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"/>
              <a:t>RetroFIT + Utvärderingsverktyg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0DD27-A0FF-74A0-6E70-F33B38999A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125912-DBAF-4934-9993-DB331D78399A}" type="slidenum">
              <a:rPr lang="en-US" smtClean="0"/>
              <a:t>10</a:t>
            </a:fld>
            <a:r>
              <a:rPr lang="de"/>
              <a:t>/77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EC545CD-4583-39B3-498F-7E2F87799F2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4418" y="1890713"/>
            <a:ext cx="5352381" cy="4076190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0575C78-62A6-BA40-C16F-18896CEA4F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890713"/>
            <a:ext cx="5684874" cy="381583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sv-SE"/>
              <a:t>Utvärderar byggnadens nuvarande skick enligt ISO 52120</a:t>
            </a:r>
          </a:p>
          <a:p>
            <a:pPr>
              <a:spcAft>
                <a:spcPts val="1200"/>
              </a:spcAft>
            </a:pPr>
            <a:r>
              <a:rPr lang="sv-SE"/>
              <a:t>Ger en vision av en framtida situation</a:t>
            </a:r>
            <a:endParaRPr lang="en-US"/>
          </a:p>
          <a:p>
            <a:pPr>
              <a:spcAft>
                <a:spcPts val="1200"/>
              </a:spcAft>
            </a:pPr>
            <a:r>
              <a:rPr lang="en-US"/>
              <a:t>Information om </a:t>
            </a:r>
            <a:r>
              <a:rPr lang="en-US" err="1"/>
              <a:t>potentiell</a:t>
            </a:r>
            <a:r>
              <a:rPr lang="en-US"/>
              <a:t> CO2 </a:t>
            </a:r>
            <a:r>
              <a:rPr lang="en-US" err="1"/>
              <a:t>besparning</a:t>
            </a:r>
            <a:endParaRPr lang="en-US"/>
          </a:p>
          <a:p>
            <a:pPr>
              <a:spcAft>
                <a:spcPts val="1200"/>
              </a:spcAft>
            </a:pPr>
            <a:r>
              <a:rPr lang="sv-SE"/>
              <a:t>Skapa ett beslutsunderlag för renoveringsprojektet (”break-even </a:t>
            </a:r>
            <a:r>
              <a:rPr lang="sv-SE" err="1"/>
              <a:t>point</a:t>
            </a:r>
            <a:r>
              <a:rPr lang="sv-SE"/>
              <a:t>”, avkastning på investeringen, intern avkastning)</a:t>
            </a:r>
            <a:endParaRPr lang="de"/>
          </a:p>
        </p:txBody>
      </p:sp>
    </p:spTree>
    <p:extLst>
      <p:ext uri="{BB962C8B-B14F-4D97-AF65-F5344CB8AC3E}">
        <p14:creationId xmlns:p14="http://schemas.microsoft.com/office/powerpoint/2010/main" val="413391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èche : chevron 15">
            <a:extLst>
              <a:ext uri="{FF2B5EF4-FFF2-40B4-BE49-F238E27FC236}">
                <a16:creationId xmlns:a16="http://schemas.microsoft.com/office/drawing/2014/main" id="{D5139561-CEE1-D890-D923-EBCA8C4899E8}"/>
              </a:ext>
            </a:extLst>
          </p:cNvPr>
          <p:cNvSpPr/>
          <p:nvPr/>
        </p:nvSpPr>
        <p:spPr>
          <a:xfrm>
            <a:off x="9460554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0" name="Flèche : chevron 19">
            <a:extLst>
              <a:ext uri="{FF2B5EF4-FFF2-40B4-BE49-F238E27FC236}">
                <a16:creationId xmlns:a16="http://schemas.microsoft.com/office/drawing/2014/main" id="{41CDF94D-F7E0-F839-B990-67270D1F2460}"/>
              </a:ext>
            </a:extLst>
          </p:cNvPr>
          <p:cNvSpPr/>
          <p:nvPr/>
        </p:nvSpPr>
        <p:spPr>
          <a:xfrm>
            <a:off x="5007215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1" name="Flèche : chevron 20">
            <a:extLst>
              <a:ext uri="{FF2B5EF4-FFF2-40B4-BE49-F238E27FC236}">
                <a16:creationId xmlns:a16="http://schemas.microsoft.com/office/drawing/2014/main" id="{F2F71AB3-7DE2-A001-B980-3B0E0A474E34}"/>
              </a:ext>
            </a:extLst>
          </p:cNvPr>
          <p:cNvSpPr/>
          <p:nvPr/>
        </p:nvSpPr>
        <p:spPr>
          <a:xfrm>
            <a:off x="7233884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9" name="Flèche : chevron 18">
            <a:extLst>
              <a:ext uri="{FF2B5EF4-FFF2-40B4-BE49-F238E27FC236}">
                <a16:creationId xmlns:a16="http://schemas.microsoft.com/office/drawing/2014/main" id="{B7C33BF1-14D2-A8C9-359A-E746620228C0}"/>
              </a:ext>
            </a:extLst>
          </p:cNvPr>
          <p:cNvSpPr/>
          <p:nvPr/>
        </p:nvSpPr>
        <p:spPr>
          <a:xfrm>
            <a:off x="2780546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A3D8BC-D250-A5E2-E66D-BEB5AE8A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 modules for project management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BBAF81-6660-A7CD-8B5E-DC0BC5912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AFBD85-A417-43FD-9D9B-6ABFF43C719F}" type="slidenum">
              <a:rPr lang="en-US" smtClean="0"/>
              <a:t>11</a:t>
            </a:fld>
            <a:r>
              <a:rPr lang="de"/>
              <a:t>/77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35A7F21-1DD4-3503-F3C2-940DC30E0540}"/>
              </a:ext>
            </a:extLst>
          </p:cNvPr>
          <p:cNvSpPr txBox="1"/>
          <p:nvPr/>
        </p:nvSpPr>
        <p:spPr>
          <a:xfrm>
            <a:off x="713978" y="3697443"/>
            <a:ext cx="222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FR" b="1" cap="all">
                <a:solidFill>
                  <a:srgbClr val="000000"/>
                </a:solidFill>
                <a:highlight>
                  <a:srgbClr val="FFFFFF"/>
                </a:highlight>
                <a:latin typeface="inherit"/>
              </a:rPr>
              <a:t>Rating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5D92312-921B-877D-6D26-0CE8F3CE4E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3836" y="2060908"/>
            <a:ext cx="1580959" cy="1144209"/>
          </a:xfrm>
          <a:prstGeom prst="rect">
            <a:avLst/>
          </a:prstGeom>
        </p:spPr>
      </p:pic>
      <p:sp>
        <p:nvSpPr>
          <p:cNvPr id="18" name="Flèche : chevron 17">
            <a:extLst>
              <a:ext uri="{FF2B5EF4-FFF2-40B4-BE49-F238E27FC236}">
                <a16:creationId xmlns:a16="http://schemas.microsoft.com/office/drawing/2014/main" id="{5E116762-43AB-56C7-3EAF-7A8285C2CE99}"/>
              </a:ext>
            </a:extLst>
          </p:cNvPr>
          <p:cNvSpPr/>
          <p:nvPr/>
        </p:nvSpPr>
        <p:spPr>
          <a:xfrm>
            <a:off x="553877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91681C-5F69-D5BA-3957-DF38AF113F2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1339" y="2086029"/>
            <a:ext cx="1460148" cy="111178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DBCAEDF-70DA-DE87-7418-CCFF16D1ECD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9061" y="2075343"/>
            <a:ext cx="1149551" cy="108448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F8723B0-EB11-4BB4-616A-D38F39AB998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07138" y="2106039"/>
            <a:ext cx="1287952" cy="103036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83BF20A-2FBE-47C8-B70A-8D3E61CAE58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9985" y="2096660"/>
            <a:ext cx="1580959" cy="1081172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F909B9A2-D3AD-6FE7-5FC1-017DB308DAC1}"/>
              </a:ext>
            </a:extLst>
          </p:cNvPr>
          <p:cNvSpPr txBox="1"/>
          <p:nvPr/>
        </p:nvSpPr>
        <p:spPr>
          <a:xfrm>
            <a:off x="2864445" y="3697443"/>
            <a:ext cx="1900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CH" b="1" cap="all">
                <a:solidFill>
                  <a:srgbClr val="000000"/>
                </a:solidFill>
                <a:latin typeface="inherit"/>
              </a:rPr>
              <a:t>BASIC BUILDINGS</a:t>
            </a:r>
          </a:p>
          <a:p>
            <a:pPr fontAlgn="base"/>
            <a:r>
              <a:rPr lang="de-CH" b="1" cap="all">
                <a:solidFill>
                  <a:srgbClr val="000000"/>
                </a:solidFill>
                <a:latin typeface="inherit"/>
              </a:rPr>
              <a:t>INFORMATION</a:t>
            </a:r>
            <a:endParaRPr lang="fr-FR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89A3264-54A9-9784-8B9D-439740958385}"/>
              </a:ext>
            </a:extLst>
          </p:cNvPr>
          <p:cNvSpPr txBox="1"/>
          <p:nvPr/>
        </p:nvSpPr>
        <p:spPr>
          <a:xfrm>
            <a:off x="5102276" y="3697443"/>
            <a:ext cx="21316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cap="all">
                <a:solidFill>
                  <a:srgbClr val="000000"/>
                </a:solidFill>
                <a:latin typeface="inherit"/>
              </a:rPr>
              <a:t>HVAC ASSESSMENT BASED ON</a:t>
            </a:r>
          </a:p>
          <a:p>
            <a:pPr fontAlgn="base"/>
            <a:r>
              <a:rPr lang="en-US" b="1" cap="all">
                <a:solidFill>
                  <a:srgbClr val="000000"/>
                </a:solidFill>
                <a:latin typeface="inherit"/>
              </a:rPr>
              <a:t>ISO 52120</a:t>
            </a:r>
            <a:endParaRPr lang="en-US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6002A2D-0AD6-36FA-BC13-CE0FFD1C6730}"/>
              </a:ext>
            </a:extLst>
          </p:cNvPr>
          <p:cNvSpPr txBox="1"/>
          <p:nvPr/>
        </p:nvSpPr>
        <p:spPr>
          <a:xfrm>
            <a:off x="7328946" y="3697443"/>
            <a:ext cx="2007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CH" b="1" cap="all">
                <a:solidFill>
                  <a:srgbClr val="000000"/>
                </a:solidFill>
                <a:latin typeface="inherit"/>
              </a:rPr>
              <a:t>SIMPLIFIED DIAGRAMS</a:t>
            </a:r>
            <a:endParaRPr lang="fr-FR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1AD6AC0-1F95-1C60-CF72-D471A619E886}"/>
              </a:ext>
            </a:extLst>
          </p:cNvPr>
          <p:cNvSpPr txBox="1"/>
          <p:nvPr/>
        </p:nvSpPr>
        <p:spPr>
          <a:xfrm>
            <a:off x="9633626" y="3697443"/>
            <a:ext cx="225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CH" b="1" cap="all">
                <a:solidFill>
                  <a:srgbClr val="000000"/>
                </a:solidFill>
                <a:latin typeface="inherit"/>
              </a:rPr>
              <a:t>REPORT + MEASURES</a:t>
            </a:r>
            <a:endParaRPr lang="fr-FR" b="1" i="0" cap="all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530E76-5D72-8310-446D-C05F8D0AA3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RetroFIT+ 07/2024</a:t>
            </a:r>
            <a:endParaRPr lang="de"/>
          </a:p>
        </p:txBody>
      </p:sp>
    </p:spTree>
    <p:extLst>
      <p:ext uri="{BB962C8B-B14F-4D97-AF65-F5344CB8AC3E}">
        <p14:creationId xmlns:p14="http://schemas.microsoft.com/office/powerpoint/2010/main" val="45913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19" grpId="0" animBg="1"/>
      <p:bldP spid="8" grpId="0"/>
      <p:bldP spid="18" grpId="0" animBg="1"/>
      <p:bldP spid="34" grpId="0"/>
      <p:bldP spid="36" grpId="0"/>
      <p:bldP spid="38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2A47-1B04-5B62-8B34-52E85788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E81E-9F8E-C70F-6B72-0FE88BFC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Vad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RetroFit</a:t>
            </a:r>
            <a:r>
              <a:rPr lang="en-US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34A4AE-4D76-D507-B406-AEE4E86713A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err="1"/>
              <a:t>Lösningen</a:t>
            </a:r>
            <a:r>
              <a:rPr lang="en-US"/>
              <a:t>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skräddarsydd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74AB27-A07B-948E-649E-40498410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12</a:t>
            </a:fld>
            <a:endParaRPr lang="en-US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16B0436D-BE7F-22EA-C90F-C5EDC8261D3B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4" name="Bild 3" descr="Sjukvård kontur">
              <a:extLst>
                <a:ext uri="{FF2B5EF4-FFF2-40B4-BE49-F238E27FC236}">
                  <a16:creationId xmlns:a16="http://schemas.microsoft.com/office/drawing/2014/main" id="{D0AF4A1A-FA76-E7E6-C3B9-743E7EEDA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B9118D67-8E3A-D2FC-4D96-9997C9F0DBD1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8" name="Bild 7" descr="Sjukhus kontur">
                <a:extLst>
                  <a:ext uri="{FF2B5EF4-FFF2-40B4-BE49-F238E27FC236}">
                    <a16:creationId xmlns:a16="http://schemas.microsoft.com/office/drawing/2014/main" id="{C07F35C7-0BCF-466F-0B55-4896F1272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8C870595-F1C8-608D-77CE-CF16A0FF8B5C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Sjukhus</a:t>
                </a:r>
                <a:endParaRPr lang="en-US"/>
              </a:p>
            </p:txBody>
          </p:sp>
        </p:grpSp>
      </p:grpSp>
      <p:grpSp>
        <p:nvGrpSpPr>
          <p:cNvPr id="31" name="Grupp 30">
            <a:extLst>
              <a:ext uri="{FF2B5EF4-FFF2-40B4-BE49-F238E27FC236}">
                <a16:creationId xmlns:a16="http://schemas.microsoft.com/office/drawing/2014/main" id="{3C64CF66-67C3-2177-9234-9B62D0E981F2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802682" y="4789044"/>
            <a:chExt cx="1159234" cy="1641559"/>
          </a:xfrm>
        </p:grpSpPr>
        <p:pic>
          <p:nvPicPr>
            <p:cNvPr id="16" name="Bild 15" descr="Hotellklocka kontur">
              <a:extLst>
                <a:ext uri="{FF2B5EF4-FFF2-40B4-BE49-F238E27FC236}">
                  <a16:creationId xmlns:a16="http://schemas.microsoft.com/office/drawing/2014/main" id="{D97B5A79-88A8-B511-B4A5-6924CF2F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02682" y="4789044"/>
              <a:ext cx="1159234" cy="1159234"/>
            </a:xfrm>
            <a:prstGeom prst="rect">
              <a:avLst/>
            </a:prstGeom>
          </p:spPr>
        </p:pic>
        <p:sp>
          <p:nvSpPr>
            <p:cNvPr id="24" name="textruta 23">
              <a:extLst>
                <a:ext uri="{FF2B5EF4-FFF2-40B4-BE49-F238E27FC236}">
                  <a16:creationId xmlns:a16="http://schemas.microsoft.com/office/drawing/2014/main" id="{1902487A-61FC-8CDA-42E7-854C5024BE1A}"/>
                </a:ext>
              </a:extLst>
            </p:cNvPr>
            <p:cNvSpPr txBox="1"/>
            <p:nvPr/>
          </p:nvSpPr>
          <p:spPr>
            <a:xfrm>
              <a:off x="7000304" y="606127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Hotell</a:t>
              </a:r>
              <a:endParaRPr lang="en-US"/>
            </a:p>
          </p:txBody>
        </p:sp>
      </p:grpSp>
      <p:sp>
        <p:nvSpPr>
          <p:cNvPr id="3" name="textruta 2">
            <a:extLst>
              <a:ext uri="{FF2B5EF4-FFF2-40B4-BE49-F238E27FC236}">
                <a16:creationId xmlns:a16="http://schemas.microsoft.com/office/drawing/2014/main" id="{66C69F66-1574-BF1D-24CB-2CC2DBFA0272}"/>
              </a:ext>
            </a:extLst>
          </p:cNvPr>
          <p:cNvSpPr txBox="1"/>
          <p:nvPr/>
        </p:nvSpPr>
        <p:spPr>
          <a:xfrm>
            <a:off x="937245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-14%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7CFE304A-196F-4F78-625F-E383E78C147C}"/>
              </a:ext>
            </a:extLst>
          </p:cNvPr>
          <p:cNvSpPr txBox="1"/>
          <p:nvPr/>
        </p:nvSpPr>
        <p:spPr>
          <a:xfrm>
            <a:off x="3119517" y="327687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- 20%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98E439BB-7589-5EC2-6609-60227C8D0970}"/>
              </a:ext>
            </a:extLst>
          </p:cNvPr>
          <p:cNvSpPr txBox="1"/>
          <p:nvPr/>
        </p:nvSpPr>
        <p:spPr>
          <a:xfrm>
            <a:off x="5094396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-32%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C6789B02-61BA-C2B8-969D-05ECA5F256F1}"/>
              </a:ext>
            </a:extLst>
          </p:cNvPr>
          <p:cNvSpPr txBox="1"/>
          <p:nvPr/>
        </p:nvSpPr>
        <p:spPr>
          <a:xfrm>
            <a:off x="6744110" y="327729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-32 %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61A74CE-EF0E-8C83-5C9A-00DF47DDEF5F}"/>
              </a:ext>
            </a:extLst>
          </p:cNvPr>
          <p:cNvSpPr txBox="1"/>
          <p:nvPr/>
        </p:nvSpPr>
        <p:spPr>
          <a:xfrm>
            <a:off x="8164188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-40%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11C1EA55-061F-9F13-7949-EE4BE3B2E29C}"/>
              </a:ext>
            </a:extLst>
          </p:cNvPr>
          <p:cNvSpPr txBox="1"/>
          <p:nvPr/>
        </p:nvSpPr>
        <p:spPr>
          <a:xfrm>
            <a:off x="9768408" y="327130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-30%</a:t>
            </a: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403EFD3D-B4F2-A619-1D1E-11D8BFECAD53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19" name="Bild 18" descr="Sjukvård kontur">
              <a:extLst>
                <a:ext uri="{FF2B5EF4-FFF2-40B4-BE49-F238E27FC236}">
                  <a16:creationId xmlns:a16="http://schemas.microsoft.com/office/drawing/2014/main" id="{D9B1F8FF-D8C8-9274-AA60-945EA3EE6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34" name="Grupp 33">
              <a:extLst>
                <a:ext uri="{FF2B5EF4-FFF2-40B4-BE49-F238E27FC236}">
                  <a16:creationId xmlns:a16="http://schemas.microsoft.com/office/drawing/2014/main" id="{64A70846-18C3-FE3B-6795-33F3A2CCC1D8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35" name="Bild 34" descr="Sjukhus kontur">
                <a:extLst>
                  <a:ext uri="{FF2B5EF4-FFF2-40B4-BE49-F238E27FC236}">
                    <a16:creationId xmlns:a16="http://schemas.microsoft.com/office/drawing/2014/main" id="{B636D3CF-BA64-D385-610C-880A0C6DE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DDEC33CE-3337-B1E6-9F97-211E5246BB95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Sjukhus</a:t>
                </a:r>
                <a:endParaRPr lang="en-US"/>
              </a:p>
            </p:txBody>
          </p:sp>
        </p:grpSp>
      </p:grpSp>
      <p:grpSp>
        <p:nvGrpSpPr>
          <p:cNvPr id="37" name="Grupp 36">
            <a:extLst>
              <a:ext uri="{FF2B5EF4-FFF2-40B4-BE49-F238E27FC236}">
                <a16:creationId xmlns:a16="http://schemas.microsoft.com/office/drawing/2014/main" id="{DE8E25F8-DC9E-7596-7FB8-F4F5DB821D6E}"/>
              </a:ext>
            </a:extLst>
          </p:cNvPr>
          <p:cNvGrpSpPr/>
          <p:nvPr/>
        </p:nvGrpSpPr>
        <p:grpSpPr>
          <a:xfrm>
            <a:off x="2639616" y="3868117"/>
            <a:ext cx="2044149" cy="2299627"/>
            <a:chOff x="2639616" y="3868117"/>
            <a:chExt cx="2044149" cy="2299627"/>
          </a:xfrm>
        </p:grpSpPr>
        <p:sp>
          <p:nvSpPr>
            <p:cNvPr id="38" name="textruta 37">
              <a:extLst>
                <a:ext uri="{FF2B5EF4-FFF2-40B4-BE49-F238E27FC236}">
                  <a16:creationId xmlns:a16="http://schemas.microsoft.com/office/drawing/2014/main" id="{F125C050-5BFA-1DFA-A2A1-175A871DEF46}"/>
                </a:ext>
              </a:extLst>
            </p:cNvPr>
            <p:cNvSpPr txBox="1"/>
            <p:nvPr/>
          </p:nvSpPr>
          <p:spPr>
            <a:xfrm>
              <a:off x="2639616" y="579841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Utbildn.byggnader</a:t>
              </a:r>
              <a:endParaRPr lang="en-US"/>
            </a:p>
          </p:txBody>
        </p:sp>
        <p:pic>
          <p:nvPicPr>
            <p:cNvPr id="39" name="Bild 38" descr="Skola kontur">
              <a:extLst>
                <a:ext uri="{FF2B5EF4-FFF2-40B4-BE49-F238E27FC236}">
                  <a16:creationId xmlns:a16="http://schemas.microsoft.com/office/drawing/2014/main" id="{E462F380-DB93-29F2-AB6B-6022B32A8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51174" y="4303826"/>
              <a:ext cx="1549297" cy="1549297"/>
            </a:xfrm>
            <a:prstGeom prst="rect">
              <a:avLst/>
            </a:prstGeom>
          </p:spPr>
        </p:pic>
        <p:pic>
          <p:nvPicPr>
            <p:cNvPr id="40" name="Bild 39" descr="Läraren har kontur">
              <a:extLst>
                <a:ext uri="{FF2B5EF4-FFF2-40B4-BE49-F238E27FC236}">
                  <a16:creationId xmlns:a16="http://schemas.microsoft.com/office/drawing/2014/main" id="{3468CFA0-25D1-E1F5-04BF-82B15B192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18301" y="3868117"/>
              <a:ext cx="609407" cy="609407"/>
            </a:xfrm>
            <a:prstGeom prst="rect">
              <a:avLst/>
            </a:prstGeom>
          </p:spPr>
        </p:pic>
      </p:grpSp>
      <p:grpSp>
        <p:nvGrpSpPr>
          <p:cNvPr id="41" name="Grupp 40">
            <a:extLst>
              <a:ext uri="{FF2B5EF4-FFF2-40B4-BE49-F238E27FC236}">
                <a16:creationId xmlns:a16="http://schemas.microsoft.com/office/drawing/2014/main" id="{9103E8FD-A854-EB75-99D4-F9C63322E3C0}"/>
              </a:ext>
            </a:extLst>
          </p:cNvPr>
          <p:cNvGrpSpPr/>
          <p:nvPr/>
        </p:nvGrpSpPr>
        <p:grpSpPr>
          <a:xfrm>
            <a:off x="4735562" y="4768826"/>
            <a:ext cx="1582484" cy="1366321"/>
            <a:chOff x="4735562" y="4768826"/>
            <a:chExt cx="1582484" cy="1366321"/>
          </a:xfrm>
        </p:grpSpPr>
        <p:sp>
          <p:nvSpPr>
            <p:cNvPr id="42" name="textruta 41">
              <a:extLst>
                <a:ext uri="{FF2B5EF4-FFF2-40B4-BE49-F238E27FC236}">
                  <a16:creationId xmlns:a16="http://schemas.microsoft.com/office/drawing/2014/main" id="{EC2FA340-70D8-CA39-106C-4E023AE438FC}"/>
                </a:ext>
              </a:extLst>
            </p:cNvPr>
            <p:cNvSpPr txBox="1"/>
            <p:nvPr/>
          </p:nvSpPr>
          <p:spPr>
            <a:xfrm>
              <a:off x="4735562" y="5765815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Restauranger</a:t>
              </a:r>
              <a:endParaRPr lang="en-US"/>
            </a:p>
          </p:txBody>
        </p:sp>
        <p:pic>
          <p:nvPicPr>
            <p:cNvPr id="43" name="Bild 42" descr="Kniv och gaffel kontur">
              <a:extLst>
                <a:ext uri="{FF2B5EF4-FFF2-40B4-BE49-F238E27FC236}">
                  <a16:creationId xmlns:a16="http://schemas.microsoft.com/office/drawing/2014/main" id="{10007B1B-95BF-B338-586B-586C843A7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20484" y="4768826"/>
              <a:ext cx="914400" cy="914400"/>
            </a:xfrm>
            <a:prstGeom prst="rect">
              <a:avLst/>
            </a:prstGeom>
          </p:spPr>
        </p:pic>
      </p:grpSp>
      <p:grpSp>
        <p:nvGrpSpPr>
          <p:cNvPr id="44" name="Grupp 43">
            <a:extLst>
              <a:ext uri="{FF2B5EF4-FFF2-40B4-BE49-F238E27FC236}">
                <a16:creationId xmlns:a16="http://schemas.microsoft.com/office/drawing/2014/main" id="{CAD8487C-0D27-3649-6271-E26A9CF024B1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353171" y="4303827"/>
            <a:chExt cx="1520837" cy="1827776"/>
          </a:xfrm>
        </p:grpSpPr>
        <p:grpSp>
          <p:nvGrpSpPr>
            <p:cNvPr id="45" name="Grupp 44">
              <a:extLst>
                <a:ext uri="{FF2B5EF4-FFF2-40B4-BE49-F238E27FC236}">
                  <a16:creationId xmlns:a16="http://schemas.microsoft.com/office/drawing/2014/main" id="{2D58CB85-6FC6-FF30-E5DF-718FBEA5FA76}"/>
                </a:ext>
              </a:extLst>
            </p:cNvPr>
            <p:cNvGrpSpPr/>
            <p:nvPr/>
          </p:nvGrpSpPr>
          <p:grpSpPr>
            <a:xfrm>
              <a:off x="6353171" y="4303827"/>
              <a:ext cx="1520837" cy="1827776"/>
              <a:chOff x="6802682" y="4789044"/>
              <a:chExt cx="1159234" cy="1641559"/>
            </a:xfrm>
          </p:grpSpPr>
          <p:pic>
            <p:nvPicPr>
              <p:cNvPr id="47" name="Bild 46" descr="Hotellklocka kontur">
                <a:extLst>
                  <a:ext uri="{FF2B5EF4-FFF2-40B4-BE49-F238E27FC236}">
                    <a16:creationId xmlns:a16="http://schemas.microsoft.com/office/drawing/2014/main" id="{42CC8393-7BF2-C48E-7EFF-F63BB9D51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802682" y="4789044"/>
                <a:ext cx="1159234" cy="1159234"/>
              </a:xfrm>
              <a:prstGeom prst="rect">
                <a:avLst/>
              </a:prstGeom>
            </p:spPr>
          </p:pic>
          <p:sp>
            <p:nvSpPr>
              <p:cNvPr id="48" name="textruta 47">
                <a:extLst>
                  <a:ext uri="{FF2B5EF4-FFF2-40B4-BE49-F238E27FC236}">
                    <a16:creationId xmlns:a16="http://schemas.microsoft.com/office/drawing/2014/main" id="{5E8BE234-DC6F-85A6-5B98-9BD4557A5231}"/>
                  </a:ext>
                </a:extLst>
              </p:cNvPr>
              <p:cNvSpPr txBox="1"/>
              <p:nvPr/>
            </p:nvSpPr>
            <p:spPr>
              <a:xfrm>
                <a:off x="7000304" y="6061271"/>
                <a:ext cx="774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Hotell</a:t>
                </a:r>
                <a:endParaRPr lang="en-US"/>
              </a:p>
            </p:txBody>
          </p:sp>
        </p:grpSp>
        <p:pic>
          <p:nvPicPr>
            <p:cNvPr id="46" name="Bild 45" descr="Hotellklocka kontur">
              <a:extLst>
                <a:ext uri="{FF2B5EF4-FFF2-40B4-BE49-F238E27FC236}">
                  <a16:creationId xmlns:a16="http://schemas.microsoft.com/office/drawing/2014/main" id="{EAE8A9EB-2A59-6A86-4059-19AA3DC48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98382" y="4600320"/>
              <a:ext cx="1094748" cy="1094748"/>
            </a:xfrm>
            <a:prstGeom prst="rect">
              <a:avLst/>
            </a:prstGeom>
          </p:spPr>
        </p:pic>
      </p:grpSp>
      <p:grpSp>
        <p:nvGrpSpPr>
          <p:cNvPr id="49" name="Grupp 48">
            <a:extLst>
              <a:ext uri="{FF2B5EF4-FFF2-40B4-BE49-F238E27FC236}">
                <a16:creationId xmlns:a16="http://schemas.microsoft.com/office/drawing/2014/main" id="{897DF458-2373-3B0A-D721-07325DC4F231}"/>
              </a:ext>
            </a:extLst>
          </p:cNvPr>
          <p:cNvGrpSpPr/>
          <p:nvPr/>
        </p:nvGrpSpPr>
        <p:grpSpPr>
          <a:xfrm>
            <a:off x="7874009" y="4542114"/>
            <a:ext cx="1612416" cy="1546621"/>
            <a:chOff x="7874009" y="4542114"/>
            <a:chExt cx="1612416" cy="1546621"/>
          </a:xfrm>
        </p:grpSpPr>
        <p:sp>
          <p:nvSpPr>
            <p:cNvPr id="50" name="textruta 49">
              <a:extLst>
                <a:ext uri="{FF2B5EF4-FFF2-40B4-BE49-F238E27FC236}">
                  <a16:creationId xmlns:a16="http://schemas.microsoft.com/office/drawing/2014/main" id="{16555938-D65D-3DAC-C0E8-E61BCAC00494}"/>
                </a:ext>
              </a:extLst>
            </p:cNvPr>
            <p:cNvSpPr txBox="1"/>
            <p:nvPr/>
          </p:nvSpPr>
          <p:spPr>
            <a:xfrm>
              <a:off x="7874009" y="5674286"/>
              <a:ext cx="1612416" cy="4144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Köpcentrum</a:t>
              </a:r>
              <a:endParaRPr lang="en-US"/>
            </a:p>
          </p:txBody>
        </p:sp>
        <p:pic>
          <p:nvPicPr>
            <p:cNvPr id="51" name="Bild 50" descr="Kasse med hel fyllning">
              <a:extLst>
                <a:ext uri="{FF2B5EF4-FFF2-40B4-BE49-F238E27FC236}">
                  <a16:creationId xmlns:a16="http://schemas.microsoft.com/office/drawing/2014/main" id="{8267F8C1-FA1F-4ECC-1ECE-CD3B21C0F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46695" y="4542114"/>
              <a:ext cx="914400" cy="914400"/>
            </a:xfrm>
            <a:prstGeom prst="rect">
              <a:avLst/>
            </a:prstGeom>
          </p:spPr>
        </p:pic>
      </p:grpSp>
      <p:grpSp>
        <p:nvGrpSpPr>
          <p:cNvPr id="52" name="Grupp 51">
            <a:extLst>
              <a:ext uri="{FF2B5EF4-FFF2-40B4-BE49-F238E27FC236}">
                <a16:creationId xmlns:a16="http://schemas.microsoft.com/office/drawing/2014/main" id="{1D684838-6703-D6C4-1B15-FA4105F37996}"/>
              </a:ext>
            </a:extLst>
          </p:cNvPr>
          <p:cNvGrpSpPr/>
          <p:nvPr/>
        </p:nvGrpSpPr>
        <p:grpSpPr>
          <a:xfrm>
            <a:off x="9672968" y="4600320"/>
            <a:ext cx="1103552" cy="1441141"/>
            <a:chOff x="9672968" y="4600320"/>
            <a:chExt cx="1103552" cy="1441141"/>
          </a:xfrm>
        </p:grpSpPr>
        <p:sp>
          <p:nvSpPr>
            <p:cNvPr id="53" name="textruta 52">
              <a:extLst>
                <a:ext uri="{FF2B5EF4-FFF2-40B4-BE49-F238E27FC236}">
                  <a16:creationId xmlns:a16="http://schemas.microsoft.com/office/drawing/2014/main" id="{E011B6F2-CA97-BA66-0EF7-44A953D715BA}"/>
                </a:ext>
              </a:extLst>
            </p:cNvPr>
            <p:cNvSpPr txBox="1"/>
            <p:nvPr/>
          </p:nvSpPr>
          <p:spPr>
            <a:xfrm>
              <a:off x="9867304" y="567212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Kontor</a:t>
              </a:r>
              <a:endParaRPr lang="en-US"/>
            </a:p>
          </p:txBody>
        </p:sp>
        <p:pic>
          <p:nvPicPr>
            <p:cNvPr id="54" name="Bild 53" descr="Stad kontur">
              <a:extLst>
                <a:ext uri="{FF2B5EF4-FFF2-40B4-BE49-F238E27FC236}">
                  <a16:creationId xmlns:a16="http://schemas.microsoft.com/office/drawing/2014/main" id="{455084CC-2CB5-5D49-B29D-226CF4D27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672968" y="4600320"/>
              <a:ext cx="1103552" cy="110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55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564EF2-281C-9732-6979-750AC64BE5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564EF2-281C-9732-6979-750AC64BE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">
            <a:extLst>
              <a:ext uri="{FF2B5EF4-FFF2-40B4-BE49-F238E27FC236}">
                <a16:creationId xmlns:a16="http://schemas.microsoft.com/office/drawing/2014/main" id="{F2BB8AC3-B253-CA3B-2717-A4FB6ED287E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8901" y="549274"/>
            <a:ext cx="807793" cy="317690"/>
          </a:xfrm>
          <a:prstGeom prst="rect">
            <a:avLst/>
          </a:prstGeom>
        </p:spPr>
      </p:pic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8836A6EB-2923-1373-3B5F-5706F828C5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476274"/>
            <a:ext cx="7127765" cy="180114"/>
          </a:xfrm>
        </p:spPr>
        <p:txBody>
          <a:bodyPr lIns="0" tIns="0" rIns="0" bIns="0">
            <a:noAutofit/>
          </a:bodyPr>
          <a:lstStyle/>
          <a:p>
            <a:r>
              <a:rPr lang="en-US" sz="900">
                <a:latin typeface="Arial Nova" panose="020B0504020202020204" pitchFamily="34" charset="0"/>
              </a:rPr>
              <a:t>Effective levers for CO</a:t>
            </a:r>
            <a:r>
              <a:rPr lang="en-US" sz="900" baseline="-25000">
                <a:latin typeface="Arial Nova" panose="020B0504020202020204" pitchFamily="34" charset="0"/>
              </a:rPr>
              <a:t>2</a:t>
            </a:r>
            <a:r>
              <a:rPr lang="en-US" sz="900">
                <a:latin typeface="Arial Nova" panose="020B0504020202020204" pitchFamily="34" charset="0"/>
              </a:rPr>
              <a:t> reduction in existing buildings, April 17, 2024</a:t>
            </a:r>
          </a:p>
        </p:txBody>
      </p:sp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9E66E9F7-F592-4224-6C01-279E1D9320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476274"/>
            <a:ext cx="791064" cy="180114"/>
          </a:xfrm>
        </p:spPr>
        <p:txBody>
          <a:bodyPr lIns="0" tIns="0" rIns="0" bIns="0">
            <a:noAutofit/>
          </a:bodyPr>
          <a:lstStyle/>
          <a:p>
            <a:fld id="{7B06F2F6-E945-43FC-BABC-9B8B9FFB3384}" type="slidenum">
              <a:rPr lang="en-US" sz="900" smtClean="0">
                <a:latin typeface="Arial Nova" panose="020B0504020202020204" pitchFamily="34" charset="0"/>
              </a:rPr>
              <a:pPr/>
              <a:t>13</a:t>
            </a:fld>
            <a:endParaRPr lang="en-US" sz="900">
              <a:latin typeface="Arial Nova" panose="020B0504020202020204" pitchFamily="34" charset="0"/>
            </a:endParaRPr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27CB1F24-B0B1-B809-DE7F-9CDA010832F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4313" y="4836569"/>
            <a:ext cx="4216410" cy="1457556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AC19C43-489D-3533-73DC-A45A03A05107}"/>
              </a:ext>
            </a:extLst>
          </p:cNvPr>
          <p:cNvSpPr txBox="1"/>
          <p:nvPr/>
        </p:nvSpPr>
        <p:spPr>
          <a:xfrm>
            <a:off x="8386274" y="4564758"/>
            <a:ext cx="3190865" cy="1743968"/>
          </a:xfrm>
          <a:prstGeom prst="rect">
            <a:avLst/>
          </a:prstGeom>
          <a:solidFill>
            <a:schemeClr val="bg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715963" indent="-715963" algn="ctr">
              <a:tabLst>
                <a:tab pos="1252538" algn="l"/>
              </a:tabLst>
            </a:pPr>
            <a:r>
              <a:rPr lang="en-CH" sz="2800" b="1">
                <a:solidFill>
                  <a:schemeClr val="bg1"/>
                </a:solidFill>
                <a:latin typeface="Arial Nova" panose="020B0504020202020204" pitchFamily="34" charset="0"/>
              </a:rPr>
              <a:t>7 months</a:t>
            </a:r>
          </a:p>
          <a:p>
            <a:pPr marL="715963" indent="-715963" algn="ctr">
              <a:tabLst>
                <a:tab pos="1252538" algn="l"/>
              </a:tabLst>
            </a:pPr>
            <a:r>
              <a:rPr lang="en-CH" sz="2000">
                <a:latin typeface="Arial Nova" panose="020B0504020202020204" pitchFamily="34" charset="0"/>
              </a:rPr>
              <a:t>break-even was reached</a:t>
            </a:r>
          </a:p>
          <a:p>
            <a:pPr marL="715963" indent="-715963" algn="ctr">
              <a:tabLst>
                <a:tab pos="1252538" algn="l"/>
              </a:tabLst>
            </a:pPr>
            <a:r>
              <a:rPr lang="en-CH" sz="2800" b="1">
                <a:solidFill>
                  <a:schemeClr val="bg1"/>
                </a:solidFill>
                <a:latin typeface="Arial Nova" panose="020B0504020202020204" pitchFamily="34" charset="0"/>
              </a:rPr>
              <a:t>2500 tCO</a:t>
            </a:r>
            <a:r>
              <a:rPr lang="en-CH" sz="2800" b="1" baseline="-25000">
                <a:solidFill>
                  <a:schemeClr val="bg1"/>
                </a:solidFill>
                <a:latin typeface="Arial Nova" panose="020B0504020202020204" pitchFamily="34" charset="0"/>
              </a:rPr>
              <a:t>2</a:t>
            </a:r>
            <a:endParaRPr lang="en-CH" sz="2800" b="1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marL="715963" indent="-715963" algn="ctr">
              <a:tabLst>
                <a:tab pos="1252538" algn="l"/>
              </a:tabLst>
            </a:pPr>
            <a:r>
              <a:rPr lang="en-CH" sz="2000">
                <a:latin typeface="Arial Nova" panose="020B0504020202020204" pitchFamily="34" charset="0"/>
              </a:rPr>
              <a:t>savings</a:t>
            </a:r>
          </a:p>
        </p:txBody>
      </p:sp>
      <p:pic>
        <p:nvPicPr>
          <p:cNvPr id="4" name="Picture Placeholder 6" descr="A group of pipes in a room&#10;&#10;Description automatically generated">
            <a:extLst>
              <a:ext uri="{FF2B5EF4-FFF2-40B4-BE49-F238E27FC236}">
                <a16:creationId xmlns:a16="http://schemas.microsoft.com/office/drawing/2014/main" id="{A2CAFECE-042E-5338-E456-267D9FE67AE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" t="-781" b="498"/>
          <a:stretch/>
        </p:blipFill>
        <p:spPr>
          <a:xfrm>
            <a:off x="3962400" y="1897757"/>
            <a:ext cx="4216410" cy="238059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031D9C9-4368-3F09-373B-626DF948C37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678" t="1678" r="1678" b="1678"/>
          <a:stretch/>
        </p:blipFill>
        <p:spPr>
          <a:xfrm>
            <a:off x="8386274" y="1897757"/>
            <a:ext cx="3200420" cy="2380591"/>
          </a:xfrm>
          <a:prstGeom prst="rect">
            <a:avLst/>
          </a:prstGeom>
          <a:ln>
            <a:noFill/>
          </a:ln>
        </p:spPr>
      </p:pic>
      <p:pic>
        <p:nvPicPr>
          <p:cNvPr id="12" name="Resim Yer Tutucusu 11">
            <a:extLst>
              <a:ext uri="{FF2B5EF4-FFF2-40B4-BE49-F238E27FC236}">
                <a16:creationId xmlns:a16="http://schemas.microsoft.com/office/drawing/2014/main" id="{CF0B9A34-A927-D868-269B-4E5D4C95EB0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0672" r="5692"/>
          <a:stretch/>
        </p:blipFill>
        <p:spPr>
          <a:xfrm>
            <a:off x="639449" y="1897757"/>
            <a:ext cx="3200420" cy="2382490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DCC380F1-A943-DD14-C0FF-B5BB9D968290}"/>
              </a:ext>
            </a:extLst>
          </p:cNvPr>
          <p:cNvSpPr txBox="1"/>
          <p:nvPr/>
        </p:nvSpPr>
        <p:spPr>
          <a:xfrm>
            <a:off x="3962400" y="4434348"/>
            <a:ext cx="45339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715963" indent="-715963">
              <a:tabLst>
                <a:tab pos="1252538" algn="l"/>
              </a:tabLst>
            </a:pPr>
            <a:r>
              <a:rPr lang="en-CH" sz="1600" b="1">
                <a:solidFill>
                  <a:schemeClr val="bg2"/>
                </a:solidFill>
                <a:latin typeface="Arial Nova" panose="020B0504020202020204" pitchFamily="34" charset="0"/>
              </a:rPr>
              <a:t>200</a:t>
            </a:r>
            <a:r>
              <a:rPr lang="de-DE" sz="1600"/>
              <a:t> </a:t>
            </a:r>
            <a:r>
              <a:rPr lang="en-CH" sz="1600">
                <a:latin typeface="Arial Nova" panose="020B0504020202020204" pitchFamily="34" charset="0"/>
              </a:rPr>
              <a:t>Belimo EnergyValves</a:t>
            </a:r>
            <a:r>
              <a:rPr lang="de-CH" sz="1600">
                <a:latin typeface="Arial Nova" panose="020B0504020202020204" pitchFamily="34" charset="0"/>
              </a:rPr>
              <a:t>™</a:t>
            </a:r>
            <a:r>
              <a:rPr lang="en-CH" sz="1600">
                <a:latin typeface="Arial Nova" panose="020B0504020202020204" pitchFamily="34" charset="0"/>
              </a:rPr>
              <a:t> installed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80B5B9-8DBF-C1D6-89CB-B03EC3AE915F}"/>
              </a:ext>
            </a:extLst>
          </p:cNvPr>
          <p:cNvGrpSpPr/>
          <p:nvPr/>
        </p:nvGrpSpPr>
        <p:grpSpPr>
          <a:xfrm>
            <a:off x="-3901172" y="3996357"/>
            <a:ext cx="6161772" cy="1029935"/>
            <a:chOff x="-3901172" y="3996357"/>
            <a:chExt cx="6161772" cy="1029935"/>
          </a:xfrm>
        </p:grpSpPr>
        <p:pic>
          <p:nvPicPr>
            <p:cNvPr id="15" name="Picture 14" descr="A car in a factory&#10;&#10;Description automatically generated">
              <a:extLst>
                <a:ext uri="{FF2B5EF4-FFF2-40B4-BE49-F238E27FC236}">
                  <a16:creationId xmlns:a16="http://schemas.microsoft.com/office/drawing/2014/main" id="{834B1562-DB9D-F8E1-3664-F348A5317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7376" y="3996357"/>
              <a:ext cx="1543224" cy="102993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64663F-22CD-CCA4-80BF-BFC20FE55A0B}"/>
                </a:ext>
              </a:extLst>
            </p:cNvPr>
            <p:cNvSpPr txBox="1"/>
            <p:nvPr/>
          </p:nvSpPr>
          <p:spPr>
            <a:xfrm>
              <a:off x="-3901172" y="4210816"/>
              <a:ext cx="3153107" cy="50783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Clr>
                  <a:srgbClr val="BD2429"/>
                </a:buClr>
                <a:buSzPct val="100000"/>
              </a:pPr>
              <a:r>
                <a:rPr lang="en-US" sz="1400" kern="0">
                  <a:solidFill>
                    <a:schemeClr val="tx1"/>
                  </a:solidFill>
                  <a:latin typeface="Arial Nova" panose="020B0504020202020204" pitchFamily="34" charset="0"/>
                </a:rPr>
                <a:t>Carlos Aranda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  <a:buClr>
                  <a:srgbClr val="BD2429"/>
                </a:buClr>
                <a:buSzPct val="100000"/>
              </a:pPr>
              <a:r>
                <a:rPr lang="en-US" sz="1400" kern="0">
                  <a:solidFill>
                    <a:schemeClr val="tx1"/>
                  </a:solidFill>
                  <a:latin typeface="Arial Nova" panose="020B0504020202020204" pitchFamily="34" charset="0"/>
                </a:rPr>
                <a:t>Free to use under the </a:t>
              </a:r>
              <a:r>
                <a:rPr lang="en-US" sz="1400" kern="0" err="1">
                  <a:solidFill>
                    <a:schemeClr val="tx1"/>
                  </a:solidFill>
                  <a:latin typeface="Arial Nova" panose="020B0504020202020204" pitchFamily="34" charset="0"/>
                </a:rPr>
                <a:t>Unsplash</a:t>
              </a:r>
              <a:r>
                <a:rPr lang="en-US" sz="1400" kern="0">
                  <a:solidFill>
                    <a:schemeClr val="tx1"/>
                  </a:solidFill>
                  <a:latin typeface="Arial Nova" panose="020B0504020202020204" pitchFamily="34" charset="0"/>
                </a:rPr>
                <a:t> License</a:t>
              </a:r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6B671AEA-455E-73A3-0795-7F3C61435DC8}"/>
              </a:ext>
            </a:extLst>
          </p:cNvPr>
          <p:cNvSpPr txBox="1"/>
          <p:nvPr/>
        </p:nvSpPr>
        <p:spPr>
          <a:xfrm>
            <a:off x="605306" y="1624185"/>
            <a:ext cx="1692905" cy="3526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</a:pPr>
            <a:r>
              <a:rPr lang="en-US" sz="1600" b="1" kern="0">
                <a:solidFill>
                  <a:schemeClr val="tx1"/>
                </a:solidFill>
                <a:latin typeface="Arial Nova" panose="020B0504020202020204" pitchFamily="34" charset="0"/>
              </a:rPr>
              <a:t>The existing plant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7CA41C-717C-AD01-0906-6BF304080531}"/>
              </a:ext>
            </a:extLst>
          </p:cNvPr>
          <p:cNvSpPr txBox="1"/>
          <p:nvPr/>
        </p:nvSpPr>
        <p:spPr>
          <a:xfrm>
            <a:off x="3944313" y="1624185"/>
            <a:ext cx="1692905" cy="3526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</a:pPr>
            <a:r>
              <a:rPr lang="en-US" sz="1600" b="1" kern="0">
                <a:solidFill>
                  <a:schemeClr val="bg2"/>
                </a:solidFill>
                <a:latin typeface="Arial Nova" panose="020B0504020202020204" pitchFamily="34" charset="0"/>
              </a:rPr>
              <a:t>Targeted retrofit with smart devices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C3C3F2-ABCA-AD78-654A-91BE824CDF5E}"/>
              </a:ext>
            </a:extLst>
          </p:cNvPr>
          <p:cNvSpPr txBox="1"/>
          <p:nvPr/>
        </p:nvSpPr>
        <p:spPr>
          <a:xfrm>
            <a:off x="8368187" y="1634626"/>
            <a:ext cx="1692905" cy="3526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</a:pPr>
            <a:r>
              <a:rPr lang="en-US" sz="1600" b="1" kern="0">
                <a:solidFill>
                  <a:schemeClr val="tx1"/>
                </a:solidFill>
                <a:latin typeface="Arial Nova" panose="020B0504020202020204" pitchFamily="34" charset="0"/>
              </a:rPr>
              <a:t>The payback</a:t>
            </a:r>
          </a:p>
        </p:txBody>
      </p:sp>
      <p:sp>
        <p:nvSpPr>
          <p:cNvPr id="17" name="Title 13">
            <a:extLst>
              <a:ext uri="{FF2B5EF4-FFF2-40B4-BE49-F238E27FC236}">
                <a16:creationId xmlns:a16="http://schemas.microsoft.com/office/drawing/2014/main" id="{D0C51ED8-E2BF-420C-6DCE-5D759A418692}"/>
              </a:ext>
            </a:extLst>
          </p:cNvPr>
          <p:cNvSpPr txBox="1">
            <a:spLocks/>
          </p:cNvSpPr>
          <p:nvPr/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2900"/>
              </a:lnSpc>
              <a:spcBef>
                <a:spcPct val="0"/>
              </a:spcBef>
              <a:buNone/>
              <a:defRPr sz="2700" b="1" kern="1200" spc="-4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Targeted HVAC controls retrofit</a:t>
            </a:r>
          </a:p>
          <a:p>
            <a:r>
              <a:rPr lang="en-US" sz="2400">
                <a:solidFill>
                  <a:schemeClr val="bg2"/>
                </a:solidFill>
              </a:rPr>
              <a:t>Example of an international automotive manufacturer</a:t>
            </a:r>
          </a:p>
        </p:txBody>
      </p:sp>
    </p:spTree>
    <p:extLst>
      <p:ext uri="{BB962C8B-B14F-4D97-AF65-F5344CB8AC3E}">
        <p14:creationId xmlns:p14="http://schemas.microsoft.com/office/powerpoint/2010/main" val="3749871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C5B8-0883-C3B2-9C7B-2FEE1477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607C-9413-CA10-8AC3-CDE9DAEB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</a:t>
            </a:r>
            <a:r>
              <a:rPr lang="en-US" err="1"/>
              <a:t>steg</a:t>
            </a:r>
            <a:r>
              <a:rPr lang="en-US"/>
              <a:t>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optimera</a:t>
            </a:r>
            <a:r>
              <a:rPr lang="en-US"/>
              <a:t>  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17AF632-78E3-5B07-00E3-4E25B69A446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8894" y="1679603"/>
            <a:ext cx="1111307" cy="1104957"/>
          </a:xfr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CA1E068-96F8-55FC-8269-B176A7560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14</a:t>
            </a:fld>
            <a:endParaRPr lang="en-US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FCB8B95E-C751-406F-3842-9D7201816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18" y="4049848"/>
            <a:ext cx="933498" cy="1073205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9F5BCBEE-AA11-9905-51FD-DF65C8119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94" y="2890127"/>
            <a:ext cx="1054154" cy="1054154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717D3779-7F59-036D-322A-FB86CFDF4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25" y="5241282"/>
            <a:ext cx="1200212" cy="1098606"/>
          </a:xfrm>
          <a:prstGeom prst="rect">
            <a:avLst/>
          </a:prstGeom>
        </p:spPr>
      </p:pic>
      <p:sp>
        <p:nvSpPr>
          <p:cNvPr id="23" name="textruta 22">
            <a:extLst>
              <a:ext uri="{FF2B5EF4-FFF2-40B4-BE49-F238E27FC236}">
                <a16:creationId xmlns:a16="http://schemas.microsoft.com/office/drawing/2014/main" id="{506E27C9-122C-FBDF-7F48-6D7834206DA9}"/>
              </a:ext>
            </a:extLst>
          </p:cNvPr>
          <p:cNvSpPr txBox="1"/>
          <p:nvPr/>
        </p:nvSpPr>
        <p:spPr>
          <a:xfrm>
            <a:off x="2135560" y="1862749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Mätning och övervakning</a:t>
            </a:r>
            <a:endParaRPr lang="en-US" b="1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B2A4AEC0-395D-6679-07B7-C76216A3FAD8}"/>
              </a:ext>
            </a:extLst>
          </p:cNvPr>
          <p:cNvSpPr txBox="1"/>
          <p:nvPr/>
        </p:nvSpPr>
        <p:spPr>
          <a:xfrm>
            <a:off x="2135558" y="3039513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Identifiera utgångsläget</a:t>
            </a:r>
            <a:endParaRPr lang="en-US" b="1"/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D4BA096B-52CB-FB15-9AB4-08C73382ABEC}"/>
              </a:ext>
            </a:extLst>
          </p:cNvPr>
          <p:cNvSpPr txBox="1"/>
          <p:nvPr/>
        </p:nvSpPr>
        <p:spPr>
          <a:xfrm>
            <a:off x="2154401" y="419433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Optimering</a:t>
            </a:r>
            <a:endParaRPr lang="en-US" b="1"/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211D7B43-86CA-D70F-C789-65E34B01B37B}"/>
              </a:ext>
            </a:extLst>
          </p:cNvPr>
          <p:cNvSpPr txBox="1"/>
          <p:nvPr/>
        </p:nvSpPr>
        <p:spPr>
          <a:xfrm>
            <a:off x="2158785" y="535609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Energiåtervinning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1906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D37C15-EC55-678D-D466-A817AAC0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3EE1-6D75-B818-6F22-AE234830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</a:t>
            </a:r>
            <a:r>
              <a:rPr lang="en-US" err="1"/>
              <a:t>steg</a:t>
            </a:r>
            <a:r>
              <a:rPr lang="en-US"/>
              <a:t>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optimera</a:t>
            </a:r>
            <a:r>
              <a:rPr lang="en-US"/>
              <a:t>  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C5525E9F-1AE7-6D1A-8569-D293C4FFB1D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8894" y="1679603"/>
            <a:ext cx="1111307" cy="1104957"/>
          </a:xfr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CDECFAB-4223-FC3F-F0B7-919854B69B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15</a:t>
            </a:fld>
            <a:endParaRPr lang="en-US"/>
          </a:p>
        </p:txBody>
      </p:sp>
      <p:sp>
        <p:nvSpPr>
          <p:cNvPr id="23" name="textruta 22">
            <a:extLst>
              <a:ext uri="{FF2B5EF4-FFF2-40B4-BE49-F238E27FC236}">
                <a16:creationId xmlns:a16="http://schemas.microsoft.com/office/drawing/2014/main" id="{E118455F-1D02-9248-174E-05D15C597288}"/>
              </a:ext>
            </a:extLst>
          </p:cNvPr>
          <p:cNvSpPr txBox="1"/>
          <p:nvPr/>
        </p:nvSpPr>
        <p:spPr>
          <a:xfrm>
            <a:off x="2135560" y="1862749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Mätning och övervakning</a:t>
            </a:r>
            <a:endParaRPr lang="en-US" b="1"/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32407E7B-4C3C-E636-2692-2C152A5B5F99}"/>
              </a:ext>
            </a:extLst>
          </p:cNvPr>
          <p:cNvSpPr txBox="1"/>
          <p:nvPr/>
        </p:nvSpPr>
        <p:spPr>
          <a:xfrm>
            <a:off x="1127448" y="3247582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/>
              <a:t>Kontroll kräver mätning. Kommunikativa ställdon, ventiler och sensorer tillhandahålla ytterligare data för att optimera anläggningens drift.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41517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6FF980-0BEA-A3BE-F16A-B7054DA6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C5B8-B69F-F581-C8C6-28D94143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</a:t>
            </a:r>
            <a:r>
              <a:rPr lang="en-US" err="1"/>
              <a:t>steg</a:t>
            </a:r>
            <a:r>
              <a:rPr lang="en-US"/>
              <a:t>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optimera</a:t>
            </a:r>
            <a:r>
              <a:rPr lang="en-US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525058-B02D-E2D9-38F3-75D98ECE0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16</a:t>
            </a:fld>
            <a:endParaRPr lang="en-US"/>
          </a:p>
        </p:txBody>
      </p:sp>
      <p:pic>
        <p:nvPicPr>
          <p:cNvPr id="20" name="Bildobjekt 19">
            <a:extLst>
              <a:ext uri="{FF2B5EF4-FFF2-40B4-BE49-F238E27FC236}">
                <a16:creationId xmlns:a16="http://schemas.microsoft.com/office/drawing/2014/main" id="{B08E67EA-4B0D-09D5-80B9-F2B9F25B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8" y="1688391"/>
            <a:ext cx="1054154" cy="1054154"/>
          </a:xfrm>
          <a:prstGeom prst="rect">
            <a:avLst/>
          </a:prstGeom>
        </p:spPr>
      </p:pic>
      <p:sp>
        <p:nvSpPr>
          <p:cNvPr id="24" name="textruta 23">
            <a:extLst>
              <a:ext uri="{FF2B5EF4-FFF2-40B4-BE49-F238E27FC236}">
                <a16:creationId xmlns:a16="http://schemas.microsoft.com/office/drawing/2014/main" id="{BBE655BB-06EB-AA93-8EFB-E1F032CF1C52}"/>
              </a:ext>
            </a:extLst>
          </p:cNvPr>
          <p:cNvSpPr txBox="1"/>
          <p:nvPr/>
        </p:nvSpPr>
        <p:spPr>
          <a:xfrm>
            <a:off x="2191082" y="1837777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Identifiera utgångsläget</a:t>
            </a:r>
            <a:endParaRPr lang="en-US" b="1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541673F0-B062-BFA0-5551-E98224EB5A42}"/>
              </a:ext>
            </a:extLst>
          </p:cNvPr>
          <p:cNvSpPr txBox="1"/>
          <p:nvPr/>
        </p:nvSpPr>
        <p:spPr>
          <a:xfrm>
            <a:off x="1151494" y="3284984"/>
            <a:ext cx="7104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– </a:t>
            </a:r>
            <a:r>
              <a:rPr lang="en-US" b="1" err="1"/>
              <a:t>Jämför</a:t>
            </a:r>
            <a:r>
              <a:rPr lang="en-US" b="1"/>
              <a:t> </a:t>
            </a:r>
            <a:r>
              <a:rPr lang="en-US" b="1" err="1"/>
              <a:t>och</a:t>
            </a:r>
            <a:r>
              <a:rPr lang="en-US" b="1"/>
              <a:t> </a:t>
            </a:r>
            <a:r>
              <a:rPr lang="en-US" b="1" err="1"/>
              <a:t>förbättra</a:t>
            </a:r>
            <a:r>
              <a:rPr lang="en-US" b="1"/>
              <a:t> </a:t>
            </a:r>
            <a:r>
              <a:rPr lang="en-US" b="1" err="1"/>
              <a:t>energihanteringen</a:t>
            </a:r>
            <a:endParaRPr lang="en-US" b="1"/>
          </a:p>
          <a:p>
            <a:r>
              <a:rPr lang="en-US" b="1"/>
              <a:t>– </a:t>
            </a:r>
            <a:r>
              <a:rPr lang="en-US" b="1" err="1"/>
              <a:t>Jämför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byggnad</a:t>
            </a:r>
            <a:r>
              <a:rPr lang="en-US" b="1"/>
              <a:t> med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referens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888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8005B7-CD78-BD6D-5E7A-DCAFD7D2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8FF6-9F73-7773-ED89-6C4616FC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</a:t>
            </a:r>
            <a:r>
              <a:rPr lang="en-US" err="1"/>
              <a:t>steg</a:t>
            </a:r>
            <a:r>
              <a:rPr lang="en-US"/>
              <a:t>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optimera</a:t>
            </a:r>
            <a:r>
              <a:rPr lang="en-US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E43FD8A-63A3-BC14-9D45-0EBC66676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17</a:t>
            </a:fld>
            <a:endParaRPr lang="en-US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BDC8839B-F8FD-B5E5-7EE5-04A0180D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5" y="1556792"/>
            <a:ext cx="933498" cy="1073205"/>
          </a:xfrm>
          <a:prstGeom prst="rect">
            <a:avLst/>
          </a:prstGeom>
        </p:spPr>
      </p:pic>
      <p:sp>
        <p:nvSpPr>
          <p:cNvPr id="25" name="textruta 24">
            <a:extLst>
              <a:ext uri="{FF2B5EF4-FFF2-40B4-BE49-F238E27FC236}">
                <a16:creationId xmlns:a16="http://schemas.microsoft.com/office/drawing/2014/main" id="{D88E8F5B-35F3-33E7-83D0-B2275452E8F5}"/>
              </a:ext>
            </a:extLst>
          </p:cNvPr>
          <p:cNvSpPr txBox="1"/>
          <p:nvPr/>
        </p:nvSpPr>
        <p:spPr>
          <a:xfrm>
            <a:off x="2053308" y="1701274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Optimering</a:t>
            </a:r>
            <a:endParaRPr lang="en-US" b="1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12012093-ECAF-1BDB-C318-22B3475FC050}"/>
              </a:ext>
            </a:extLst>
          </p:cNvPr>
          <p:cNvSpPr txBox="1"/>
          <p:nvPr/>
        </p:nvSpPr>
        <p:spPr>
          <a:xfrm>
            <a:off x="995910" y="3244334"/>
            <a:ext cx="7104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 - </a:t>
            </a:r>
            <a:r>
              <a:rPr lang="en-US" b="1" err="1"/>
              <a:t>Hantera</a:t>
            </a:r>
            <a:r>
              <a:rPr lang="en-US" b="1"/>
              <a:t> delta-T för </a:t>
            </a:r>
            <a:r>
              <a:rPr lang="en-US" b="1" err="1"/>
              <a:t>att</a:t>
            </a:r>
            <a:r>
              <a:rPr lang="en-US" b="1"/>
              <a:t> </a:t>
            </a:r>
            <a:r>
              <a:rPr lang="en-US" b="1" err="1"/>
              <a:t>sänka</a:t>
            </a:r>
            <a:r>
              <a:rPr lang="en-US" b="1"/>
              <a:t> </a:t>
            </a:r>
            <a:r>
              <a:rPr lang="en-US" b="1" err="1"/>
              <a:t>flöden</a:t>
            </a:r>
            <a:r>
              <a:rPr lang="en-US" b="1"/>
              <a:t>, </a:t>
            </a:r>
            <a:r>
              <a:rPr lang="en-US" b="1" err="1"/>
              <a:t>temperaturer</a:t>
            </a:r>
            <a:r>
              <a:rPr lang="en-US" b="1"/>
              <a:t> </a:t>
            </a:r>
            <a:r>
              <a:rPr lang="en-US" b="1" err="1"/>
              <a:t>och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slutändan</a:t>
            </a:r>
            <a:r>
              <a:rPr lang="en-US" b="1"/>
              <a:t> </a:t>
            </a:r>
            <a:r>
              <a:rPr lang="en-US" b="1" err="1"/>
              <a:t>optimera</a:t>
            </a:r>
            <a:r>
              <a:rPr lang="en-US" b="1"/>
              <a:t> </a:t>
            </a:r>
            <a:r>
              <a:rPr lang="en-US" b="1" err="1"/>
              <a:t>effektuttaget</a:t>
            </a:r>
            <a:r>
              <a:rPr lang="en-US" b="1"/>
              <a:t>. </a:t>
            </a:r>
            <a:r>
              <a:rPr lang="en-US" b="1" err="1"/>
              <a:t>Zonreglering</a:t>
            </a:r>
            <a:r>
              <a:rPr lang="en-US" b="1"/>
              <a:t> </a:t>
            </a:r>
            <a:r>
              <a:rPr lang="en-US" b="1" err="1"/>
              <a:t>och</a:t>
            </a:r>
            <a:r>
              <a:rPr lang="en-US" b="1"/>
              <a:t> </a:t>
            </a:r>
            <a:r>
              <a:rPr lang="en-US" b="1" err="1"/>
              <a:t>optimering</a:t>
            </a:r>
            <a:r>
              <a:rPr lang="en-US" b="1"/>
              <a:t> </a:t>
            </a:r>
            <a:r>
              <a:rPr lang="en-US" b="1" err="1"/>
              <a:t>efter</a:t>
            </a:r>
            <a:r>
              <a:rPr lang="en-US" b="1"/>
              <a:t> </a:t>
            </a:r>
            <a:r>
              <a:rPr lang="en-US" b="1" err="1"/>
              <a:t>exakt</a:t>
            </a:r>
            <a:r>
              <a:rPr lang="en-US" b="1"/>
              <a:t> </a:t>
            </a:r>
            <a:r>
              <a:rPr lang="en-US" b="1" err="1"/>
              <a:t>behov</a:t>
            </a:r>
            <a:r>
              <a:rPr lang="en-US" b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55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A6CD54-07FA-1210-1D5C-FCCB3E46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ABEA-E3D9-00E2-C1F1-9AA2E3AF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</a:t>
            </a:r>
            <a:r>
              <a:rPr lang="en-US" err="1"/>
              <a:t>steg</a:t>
            </a:r>
            <a:r>
              <a:rPr lang="en-US"/>
              <a:t> 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optimera</a:t>
            </a:r>
            <a:r>
              <a:rPr lang="en-US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B068B43-1B19-6CCC-B0C9-CBF8B100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18</a:t>
            </a:fld>
            <a:endParaRPr lang="en-US"/>
          </a:p>
        </p:txBody>
      </p:sp>
      <p:pic>
        <p:nvPicPr>
          <p:cNvPr id="22" name="Bildobjekt 21">
            <a:extLst>
              <a:ext uri="{FF2B5EF4-FFF2-40B4-BE49-F238E27FC236}">
                <a16:creationId xmlns:a16="http://schemas.microsoft.com/office/drawing/2014/main" id="{14A8B69B-293F-B82E-F920-B77572DEB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75" y="1658001"/>
            <a:ext cx="1200212" cy="1098606"/>
          </a:xfrm>
          <a:prstGeom prst="rect">
            <a:avLst/>
          </a:prstGeom>
        </p:spPr>
      </p:pic>
      <p:sp>
        <p:nvSpPr>
          <p:cNvPr id="26" name="textruta 25">
            <a:extLst>
              <a:ext uri="{FF2B5EF4-FFF2-40B4-BE49-F238E27FC236}">
                <a16:creationId xmlns:a16="http://schemas.microsoft.com/office/drawing/2014/main" id="{6DA0DA3D-48EC-B892-A3CE-BCC70E29CD43}"/>
              </a:ext>
            </a:extLst>
          </p:cNvPr>
          <p:cNvSpPr txBox="1"/>
          <p:nvPr/>
        </p:nvSpPr>
        <p:spPr>
          <a:xfrm>
            <a:off x="2262535" y="177281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Energiåtervinning</a:t>
            </a:r>
            <a:endParaRPr lang="en-US" b="1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05FED97A-46AC-61AF-40BD-B15E94DC5E22}"/>
              </a:ext>
            </a:extLst>
          </p:cNvPr>
          <p:cNvSpPr txBox="1"/>
          <p:nvPr/>
        </p:nvSpPr>
        <p:spPr>
          <a:xfrm>
            <a:off x="995911" y="3244334"/>
            <a:ext cx="49560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 - </a:t>
            </a:r>
            <a:r>
              <a:rPr lang="en-US" b="1" err="1"/>
              <a:t>Försöka</a:t>
            </a:r>
            <a:r>
              <a:rPr lang="en-US" b="1"/>
              <a:t> </a:t>
            </a:r>
            <a:r>
              <a:rPr lang="en-US" b="1" err="1"/>
              <a:t>dra</a:t>
            </a:r>
            <a:r>
              <a:rPr lang="en-US" b="1"/>
              <a:t> </a:t>
            </a:r>
            <a:r>
              <a:rPr lang="en-US" b="1" err="1"/>
              <a:t>nytta</a:t>
            </a:r>
            <a:r>
              <a:rPr lang="en-US" b="1"/>
              <a:t> av/</a:t>
            </a:r>
            <a:r>
              <a:rPr lang="en-US" b="1" err="1"/>
              <a:t>återvinna</a:t>
            </a:r>
            <a:r>
              <a:rPr lang="en-US" b="1"/>
              <a:t> </a:t>
            </a:r>
            <a:r>
              <a:rPr lang="en-US" b="1" err="1"/>
              <a:t>energi</a:t>
            </a:r>
            <a:r>
              <a:rPr lang="en-US" b="1"/>
              <a:t> </a:t>
            </a:r>
            <a:r>
              <a:rPr lang="en-US" b="1" err="1"/>
              <a:t>från</a:t>
            </a:r>
            <a:r>
              <a:rPr lang="en-US" b="1"/>
              <a:t> </a:t>
            </a:r>
            <a:r>
              <a:rPr lang="en-US" b="1" err="1"/>
              <a:t>kyl</a:t>
            </a:r>
            <a:r>
              <a:rPr lang="en-US" b="1"/>
              <a:t>-/</a:t>
            </a:r>
            <a:r>
              <a:rPr lang="en-US" b="1" err="1"/>
              <a:t>värmesystem</a:t>
            </a:r>
            <a:r>
              <a:rPr lang="en-US" b="1"/>
              <a:t>.</a:t>
            </a:r>
          </a:p>
          <a:p>
            <a:r>
              <a:rPr lang="en-US" b="1"/>
              <a:t>		 </a:t>
            </a:r>
          </a:p>
        </p:txBody>
      </p:sp>
    </p:spTree>
    <p:extLst>
      <p:ext uri="{BB962C8B-B14F-4D97-AF65-F5344CB8AC3E}">
        <p14:creationId xmlns:p14="http://schemas.microsoft.com/office/powerpoint/2010/main" val="148312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4A3DC-2BE6-68C2-067E-94D112E7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A04A-BF22-D2F4-08CC-C0FBF5D1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Sammanfattning</a:t>
            </a:r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8075F21-22D1-5861-D5F1-077801A08F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16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584D-9EA2-4380-8A95-0136AAF2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3014AC7-AE6E-56D1-12A4-831394EE31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2038-365C-AFA5-85DC-B99DD0A70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err="1"/>
              <a:t>Frågor</a:t>
            </a:r>
            <a:endParaRPr lang="en-US"/>
          </a:p>
          <a:p>
            <a:r>
              <a:rPr lang="en-US" err="1"/>
              <a:t>och</a:t>
            </a:r>
            <a:endParaRPr lang="en-US"/>
          </a:p>
          <a:p>
            <a:r>
              <a:rPr lang="en-US" err="1"/>
              <a:t>diskussion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71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0624-AB7C-9BCA-A0E1-983442FA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895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DID" val="Belimo"/>
  <p:tag name="CLIENT" val="BEL"/>
  <p:tag name="COLORTHEMEID" val="1"/>
  <p:tag name="LANGUAGEID" val="1033"/>
  <p:tag name="REFERENCEDATE" val="45369"/>
  <p:tag name="TEMPLATEID" val="Belimo169Logo"/>
  <p:tag name="VERSINFO" val="BEL1002"/>
  <p:tag name="VERSION" val="10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CHARTCOLOR_0" val="-15552166"/>
  <p:tag name="ARS_CHARTCOLOR_1" val="-62438"/>
  <p:tag name="ARS_CHARTCOLOR_2" val="-141460"/>
  <p:tag name="ARS_CHARTCOLOR_3" val="-16759603"/>
  <p:tag name="ARS_CHARTCOLOR_4" val="-16728643"/>
  <p:tag name="ARS_CHARTCOLOR_5" val="-970509"/>
  <p:tag name="ARS_CHARTCOLOR_6" val="-10040012"/>
  <p:tag name="ARS_CHARTCOLOR_7" val="-6593024"/>
  <p:tag name="ARS_CHARTCOLOR_8" val="-16456731"/>
  <p:tag name="ARS_CHARTCOLOR_9" val="-575355"/>
  <p:tag name="ARS_CHARTPARA_DATALABELFONTBOLD" val="False"/>
  <p:tag name="ARS_CHARTPARA_DATALABELFONTCOLOR" val="-16777216"/>
  <p:tag name="ARS_CHARTPARA_DATALABELFONTITALIC" val="False"/>
  <p:tag name="ARS_CHARTPARA_DATALABELFONTNAME" val="Arial"/>
  <p:tag name="ARS_CHARTPARA_DATALABELFONTSIZE" val="14"/>
  <p:tag name="ARS_CHARTPARA_ITEMLABELFONTBOLD" val="False"/>
  <p:tag name="ARS_CHARTPARA_ITEMLABELFONTCOLOR" val="-16777216"/>
  <p:tag name="ARS_CHARTPARA_ITEMLABELFONTITALIC" val="False"/>
  <p:tag name="ARS_CHARTPARA_ITEMLABELFONTNAME" val="Arial"/>
  <p:tag name="ARS_CHARTPARA_ITEMLABELFONTSIZE" val="16"/>
  <p:tag name="ARS_RESPONSETYPE" val="Slide"/>
  <p:tag name="ARS_SLIDE_CORRECTNUM" val="0"/>
  <p:tag name="ARS_SLIDE_DUENO" val="100"/>
  <p:tag name="ARS_SLIDE_PARTICIPANTNUM" val="100"/>
  <p:tag name="ARS_SLIDE_PARTICIPANTNUM_MEN" val="100"/>
  <p:tag name="ARS_SLIDE_SUBMITNUM" val="0"/>
  <p:tag name="ARS_SLIDE_SUBMITNUM_MEN" val="0"/>
  <p:tag name="ARS_SLIDE_VOTEMEAN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Skapa ett nytt dokument." ma:contentTypeScope="" ma:versionID="fc87b651a1074e16e573547b51d64514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f5f1b2a8307683b35a1e550cb2efbf64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47604A-AC66-4F09-997A-B8995B25EC17}">
  <ds:schemaRefs>
    <ds:schemaRef ds:uri="49600842-2569-4614-9b46-18c9378b41bb"/>
    <ds:schemaRef ds:uri="f96aa2d0-cd7f-4655-84c2-9d0c20ea0d26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665BAF1-44C9-4497-88F8-22A97B072BCD}">
  <ds:schemaRefs>
    <ds:schemaRef ds:uri="49600842-2569-4614-9b46-18c9378b41bb"/>
    <ds:schemaRef ds:uri="f96aa2d0-cd7f-4655-84c2-9d0c20ea0d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39C783E-406D-46E0-8194-9A764FA1A0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0</TotalTime>
  <Words>1102</Words>
  <Application>Microsoft Office PowerPoint</Application>
  <PresentationFormat>Bredbild</PresentationFormat>
  <Paragraphs>217</Paragraphs>
  <Slides>21</Slides>
  <Notes>8</Notes>
  <HiddenSlides>5</HiddenSlides>
  <MMClips>0</MMClips>
  <ScaleCrop>false</ScaleCrop>
  <HeadingPairs>
    <vt:vector size="6" baseType="variant">
      <vt:variant>
        <vt:lpstr>Använt teckensnitt</vt:lpstr>
      </vt:variant>
      <vt:variant>
        <vt:i4>10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21</vt:i4>
      </vt:variant>
    </vt:vector>
  </HeadingPairs>
  <TitlesOfParts>
    <vt:vector size="32" baseType="lpstr">
      <vt:lpstr>Arial</vt:lpstr>
      <vt:lpstr>Arial Nova</vt:lpstr>
      <vt:lpstr>Calibri</vt:lpstr>
      <vt:lpstr>Calibri Light</vt:lpstr>
      <vt:lpstr>inherit</vt:lpstr>
      <vt:lpstr>Roboto</vt:lpstr>
      <vt:lpstr>Roboto Black</vt:lpstr>
      <vt:lpstr>Segoe UI</vt:lpstr>
      <vt:lpstr>var(--fontFamilyCustomFont800, var(--fontFamilyBase))</vt:lpstr>
      <vt:lpstr>Wingdings</vt:lpstr>
      <vt:lpstr>Office-tema</vt:lpstr>
      <vt:lpstr>RetroFit+</vt:lpstr>
      <vt:lpstr>Our products  Seamless integration of innovative HVAC field-devices</vt:lpstr>
      <vt:lpstr>PowerPoint-presentation</vt:lpstr>
      <vt:lpstr>Vad är RetroFit+</vt:lpstr>
      <vt:lpstr>Vad är RetroFit+</vt:lpstr>
      <vt:lpstr>Vad är RetroFit+</vt:lpstr>
      <vt:lpstr>Betydelsen av HVAC system Effektiviteten i din utrustning har stor inverkan på ditt VVS-system</vt:lpstr>
      <vt:lpstr>Vad är RetroFit+</vt:lpstr>
      <vt:lpstr>PowerPoint-presentation</vt:lpstr>
      <vt:lpstr>RetroFIT + Utvärderingsverktyg</vt:lpstr>
      <vt:lpstr>5 modules for project management</vt:lpstr>
      <vt:lpstr>Vad är RetroFit+</vt:lpstr>
      <vt:lpstr>PowerPoint-presentation</vt:lpstr>
      <vt:lpstr>4 steg för att optimera  </vt:lpstr>
      <vt:lpstr>4 steg för att optimera  </vt:lpstr>
      <vt:lpstr>4 steg för att optimera  </vt:lpstr>
      <vt:lpstr>4 steg för att optimera  </vt:lpstr>
      <vt:lpstr>4 steg för att optimera  </vt:lpstr>
      <vt:lpstr>Sammanfattning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Belimo Education  RetroFit+</dc:title>
  <dc:creator>Abdo Zaki</dc:creator>
  <cp:lastModifiedBy>Abdo Zaki</cp:lastModifiedBy>
  <cp:revision>1</cp:revision>
  <dcterms:created xsi:type="dcterms:W3CDTF">2024-03-18T16:49:58Z</dcterms:created>
  <dcterms:modified xsi:type="dcterms:W3CDTF">2026-01-19T11:57:55Z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MediaServiceImageTags">
    <vt:lpwstr/>
  </property>
  <property fmtid="{D5CDD505-2E9C-101B-9397-08002B2CF9AE}" pid="10" name="_SourceUrl">
    <vt:lpwstr/>
  </property>
  <property fmtid="{D5CDD505-2E9C-101B-9397-08002B2CF9AE}" pid="11" name="_SharedFileIndex">
    <vt:lpwstr/>
  </property>
</Properties>
</file>