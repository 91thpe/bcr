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Override2.xml" ContentType="application/vnd.openxmlformats-officedocument.themeOverr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Override3.xml" ContentType="application/vnd.openxmlformats-officedocument.themeOverr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ags/tag16.xml" ContentType="application/vnd.openxmlformats-officedocument.presentationml.tags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ags/tag17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5"/>
  </p:notesMasterIdLst>
  <p:sldIdLst>
    <p:sldId id="257" r:id="rId5"/>
    <p:sldId id="278" r:id="rId6"/>
    <p:sldId id="266" r:id="rId7"/>
    <p:sldId id="261" r:id="rId8"/>
    <p:sldId id="267" r:id="rId9"/>
    <p:sldId id="2147350944" r:id="rId10"/>
    <p:sldId id="262" r:id="rId11"/>
    <p:sldId id="280" r:id="rId12"/>
    <p:sldId id="2147377156" r:id="rId13"/>
    <p:sldId id="2147378264" r:id="rId14"/>
    <p:sldId id="272" r:id="rId15"/>
    <p:sldId id="279" r:id="rId16"/>
    <p:sldId id="273" r:id="rId17"/>
    <p:sldId id="264" r:id="rId18"/>
    <p:sldId id="274" r:id="rId19"/>
    <p:sldId id="275" r:id="rId20"/>
    <p:sldId id="276" r:id="rId21"/>
    <p:sldId id="277" r:id="rId22"/>
    <p:sldId id="259" r:id="rId23"/>
    <p:sldId id="260" r:id="rId24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E65D00"/>
    <a:srgbClr val="DD673A"/>
    <a:srgbClr val="CC5300"/>
    <a:srgbClr val="DA5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27F44-9413-4833-B0BC-40082AFF9861}" v="13" dt="2026-02-16T11:31:56.842"/>
  </p1510:revLst>
</p1510:revInfo>
</file>

<file path=ppt/tableStyles.xml><?xml version="1.0" encoding="utf-8"?>
<a:tblStyleLst xmlns:a="http://schemas.openxmlformats.org/drawingml/2006/main" def="{27C33448-EB79-47B7-91D5-C2EFFB564920}">
  <a:tblStyle styleId="{27C33448-EB79-47B7-91D5-C2EFFB564920}" styleName="Belimo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3175" cmpd="sng">
              <a:solidFill>
                <a:schemeClr val="dk1"/>
              </a:solidFill>
            </a:ln>
          </a:bottom>
          <a:insideH>
            <a:ln w="3175" cmpd="sng">
              <a:solidFill>
                <a:schemeClr val="dk1"/>
              </a:solidFill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ff" i="off">
        <a:fontRef idx="minor"/>
        <a:schemeClr val="tx1"/>
      </a:tcTxStyle>
      <a:tcStyle>
        <a:tcBdr/>
      </a:tcStyle>
    </a:lastCol>
    <a:firstCol>
      <a:tcTxStyle b="off" i="off">
        <a:fontRef idx="minor"/>
        <a:schemeClr val="tx1"/>
      </a:tcTxStyle>
      <a:tcStyle>
        <a:tcBdr/>
      </a:tcStyle>
    </a:firstCol>
    <a:la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957" autoAdjust="0"/>
  </p:normalViewPr>
  <p:slideViewPr>
    <p:cSldViewPr>
      <p:cViewPr varScale="1">
        <p:scale>
          <a:sx n="97" d="100"/>
          <a:sy n="97" d="100"/>
        </p:scale>
        <p:origin x="105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O Zaki" userId="S::zaki.abdo@belimo.se::764c9ca9-b701-4b1a-b04d-ffaf9fa89cab" providerId="AD" clId="Web-{55327F44-9413-4833-B0BC-40082AFF9861}"/>
    <pc:docChg chg="modSld">
      <pc:chgData name="ABDO Zaki" userId="S::zaki.abdo@belimo.se::764c9ca9-b701-4b1a-b04d-ffaf9fa89cab" providerId="AD" clId="Web-{55327F44-9413-4833-B0BC-40082AFF9861}" dt="2026-02-16T11:31:56.842" v="11" actId="20577"/>
      <pc:docMkLst>
        <pc:docMk/>
      </pc:docMkLst>
      <pc:sldChg chg="modSp">
        <pc:chgData name="ABDO Zaki" userId="S::zaki.abdo@belimo.se::764c9ca9-b701-4b1a-b04d-ffaf9fa89cab" providerId="AD" clId="Web-{55327F44-9413-4833-B0BC-40082AFF9861}" dt="2026-02-16T11:31:56.842" v="11" actId="20577"/>
        <pc:sldMkLst>
          <pc:docMk/>
          <pc:sldMk cId="787151602" sldId="257"/>
        </pc:sldMkLst>
        <pc:spChg chg="mod">
          <ac:chgData name="ABDO Zaki" userId="S::zaki.abdo@belimo.se::764c9ca9-b701-4b1a-b04d-ffaf9fa89cab" providerId="AD" clId="Web-{55327F44-9413-4833-B0BC-40082AFF9861}" dt="2026-02-16T11:31:56.842" v="11" actId="20577"/>
          <ac:spMkLst>
            <pc:docMk/>
            <pc:sldMk cId="787151602" sldId="257"/>
            <ac:spMk id="3" creationId="{4E5BBF9B-0620-049D-2766-2DD4720F1B7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F1A6D-D9EC-431B-9D37-21901BDC901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F115-DBCC-407A-A507-B7321B48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göra</a:t>
            </a:r>
            <a:r>
              <a:rPr lang="en-US" dirty="0"/>
              <a:t> det med </a:t>
            </a:r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litet</a:t>
            </a:r>
            <a:r>
              <a:rPr lang="en-US" dirty="0"/>
              <a:t> </a:t>
            </a:r>
            <a:r>
              <a:rPr lang="en-US" dirty="0" err="1"/>
              <a:t>avbrott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möjligt</a:t>
            </a:r>
            <a:r>
              <a:rPr lang="en-US" dirty="0"/>
              <a:t> av </a:t>
            </a:r>
            <a:r>
              <a:rPr lang="en-US" dirty="0" err="1"/>
              <a:t>verksamheten</a:t>
            </a:r>
            <a:endParaRPr lang="en-US" dirty="0"/>
          </a:p>
          <a:p>
            <a:r>
              <a:rPr lang="en-US" dirty="0"/>
              <a:t>(LED)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79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64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H" sz="1200" b="0" i="0">
                <a:effectLst/>
                <a:latin typeface="+mj-lt"/>
              </a:rPr>
              <a:t>A retrofit specialist evaluates your building and uses our tool to provide a savings estimate, investment range, and break-even analysis within 1-2 days.</a:t>
            </a:r>
            <a:endParaRPr lang="fr-CH" sz="1200" b="0" i="0">
              <a:effectLst/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z="1200" b="0" i="0">
              <a:effectLst/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H" sz="1200" b="0" i="0">
                <a:effectLst/>
                <a:latin typeface="+mj-lt"/>
              </a:rPr>
              <a:t>As an optional step, we can enhance your system with smart devices for energy flow visualization or comparison.</a:t>
            </a:r>
            <a:endParaRPr lang="en-CH" sz="1200"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sz="1200" b="0" i="0">
              <a:effectLst/>
              <a:latin typeface="+mj-lt"/>
            </a:endParaRPr>
          </a:p>
          <a:p>
            <a:pPr marL="0" lvl="1">
              <a:spcAft>
                <a:spcPts val="300"/>
              </a:spcAft>
              <a:buClr>
                <a:srgbClr val="FF6600"/>
              </a:buClr>
              <a:buSzPct val="80000"/>
            </a:pPr>
            <a:r>
              <a:rPr lang="en-CH" sz="1200" i="0">
                <a:effectLst/>
                <a:latin typeface="+mj-lt"/>
              </a:rPr>
              <a:t>Upgrade with smart devices on pipes and ducts with minimal disruption your running HVAC system</a:t>
            </a:r>
          </a:p>
          <a:p>
            <a:pPr marL="0" lvl="1">
              <a:spcAft>
                <a:spcPts val="300"/>
              </a:spcAft>
              <a:buClr>
                <a:srgbClr val="FF6600"/>
              </a:buClr>
              <a:buSzPct val="80000"/>
            </a:pPr>
            <a:r>
              <a:rPr lang="en-CH" sz="1200">
                <a:latin typeface="+mj-lt"/>
              </a:rPr>
              <a:t>u</a:t>
            </a:r>
            <a:r>
              <a:rPr lang="en-CH" sz="1200" i="0">
                <a:effectLst/>
                <a:latin typeface="+mj-lt"/>
              </a:rPr>
              <a:t>sually requiring 5 days for a 6000 square meter building. This involves installing around 20 devices at a cost of </a:t>
            </a:r>
            <a:r>
              <a:rPr lang="fr-CH" sz="1200" i="0">
                <a:effectLst/>
                <a:latin typeface="+mj-lt"/>
              </a:rPr>
              <a:t>EUR</a:t>
            </a:r>
            <a:r>
              <a:rPr lang="en-CH" sz="1200" i="0">
                <a:effectLst/>
                <a:latin typeface="+mj-lt"/>
              </a:rPr>
              <a:t> 20,000, without needing to evacuate the building or remove furniture.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Basically, our devices have the necessary engineering know-how built into the product.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90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" dirty="0"/>
              <a:t>Dieses Tool ermöglicht es uns, /</a:t>
            </a:r>
          </a:p>
          <a:p>
            <a:endParaRPr lang="de" dirty="0"/>
          </a:p>
          <a:p>
            <a:r>
              <a:rPr lang="en-US" dirty="0"/>
              <a:t>https://stage.k8s-belimo-retrofit-portal.xiag.ch/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highlight>
                  <a:srgbClr val="EFE5CB"/>
                </a:highlight>
                <a:latin typeface="Segoe UI" panose="020B0502040204020203" pitchFamily="34" charset="0"/>
              </a:rPr>
              <a:t>marie.curie@belimo.ch</a:t>
            </a:r>
            <a:br>
              <a:rPr lang="en-US" b="0" dirty="0">
                <a:solidFill>
                  <a:srgbClr val="242424"/>
                </a:solidFill>
                <a:effectLst/>
                <a:latin typeface="var(--fontFamilyCustomFont800, var(--fontFamilyBase))"/>
              </a:rPr>
            </a:br>
            <a:r>
              <a:rPr lang="en-US" b="0" dirty="0" err="1">
                <a:solidFill>
                  <a:srgbClr val="242424"/>
                </a:solidFill>
                <a:effectLst/>
                <a:latin typeface="var(--fontFamilyCustomFont800, var(--fontFamilyBase))"/>
              </a:rPr>
              <a:t>bIDYdgm</a:t>
            </a:r>
            <a:r>
              <a:rPr lang="en-US" b="0" dirty="0">
                <a:solidFill>
                  <a:srgbClr val="242424"/>
                </a:solidFill>
                <a:effectLst/>
                <a:latin typeface="var(--fontFamilyCustomFont800, var(--fontFamilyBase))"/>
              </a:rPr>
              <a:t>$</a:t>
            </a:r>
            <a:endParaRPr lang="de" dirty="0"/>
          </a:p>
          <a:p>
            <a:endParaRPr lang="d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84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" noProof="0" dirty="0"/>
              <a:t>Das Tool umfasst 5 Registerkarten, die unabhängig voneinander bearbeitet und editiert werden können, obwohl sie einem standardmäßigen Bewertungsprozess folgen.</a:t>
            </a:r>
          </a:p>
          <a:p>
            <a:endParaRPr lang="en-US" noProof="0" dirty="0"/>
          </a:p>
          <a:p>
            <a:pPr algn="l" fontAlgn="base"/>
            <a:r>
              <a:rPr lang="de" sz="1200" b="1" i="0" cap="all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WILLKOMMEN BEIM RETROFIT+ PORTAL </a:t>
            </a:r>
            <a:r>
              <a:rPr lang="de" sz="1200" b="0" i="0" cap="all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!</a:t>
            </a:r>
            <a:endParaRPr lang="fr-FR" sz="1200" b="0" i="0" cap="all" dirty="0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fontAlgn="base"/>
            <a:r>
              <a:rPr lang="de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Bewerten Sie das HLK-System Ihres Gebäudes in nur </a:t>
            </a:r>
            <a:r>
              <a:rPr lang="de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1–2 Stunden </a:t>
            </a:r>
            <a:r>
              <a:rPr lang="de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und decken Sie das Potenzial zur Einsparung </a:t>
            </a:r>
            <a:r>
              <a:rPr lang="de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von CO2 und Energiekosten </a:t>
            </a:r>
            <a:r>
              <a:rPr lang="de" sz="1200" b="1" i="0" baseline="-25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auf </a:t>
            </a:r>
            <a:r>
              <a:rPr lang="de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 Generieren Sie umsetzbare Erkenntnisse und einen professionellen Bericht als Grundlage für Nachrüstentscheidungen </a:t>
            </a:r>
            <a:r>
              <a:rPr lang="de" sz="1200" dirty="0">
                <a:solidFill>
                  <a:srgbClr val="000000"/>
                </a:solidFill>
                <a:latin typeface="inherit"/>
              </a:rPr>
              <a:t>.</a:t>
            </a:r>
            <a:endParaRPr lang="en-US" sz="12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endParaRPr lang="en-US" noProof="0" dirty="0"/>
          </a:p>
          <a:p>
            <a:pPr algn="l" fontAlgn="base"/>
            <a:r>
              <a:rPr lang="de" sz="1200" b="1" i="0" cap="all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GRUNDLEGENDE GEBÄUDEINFORMATIONEN</a:t>
            </a:r>
            <a:endParaRPr lang="fr-FR" sz="1200" b="1" i="0" cap="all" dirty="0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fontAlgn="base"/>
            <a:r>
              <a:rPr lang="de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Erfassen Sie schnell die </a:t>
            </a:r>
            <a:r>
              <a:rPr lang="de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wesentlichen Details </a:t>
            </a:r>
            <a:r>
              <a:rPr lang="de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des bewerteten Gebäudes, um einen Überblick über die aktuelle Situation zu erhalten. Dieser Schritt gewährleistet genaue und wertvolle Erkenntnisse für Ihre Bewertung</a:t>
            </a:r>
          </a:p>
          <a:p>
            <a:endParaRPr lang="en-US" noProof="0" dirty="0"/>
          </a:p>
          <a:p>
            <a:pPr algn="l" fontAlgn="base"/>
            <a:r>
              <a:rPr lang="de" sz="1200" b="1" i="0" cap="all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HVAC-BEWERTUNG AUF BASIS VON ISO 52120</a:t>
            </a:r>
            <a:endParaRPr lang="en-US" sz="1200" b="1" i="0" cap="all" dirty="0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fontAlgn="base"/>
            <a:r>
              <a:rPr lang="de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Bewerten Sie schnell und einfach das Potenzial Ihres Gebäudes. Unser Tool bewertet Ihr </a:t>
            </a:r>
            <a:r>
              <a:rPr lang="de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HLK-System </a:t>
            </a:r>
            <a:r>
              <a:rPr lang="de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und berechnet das Einsparpotenzial auf Grundlage der internationalen Norm ISO 52120. Erhalten Sie Einblicke in BACS-Verbesserungen und erfahren Sie, wie Sie die Energieeffizienz optimieren und Kosten senken können.</a:t>
            </a:r>
          </a:p>
          <a:p>
            <a:endParaRPr lang="en-US" noProof="0" dirty="0"/>
          </a:p>
          <a:p>
            <a:pPr algn="l" fontAlgn="base"/>
            <a:r>
              <a:rPr lang="de" sz="1200" b="1" i="0" cap="all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VEREINFACHTE SCHEMAS</a:t>
            </a:r>
            <a:endParaRPr lang="fr-FR" sz="1200" b="1" i="0" cap="all" dirty="0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fontAlgn="base"/>
            <a:r>
              <a:rPr lang="de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Beschreiben Sie die aktuelle HLK-Anlage und entwerfen Sie ein </a:t>
            </a:r>
            <a:r>
              <a:rPr lang="de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Blockdiagramm </a:t>
            </a:r>
            <a:r>
              <a:rPr lang="de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 Erstellen Sie schnell </a:t>
            </a:r>
            <a:r>
              <a:rPr lang="de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mehrere Zukunftsszenarien </a:t>
            </a:r>
            <a:r>
              <a:rPr lang="de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um potenzielle Verbesserungen und Optimierungen zu visualisieren </a:t>
            </a:r>
            <a:r>
              <a:rPr lang="de" sz="1200" dirty="0">
                <a:solidFill>
                  <a:srgbClr val="000000"/>
                </a:solidFill>
                <a:latin typeface="inherit"/>
              </a:rPr>
              <a:t>.</a:t>
            </a: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endParaRPr lang="en-US" noProof="0" dirty="0"/>
          </a:p>
          <a:p>
            <a:pPr algn="l" fontAlgn="base"/>
            <a:r>
              <a:rPr lang="de" sz="1200" b="1" i="0" cap="all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BERICHT UND MASSNAHMEN</a:t>
            </a:r>
            <a:endParaRPr lang="fr-FR" sz="1200" b="1" i="0" cap="all" dirty="0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fontAlgn="base"/>
            <a:r>
              <a:rPr lang="de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Entdecken Sie, wie viel </a:t>
            </a:r>
            <a:r>
              <a:rPr lang="de" sz="12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CO2 und Energiekosten Sie in Ihrem Gebäude einsparen können. </a:t>
            </a:r>
            <a:r>
              <a:rPr lang="de" sz="1200" b="1" i="0" baseline="-25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Ermitteln </a:t>
            </a:r>
            <a:r>
              <a:rPr lang="de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Sie anhand von Break-Even-Berechnungen und anderen wichtigen Finanzkennzahlen, wie rentabel Ihr Projekt ist. Erstellen Sie ganz einfach einen personalisierten Bericht, der Sie bei Ihren Sanierungsentscheidungen unterstützt.</a:t>
            </a:r>
            <a:endParaRPr lang="en-US" sz="12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endParaRPr lang="fr-FR" noProof="0" dirty="0"/>
          </a:p>
          <a:p>
            <a:r>
              <a:rPr lang="de" noProof="0" dirty="0"/>
              <a:t>+++</a:t>
            </a:r>
          </a:p>
          <a:p>
            <a:r>
              <a:rPr lang="de" noProof="0" dirty="0"/>
              <a:t>Die letzten drei Module ermöglichen die Bewertung des BMS-Systems, erstellen ein Diagramm zum Vorschlagen technischer Lösungen und bearbeiten einen oder mehrere Berichte je nach Detaillierungsgrad und gewünschten Themen.</a:t>
            </a:r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76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This is precisely what we did with the plant of an international automotive manufacturer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33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Flöden</a:t>
            </a:r>
            <a:r>
              <a:rPr lang="en-US" dirty="0"/>
              <a:t> </a:t>
            </a:r>
            <a:r>
              <a:rPr lang="en-US" dirty="0" err="1"/>
              <a:t>ner</a:t>
            </a:r>
            <a:r>
              <a:rPr lang="en-US" dirty="0"/>
              <a:t> med 50%. </a:t>
            </a:r>
          </a:p>
          <a:p>
            <a:r>
              <a:rPr lang="sv-SE" dirty="0"/>
              <a:t>nom att styra produktionen enligt </a:t>
            </a:r>
            <a:r>
              <a:rPr lang="sv-SE" dirty="0" err="1"/>
              <a:t>zonefterfrågan,förbrukningen</a:t>
            </a:r>
            <a:r>
              <a:rPr lang="sv-SE" dirty="0"/>
              <a:t> kan minskas med 20 till 30 % i följande applikationer: fläkt </a:t>
            </a:r>
            <a:r>
              <a:rPr lang="sv-SE" dirty="0" err="1"/>
              <a:t>ochpumpoptimerare</a:t>
            </a:r>
            <a:endParaRPr lang="en-US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6F115-DBCC-407A-A507-B7321B48F51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15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2.sv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4.svg"/><Relationship Id="rId2" Type="http://schemas.openxmlformats.org/officeDocument/2006/relationships/tags" Target="../tags/tag9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13.xml"/><Relationship Id="rId7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hemeOverride" Target="../theme/themeOverride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hemeOverride" Target="../theme/themeOverride2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preserve="1" userDrawn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2A5819E-0CFD-4842-A817-AFCC1289EC81}"/>
              </a:ext>
            </a:extLst>
          </p:cNvPr>
          <p:cNvPicPr>
            <a:picLocks/>
          </p:cNvPicPr>
          <p:nvPr userDrawn="1"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9951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Orange" preserve="1" userDrawn="1">
  <p:cSld name="Title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449CBB4-111C-4C67-AC0D-46FEC7DE9FDE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9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10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334288213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Image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/>
          </p:cNvSpPr>
          <p:nvPr userDrawn="1"/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334960" y="379134"/>
            <a:ext cx="11522076" cy="499408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62D71A-887C-4825-8017-6013AC07E533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34960" y="2204864"/>
            <a:ext cx="4248870" cy="3168352"/>
          </a:xfrm>
          <a:noFill/>
        </p:spPr>
        <p:txBody>
          <a:bodyPr tIns="324000" anchor="t" anchorCtr="0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400" b="1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34960" y="1169439"/>
            <a:ext cx="4248870" cy="907699"/>
          </a:xfrm>
          <a:noFill/>
        </p:spPr>
        <p:txBody>
          <a:bodyPr tIns="396000" anchor="t">
            <a:noAutofit/>
          </a:bodyPr>
          <a:lstStyle>
            <a:lvl1pPr algn="l">
              <a:lnSpc>
                <a:spcPct val="100000"/>
              </a:lnSpc>
              <a:defRPr sz="33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334960" y="6343277"/>
            <a:ext cx="6466434" cy="2462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ts val="2900"/>
              </a:lnSpc>
              <a:defRPr sz="1600" b="0" spc="0" baseline="0">
                <a:solidFill>
                  <a:schemeClr val="tx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/>
              <a:t> </a:t>
            </a:r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FC7959-B16C-4D8A-B88F-73210F292EC6}"/>
              </a:ext>
            </a:extLst>
          </p:cNvPr>
          <p:cNvPicPr>
            <a:picLocks/>
          </p:cNvPicPr>
          <p:nvPr userDrawn="1"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4633" y="6165824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3835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2DE1988-D53E-4D64-84AC-A2DF2B38946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01843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orange)" type="secHead" preserve="1">
  <p:cSld name="Section Header (oran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53B3E93-8BC6-44B0-B42A-796F75B1114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1B2ABA7-A910-49E2-B649-7DC48C465838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4936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20CF55-B30E-43E7-ABCC-044896AEC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C117E-D536-4BA0-9BDF-C42FAF356D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6D7C14-47DC-47FF-98A2-3102DA3611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893888"/>
            <a:ext cx="10943167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45023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D871C46-20A3-4FD4-AA55-82721228E9C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804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6BBE08-F812-473F-86FD-F67C354E1C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192011" y="1893889"/>
            <a:ext cx="5375573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57678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BC4D89-5D9F-45A1-8B35-2C745DE2BD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24418" y="1893889"/>
            <a:ext cx="5375572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9103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box" preserve="1" userDrawn="1">
  <p:cSld name="Content and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E3A58F-A8C4-40E9-90D4-17A62CFBE1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92011" y="1893889"/>
            <a:ext cx="5375573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03525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box and content" preserve="1" userDrawn="1">
  <p:cSld name="Textbox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436B92-4425-4D31-9583-8D285C3C13E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419" y="1893889"/>
            <a:ext cx="5375572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215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slide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BE8322-00E8-49BF-B7C7-E5EB39428D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66EEECB-ED56-4BED-B2AD-B3DF2F978782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24418" y="1893889"/>
            <a:ext cx="10943167" cy="4414837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ett medieklipp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56550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7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3529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D7E4D5-9D56-4CAF-BFF4-ABD6E2F34E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B338744-10F7-4E61-89AE-83CE07B1642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082643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0991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images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12382E-BEED-4694-B2E2-3EDF15754D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7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53529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82643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9964" y="4221090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7181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01C9B41-2A4F-4B2B-A709-FDF9A7CC0D9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418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C56FB70D-BD8D-49BC-A687-8975E162E4E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85816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28E011EC-10F8-436E-9DDA-61E1F19DE9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53530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1E5099FC-074B-460C-9AE2-A19CEFD58B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86269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66CD4C66-5A67-43A7-9B9B-E21BB2496B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53984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2642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F2A20350-CF85-46CC-94E5-07F9CAB81C0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4418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40232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lve images" preserve="1" userDrawn="1">
  <p:cSld name="Twel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DED33-CB92-42FD-8312-F71731CB065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8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8922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13426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8922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3426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4418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94FD18F-3EA2-4DED-AC79-5C4CD2118BA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07931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8D9FB38E-67FF-4522-9A37-1FE3A7DEBC4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07931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6ACC5FC-7C2D-4C86-A768-39A77AA87F0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18922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34A9644-50FF-4C9E-8DEB-3ED52EBC94C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3426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735D12FE-C97E-4EAC-A09F-C4B92C908A3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4418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B699549-9F8E-4FE8-8E7F-E8E4275D73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007931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28967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text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D0F761-54BB-40A0-93AA-3E475DA63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3429001"/>
            <a:ext cx="2880000" cy="2879725"/>
          </a:xfrm>
          <a:solidFill>
            <a:schemeClr val="bg2"/>
          </a:solidFill>
        </p:spPr>
        <p:txBody>
          <a:bodyPr lIns="288000" tIns="180000" rIns="216000" bIns="216000"/>
          <a:lstStyle>
            <a:lvl1pPr marL="0" indent="0">
              <a:lnSpc>
                <a:spcPts val="2900"/>
              </a:lnSpc>
              <a:spcBef>
                <a:spcPts val="0"/>
              </a:spcBef>
              <a:buNone/>
              <a:defRPr sz="2500" b="1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050300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only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399404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749468-5C4C-47CA-A89D-2FF55D786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57215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274F-7E3D-416A-949B-2EB6E207D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81EF-CC4D-4625-9F0B-54F2B2E98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C809B6-B6FB-4BDB-A393-30F3864A3B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379330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Only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87ADD1-CCCE-45B2-9183-DED29C1AD5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06434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1F4B7B6-B0BE-4A29-95E0-E5E0A778A2D1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8236" y="2088291"/>
            <a:ext cx="5542959" cy="21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5442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69189715-7F5C-4885-88C7-CAF1CD599A9E}"/>
              </a:ext>
            </a:extLst>
          </p:cNvPr>
          <p:cNvPicPr>
            <a:picLocks/>
          </p:cNvPicPr>
          <p:nvPr userDrawn="1">
            <p:custDataLst>
              <p:tags r:id="rId2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18" y="1893888"/>
            <a:ext cx="10943167" cy="441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418" y="6502230"/>
            <a:ext cx="7127765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76520" y="6502230"/>
            <a:ext cx="791064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fld id="{5A5D7CFB-7906-4DE8-A061-46C8230F3B8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lassification" hidden="1"/>
          <p:cNvSpPr txBox="1">
            <a:spLocks/>
          </p:cNvSpPr>
          <p:nvPr userDrawn="1">
            <p:custDataLst>
              <p:tags r:id="rId24"/>
            </p:custDataLst>
          </p:nvPr>
        </p:nvSpPr>
        <p:spPr>
          <a:xfrm>
            <a:off x="7968208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9" name="Status" hidden="1"/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9579323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10" name="Textbox" hidden="1"/>
          <p:cNvSpPr txBox="1">
            <a:spLocks/>
          </p:cNvSpPr>
          <p:nvPr userDrawn="1">
            <p:custDataLst>
              <p:tags r:id="rId26"/>
            </p:custDataLst>
          </p:nvPr>
        </p:nvSpPr>
        <p:spPr>
          <a:xfrm>
            <a:off x="624418" y="6031726"/>
            <a:ext cx="10943167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buSzPct val="100000"/>
              <a:buFont typeface="Arial" panose="020B0604020202020204" pitchFamily="34" charset="0"/>
              <a:buNone/>
            </a:pPr>
            <a:r>
              <a:rPr lang="en-US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3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83" r:id="rId3"/>
    <p:sldLayoutId id="2147483681" r:id="rId4"/>
    <p:sldLayoutId id="2147483682" r:id="rId5"/>
    <p:sldLayoutId id="2147483662" r:id="rId6"/>
    <p:sldLayoutId id="2147483664" r:id="rId7"/>
    <p:sldLayoutId id="2147483678" r:id="rId8"/>
    <p:sldLayoutId id="2147483679" r:id="rId9"/>
    <p:sldLayoutId id="2147483675" r:id="rId10"/>
    <p:sldLayoutId id="2147483676" r:id="rId11"/>
    <p:sldLayoutId id="2147483677" r:id="rId12"/>
    <p:sldLayoutId id="2147483668" r:id="rId13"/>
    <p:sldLayoutId id="2147483669" r:id="rId14"/>
    <p:sldLayoutId id="2147483670" r:id="rId15"/>
    <p:sldLayoutId id="2147483673" r:id="rId16"/>
    <p:sldLayoutId id="2147483672" r:id="rId17"/>
    <p:sldLayoutId id="2147483666" r:id="rId18"/>
    <p:sldLayoutId id="2147483667" r:id="rId19"/>
    <p:sldLayoutId id="2147483680" r:id="rId20"/>
    <p:sldLayoutId id="2147483674" r:id="rId21"/>
  </p:sldLayoutIdLst>
  <p:hf hdr="0" ftr="0" dt="0"/>
  <p:txStyles>
    <p:titleStyle>
      <a:lvl1pPr algn="l" defTabSz="914400" rtl="0" eaLnBrk="1" latinLnBrk="0" hangingPunct="1">
        <a:lnSpc>
          <a:spcPts val="2900"/>
        </a:lnSpc>
        <a:spcBef>
          <a:spcPct val="0"/>
        </a:spcBef>
        <a:buNone/>
        <a:defRPr sz="27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8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1170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3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orient="horz" pos="609" userDrawn="1">
          <p15:clr>
            <a:srgbClr val="F26B43"/>
          </p15:clr>
        </p15:guide>
        <p15:guide id="3" orient="horz" pos="119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41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2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svg"/><Relationship Id="rId20" Type="http://schemas.openxmlformats.org/officeDocument/2006/relationships/image" Target="../media/image28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19" Type="http://schemas.openxmlformats.org/officeDocument/2006/relationships/image" Target="../media/image27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30.emf"/><Relationship Id="rId12" Type="http://schemas.openxmlformats.org/officeDocument/2006/relationships/image" Target="../media/image34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9.emf"/><Relationship Id="rId11" Type="http://schemas.openxmlformats.org/officeDocument/2006/relationships/image" Target="../media/image33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2.png"/><Relationship Id="rId4" Type="http://schemas.openxmlformats.org/officeDocument/2006/relationships/notesSlide" Target="../notesSlides/notesSlide3.xml"/><Relationship Id="rId9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Relationship Id="rId6" Type="http://schemas.openxmlformats.org/officeDocument/2006/relationships/image" Target="../media/image36.png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7.png"/><Relationship Id="rId3" Type="http://schemas.openxmlformats.org/officeDocument/2006/relationships/image" Target="../media/image12.svg"/><Relationship Id="rId7" Type="http://schemas.openxmlformats.org/officeDocument/2006/relationships/image" Target="../media/image22.svg"/><Relationship Id="rId12" Type="http://schemas.openxmlformats.org/officeDocument/2006/relationships/image" Target="../media/image19.png"/><Relationship Id="rId17" Type="http://schemas.openxmlformats.org/officeDocument/2006/relationships/image" Target="../media/image26.sv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image" Target="../media/image18.svg"/><Relationship Id="rId5" Type="http://schemas.openxmlformats.org/officeDocument/2006/relationships/image" Target="../media/image14.svg"/><Relationship Id="rId15" Type="http://schemas.openxmlformats.org/officeDocument/2006/relationships/image" Target="../media/image24.svg"/><Relationship Id="rId10" Type="http://schemas.openxmlformats.org/officeDocument/2006/relationships/image" Target="../media/image17.png"/><Relationship Id="rId19" Type="http://schemas.openxmlformats.org/officeDocument/2006/relationships/image" Target="../media/image28.svg"/><Relationship Id="rId4" Type="http://schemas.openxmlformats.org/officeDocument/2006/relationships/image" Target="../media/image13.png"/><Relationship Id="rId9" Type="http://schemas.openxmlformats.org/officeDocument/2006/relationships/image" Target="../media/image16.svg"/><Relationship Id="rId1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30.emf"/><Relationship Id="rId12" Type="http://schemas.openxmlformats.org/officeDocument/2006/relationships/image" Target="../media/image46.jpe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29.emf"/><Relationship Id="rId11" Type="http://schemas.openxmlformats.org/officeDocument/2006/relationships/image" Target="../media/image45.png"/><Relationship Id="rId5" Type="http://schemas.openxmlformats.org/officeDocument/2006/relationships/oleObject" Target="../embeddings/oleObject3.bin"/><Relationship Id="rId10" Type="http://schemas.openxmlformats.org/officeDocument/2006/relationships/image" Target="../media/image44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4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115D8-CCD5-F440-DEED-30C4A12CC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84C05379-B82D-68A8-12F5-DEEAF33C2DC6}"/>
              </a:ext>
            </a:extLst>
          </p:cNvPr>
          <p:cNvSpPr/>
          <p:nvPr/>
        </p:nvSpPr>
        <p:spPr>
          <a:xfrm>
            <a:off x="624418" y="1340768"/>
            <a:ext cx="2735278" cy="302433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9D98B17-85B0-DADC-21B6-6E0B4CE783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200" dirty="0"/>
              <a:t>Belimo Education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5BBF9B-0620-049D-2766-2DD4720F1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415" y="1412776"/>
            <a:ext cx="2736339" cy="2327200"/>
          </a:xfrm>
        </p:spPr>
        <p:txBody>
          <a:bodyPr/>
          <a:lstStyle/>
          <a:p>
            <a:r>
              <a:rPr lang="en-US" sz="2700">
                <a:solidFill>
                  <a:schemeClr val="bg1"/>
                </a:solidFill>
              </a:rPr>
              <a:t>Workshop: VAV </a:t>
            </a:r>
            <a:r>
              <a:rPr lang="en-US" sz="2700" dirty="0" err="1">
                <a:solidFill>
                  <a:schemeClr val="bg1"/>
                </a:solidFill>
              </a:rPr>
              <a:t>i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energibesparings</a:t>
            </a:r>
            <a:r>
              <a:rPr lang="en-US" sz="2700" dirty="0">
                <a:solidFill>
                  <a:schemeClr val="bg1"/>
                </a:solidFill>
              </a:rPr>
              <a:t>- </a:t>
            </a:r>
            <a:r>
              <a:rPr lang="en-US" sz="2700" dirty="0" err="1">
                <a:solidFill>
                  <a:schemeClr val="bg1"/>
                </a:solidFill>
              </a:rPr>
              <a:t>projekt</a:t>
            </a:r>
            <a:endParaRPr lang="sv-SE">
              <a:solidFill>
                <a:schemeClr val="bg1"/>
              </a:solidFill>
              <a:cs typeface="Arial"/>
            </a:endParaRPr>
          </a:p>
          <a:p>
            <a:endParaRPr lang="en-US" sz="4400" dirty="0">
              <a:solidFill>
                <a:schemeClr val="bg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7151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5128C-647B-8F7C-D70B-C541D553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5F79B4D-B7BA-EB3F-A964-FE65284723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2</a:t>
            </a:fld>
            <a:endParaRPr lang="en-US" dirty="0"/>
          </a:p>
        </p:txBody>
      </p:sp>
      <p:pic>
        <p:nvPicPr>
          <p:cNvPr id="12" name="Platshållare för innehåll 11">
            <a:extLst>
              <a:ext uri="{FF2B5EF4-FFF2-40B4-BE49-F238E27FC236}">
                <a16:creationId xmlns:a16="http://schemas.microsoft.com/office/drawing/2014/main" id="{54E480B9-345A-4A1B-EE65-9D6A65B65D1F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1847528" y="2956987"/>
            <a:ext cx="1224136" cy="2348702"/>
          </a:xfrm>
        </p:spPr>
      </p:pic>
      <p:sp>
        <p:nvSpPr>
          <p:cNvPr id="8" name="Rubrik 7">
            <a:extLst>
              <a:ext uri="{FF2B5EF4-FFF2-40B4-BE49-F238E27FC236}">
                <a16:creationId xmlns:a16="http://schemas.microsoft.com/office/drawing/2014/main" id="{62584721-8216-429B-3083-A54B735D6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340A6D3C-7EF6-B99E-F9B9-70410BF325E8}"/>
              </a:ext>
            </a:extLst>
          </p:cNvPr>
          <p:cNvSpPr txBox="1"/>
          <p:nvPr/>
        </p:nvSpPr>
        <p:spPr>
          <a:xfrm>
            <a:off x="1559496" y="2060848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Retrofit</a:t>
            </a: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60C1863E-D6F1-F8B1-7DFE-287D47690DDD}"/>
              </a:ext>
            </a:extLst>
          </p:cNvPr>
          <p:cNvSpPr txBox="1"/>
          <p:nvPr/>
        </p:nvSpPr>
        <p:spPr>
          <a:xfrm>
            <a:off x="9023666" y="2060847"/>
            <a:ext cx="1824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Retrofit+</a:t>
            </a:r>
          </a:p>
        </p:txBody>
      </p:sp>
      <p:sp>
        <p:nvSpPr>
          <p:cNvPr id="13" name="Pil: höger 12">
            <a:extLst>
              <a:ext uri="{FF2B5EF4-FFF2-40B4-BE49-F238E27FC236}">
                <a16:creationId xmlns:a16="http://schemas.microsoft.com/office/drawing/2014/main" id="{14CC26A8-90B5-F6C8-1611-B8EAC28BD7D1}"/>
              </a:ext>
            </a:extLst>
          </p:cNvPr>
          <p:cNvSpPr/>
          <p:nvPr/>
        </p:nvSpPr>
        <p:spPr>
          <a:xfrm>
            <a:off x="4295800" y="3478220"/>
            <a:ext cx="2304256" cy="86409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pic>
        <p:nvPicPr>
          <p:cNvPr id="16" name="Bildobjekt 15">
            <a:extLst>
              <a:ext uri="{FF2B5EF4-FFF2-40B4-BE49-F238E27FC236}">
                <a16:creationId xmlns:a16="http://schemas.microsoft.com/office/drawing/2014/main" id="{A63F4D0C-523D-9F98-04E8-C7D818ABA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890" y="3036542"/>
            <a:ext cx="4277700" cy="226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4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B2C51-0F9E-6BB9-36A2-8C1A993C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39E9-AEB4-E5F3-F13A-A91FFFE8B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Vad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RetroFit</a:t>
            </a:r>
            <a:r>
              <a:rPr lang="en-US" dirty="0"/>
              <a:t>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6F0C0C-1BB9-3572-80A7-2FDC75FB093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 err="1"/>
              <a:t>Utbyte</a:t>
            </a:r>
            <a:r>
              <a:rPr lang="en-US" dirty="0"/>
              <a:t> av </a:t>
            </a:r>
            <a:r>
              <a:rPr lang="en-US" dirty="0" err="1"/>
              <a:t>produkter</a:t>
            </a:r>
            <a:r>
              <a:rPr lang="en-US" dirty="0"/>
              <a:t> med </a:t>
            </a:r>
            <a:r>
              <a:rPr lang="en-US" dirty="0" err="1"/>
              <a:t>målet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spara</a:t>
            </a:r>
            <a:r>
              <a:rPr lang="en-US" dirty="0"/>
              <a:t> </a:t>
            </a:r>
            <a:r>
              <a:rPr lang="en-US" dirty="0" err="1"/>
              <a:t>energi</a:t>
            </a:r>
            <a:r>
              <a:rPr lang="en-US" dirty="0"/>
              <a:t>             </a:t>
            </a:r>
            <a:r>
              <a:rPr lang="en-US" dirty="0" err="1"/>
              <a:t>spara</a:t>
            </a:r>
            <a:r>
              <a:rPr lang="en-US" dirty="0"/>
              <a:t> </a:t>
            </a:r>
            <a:r>
              <a:rPr lang="en-US" dirty="0" err="1"/>
              <a:t>energikostnader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B0E309B-4F76-01EC-B7FA-400518943B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3</a:t>
            </a:fld>
            <a:endParaRPr lang="en-US" dirty="0"/>
          </a:p>
        </p:txBody>
      </p:sp>
      <p:pic>
        <p:nvPicPr>
          <p:cNvPr id="35" name="Bildobjekt 34">
            <a:extLst>
              <a:ext uri="{FF2B5EF4-FFF2-40B4-BE49-F238E27FC236}">
                <a16:creationId xmlns:a16="http://schemas.microsoft.com/office/drawing/2014/main" id="{77180F77-AB80-4363-24AD-F25F9F6E2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2987845"/>
            <a:ext cx="3316622" cy="2226923"/>
          </a:xfrm>
          <a:prstGeom prst="rect">
            <a:avLst/>
          </a:prstGeom>
        </p:spPr>
      </p:pic>
      <p:sp>
        <p:nvSpPr>
          <p:cNvPr id="3" name="textruta 2">
            <a:extLst>
              <a:ext uri="{FF2B5EF4-FFF2-40B4-BE49-F238E27FC236}">
                <a16:creationId xmlns:a16="http://schemas.microsoft.com/office/drawing/2014/main" id="{9F932432-D28E-9EBA-30B6-7D33BC65C7A5}"/>
              </a:ext>
            </a:extLst>
          </p:cNvPr>
          <p:cNvSpPr txBox="1"/>
          <p:nvPr/>
        </p:nvSpPr>
        <p:spPr>
          <a:xfrm>
            <a:off x="6023992" y="3140968"/>
            <a:ext cx="48245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E65D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Enligt</a:t>
            </a:r>
            <a:r>
              <a:rPr lang="en-US" dirty="0">
                <a:solidFill>
                  <a:srgbClr val="E65D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ISO 52120-1</a:t>
            </a:r>
          </a:p>
          <a:p>
            <a:r>
              <a:rPr lang="en-US" dirty="0">
                <a:solidFill>
                  <a:srgbClr val="E65D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	- </a:t>
            </a:r>
            <a:r>
              <a:rPr lang="sv-SE" dirty="0">
                <a:solidFill>
                  <a:srgbClr val="E65D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Energiprestanda av byggnader. 	Bidrag från byggnadsautomation, 	styrning och 	byggnadsförvaltning</a:t>
            </a:r>
            <a:endParaRPr lang="en-US" dirty="0">
              <a:solidFill>
                <a:srgbClr val="E65D00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37E9B871-9BC4-AAB4-70CA-60E52F738926}"/>
              </a:ext>
            </a:extLst>
          </p:cNvPr>
          <p:cNvSpPr/>
          <p:nvPr/>
        </p:nvSpPr>
        <p:spPr>
          <a:xfrm>
            <a:off x="1127448" y="4725144"/>
            <a:ext cx="3388630" cy="561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cxnSp>
        <p:nvCxnSpPr>
          <p:cNvPr id="7" name="Rak pilkoppling 6">
            <a:extLst>
              <a:ext uri="{FF2B5EF4-FFF2-40B4-BE49-F238E27FC236}">
                <a16:creationId xmlns:a16="http://schemas.microsoft.com/office/drawing/2014/main" id="{5A391276-13F0-FAB4-4271-D3172CE3532C}"/>
              </a:ext>
            </a:extLst>
          </p:cNvPr>
          <p:cNvCxnSpPr>
            <a:cxnSpLocks/>
          </p:cNvCxnSpPr>
          <p:nvPr/>
        </p:nvCxnSpPr>
        <p:spPr>
          <a:xfrm>
            <a:off x="6384032" y="2060848"/>
            <a:ext cx="50405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84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3839E-5070-3C37-97B1-A752689C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08B96-F43D-9340-E1A3-FED2510B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Vad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RetroFit</a:t>
            </a:r>
            <a:r>
              <a:rPr lang="en-US" dirty="0"/>
              <a:t>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592FC5-84F7-4009-D2D8-A5E9CA9562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4418" y="1893887"/>
            <a:ext cx="10943167" cy="4414838"/>
          </a:xfrm>
        </p:spPr>
        <p:txBody>
          <a:bodyPr/>
          <a:lstStyle/>
          <a:p>
            <a:r>
              <a:rPr lang="en-US" dirty="0" err="1"/>
              <a:t>Utbyte</a:t>
            </a:r>
            <a:r>
              <a:rPr lang="en-US" dirty="0"/>
              <a:t> av </a:t>
            </a:r>
            <a:r>
              <a:rPr lang="en-US" dirty="0" err="1"/>
              <a:t>produkter</a:t>
            </a:r>
            <a:r>
              <a:rPr lang="en-US" dirty="0"/>
              <a:t> med </a:t>
            </a:r>
            <a:r>
              <a:rPr lang="en-US" dirty="0" err="1"/>
              <a:t>målet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spara</a:t>
            </a:r>
            <a:r>
              <a:rPr lang="en-US" dirty="0"/>
              <a:t> </a:t>
            </a:r>
            <a:r>
              <a:rPr lang="en-US" dirty="0" err="1"/>
              <a:t>energi</a:t>
            </a:r>
            <a:r>
              <a:rPr lang="en-US" dirty="0"/>
              <a:t>             </a:t>
            </a:r>
            <a:r>
              <a:rPr lang="en-US" dirty="0" err="1"/>
              <a:t>spara</a:t>
            </a:r>
            <a:r>
              <a:rPr lang="en-US" dirty="0"/>
              <a:t> </a:t>
            </a:r>
            <a:r>
              <a:rPr lang="en-US" dirty="0" err="1"/>
              <a:t>energikostnader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6A7A8CF-F564-736F-9179-3973AD5CFE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4</a:t>
            </a:fld>
            <a:endParaRPr lang="en-US" dirty="0"/>
          </a:p>
        </p:txBody>
      </p:sp>
      <p:pic>
        <p:nvPicPr>
          <p:cNvPr id="35" name="Bildobjekt 34">
            <a:extLst>
              <a:ext uri="{FF2B5EF4-FFF2-40B4-BE49-F238E27FC236}">
                <a16:creationId xmlns:a16="http://schemas.microsoft.com/office/drawing/2014/main" id="{E047C944-4442-071B-A0D4-5240B535A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2987845"/>
            <a:ext cx="3316622" cy="2226923"/>
          </a:xfrm>
          <a:prstGeom prst="rect">
            <a:avLst/>
          </a:prstGeom>
        </p:spPr>
      </p:pic>
      <p:sp>
        <p:nvSpPr>
          <p:cNvPr id="36" name="Pil: höger 35">
            <a:extLst>
              <a:ext uri="{FF2B5EF4-FFF2-40B4-BE49-F238E27FC236}">
                <a16:creationId xmlns:a16="http://schemas.microsoft.com/office/drawing/2014/main" id="{5EC84CF9-9E46-4A0A-256F-7B1E451956FA}"/>
              </a:ext>
            </a:extLst>
          </p:cNvPr>
          <p:cNvSpPr/>
          <p:nvPr/>
        </p:nvSpPr>
        <p:spPr>
          <a:xfrm rot="16200000">
            <a:off x="3791744" y="3933056"/>
            <a:ext cx="828092" cy="252028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7" name="textruta 36">
            <a:extLst>
              <a:ext uri="{FF2B5EF4-FFF2-40B4-BE49-F238E27FC236}">
                <a16:creationId xmlns:a16="http://schemas.microsoft.com/office/drawing/2014/main" id="{E9B8177F-21EE-67DD-73E4-04C86C7AF27E}"/>
              </a:ext>
            </a:extLst>
          </p:cNvPr>
          <p:cNvSpPr txBox="1"/>
          <p:nvPr/>
        </p:nvSpPr>
        <p:spPr>
          <a:xfrm>
            <a:off x="6023992" y="3661567"/>
            <a:ext cx="4565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Ex. </a:t>
            </a:r>
            <a:r>
              <a:rPr lang="en-US" sz="2800" dirty="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Rankas</a:t>
            </a:r>
            <a:r>
              <a:rPr lang="en-US" sz="28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2800" dirty="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upp</a:t>
            </a:r>
            <a:r>
              <a:rPr lang="en-US" sz="28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2800" dirty="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från</a:t>
            </a:r>
            <a:r>
              <a:rPr lang="en-US" sz="28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 till B</a:t>
            </a:r>
          </a:p>
        </p:txBody>
      </p:sp>
      <p:cxnSp>
        <p:nvCxnSpPr>
          <p:cNvPr id="39" name="Rak pilkoppling 38">
            <a:extLst>
              <a:ext uri="{FF2B5EF4-FFF2-40B4-BE49-F238E27FC236}">
                <a16:creationId xmlns:a16="http://schemas.microsoft.com/office/drawing/2014/main" id="{D1575B2A-D2E1-1FDE-FA7B-84CC260E268C}"/>
              </a:ext>
            </a:extLst>
          </p:cNvPr>
          <p:cNvCxnSpPr>
            <a:cxnSpLocks/>
          </p:cNvCxnSpPr>
          <p:nvPr/>
        </p:nvCxnSpPr>
        <p:spPr>
          <a:xfrm>
            <a:off x="6384032" y="2060848"/>
            <a:ext cx="50405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Rak koppling 42">
            <a:extLst>
              <a:ext uri="{FF2B5EF4-FFF2-40B4-BE49-F238E27FC236}">
                <a16:creationId xmlns:a16="http://schemas.microsoft.com/office/drawing/2014/main" id="{3BF6BC7F-1458-E56D-57B4-BB453059B315}"/>
              </a:ext>
            </a:extLst>
          </p:cNvPr>
          <p:cNvCxnSpPr>
            <a:cxnSpLocks/>
          </p:cNvCxnSpPr>
          <p:nvPr/>
        </p:nvCxnSpPr>
        <p:spPr>
          <a:xfrm>
            <a:off x="3629064" y="3573016"/>
            <a:ext cx="95197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ak koppling 46">
            <a:extLst>
              <a:ext uri="{FF2B5EF4-FFF2-40B4-BE49-F238E27FC236}">
                <a16:creationId xmlns:a16="http://schemas.microsoft.com/office/drawing/2014/main" id="{E1866EAA-C19A-1BFA-C0D1-74679F10333A}"/>
              </a:ext>
            </a:extLst>
          </p:cNvPr>
          <p:cNvCxnSpPr>
            <a:cxnSpLocks/>
          </p:cNvCxnSpPr>
          <p:nvPr/>
        </p:nvCxnSpPr>
        <p:spPr>
          <a:xfrm>
            <a:off x="3783731" y="4581128"/>
            <a:ext cx="95197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ktangel 50">
            <a:extLst>
              <a:ext uri="{FF2B5EF4-FFF2-40B4-BE49-F238E27FC236}">
                <a16:creationId xmlns:a16="http://schemas.microsoft.com/office/drawing/2014/main" id="{A1FB3C01-1D52-1C6B-E10B-F87EEBB30124}"/>
              </a:ext>
            </a:extLst>
          </p:cNvPr>
          <p:cNvSpPr/>
          <p:nvPr/>
        </p:nvSpPr>
        <p:spPr>
          <a:xfrm>
            <a:off x="1127448" y="4725144"/>
            <a:ext cx="3388630" cy="561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71091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9F6CB-19FB-278B-07E5-1C4ACA12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7EE46-B936-9148-E30C-0A9E118BF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Vad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RetroFit</a:t>
            </a:r>
            <a:r>
              <a:rPr lang="en-US" dirty="0"/>
              <a:t>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5C70E8-24C0-6389-4F1E-96BB573ADE3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4418" y="1893887"/>
            <a:ext cx="10943167" cy="4414838"/>
          </a:xfrm>
        </p:spPr>
        <p:txBody>
          <a:bodyPr/>
          <a:lstStyle/>
          <a:p>
            <a:r>
              <a:rPr lang="en-US" dirty="0" err="1"/>
              <a:t>Utbyte</a:t>
            </a:r>
            <a:r>
              <a:rPr lang="en-US" dirty="0"/>
              <a:t> av </a:t>
            </a:r>
            <a:r>
              <a:rPr lang="en-US" dirty="0" err="1"/>
              <a:t>produkter</a:t>
            </a:r>
            <a:r>
              <a:rPr lang="en-US" dirty="0"/>
              <a:t> med </a:t>
            </a:r>
            <a:r>
              <a:rPr lang="en-US" dirty="0" err="1"/>
              <a:t>målet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spara</a:t>
            </a:r>
            <a:r>
              <a:rPr lang="en-US" dirty="0"/>
              <a:t> </a:t>
            </a:r>
            <a:r>
              <a:rPr lang="en-US" dirty="0" err="1"/>
              <a:t>energi</a:t>
            </a:r>
            <a:r>
              <a:rPr lang="en-US" dirty="0"/>
              <a:t>             </a:t>
            </a:r>
            <a:r>
              <a:rPr lang="en-US" dirty="0" err="1"/>
              <a:t>spara</a:t>
            </a:r>
            <a:r>
              <a:rPr lang="en-US" dirty="0"/>
              <a:t> </a:t>
            </a:r>
            <a:r>
              <a:rPr lang="en-US" dirty="0" err="1"/>
              <a:t>energikostnader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AC44162-BD0B-9870-04C3-6AD3B79720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5</a:t>
            </a:fld>
            <a:endParaRPr lang="en-US" dirty="0"/>
          </a:p>
        </p:txBody>
      </p:sp>
      <p:pic>
        <p:nvPicPr>
          <p:cNvPr id="35" name="Bildobjekt 34">
            <a:extLst>
              <a:ext uri="{FF2B5EF4-FFF2-40B4-BE49-F238E27FC236}">
                <a16:creationId xmlns:a16="http://schemas.microsoft.com/office/drawing/2014/main" id="{B7D83302-1B5D-F4C2-D9BC-5DD1AD675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2987845"/>
            <a:ext cx="3316622" cy="2226923"/>
          </a:xfrm>
          <a:prstGeom prst="rect">
            <a:avLst/>
          </a:prstGeom>
        </p:spPr>
      </p:pic>
      <p:sp>
        <p:nvSpPr>
          <p:cNvPr id="36" name="Pil: höger 35">
            <a:extLst>
              <a:ext uri="{FF2B5EF4-FFF2-40B4-BE49-F238E27FC236}">
                <a16:creationId xmlns:a16="http://schemas.microsoft.com/office/drawing/2014/main" id="{A22E7B90-145E-559C-2EB5-B11DB6A59D66}"/>
              </a:ext>
            </a:extLst>
          </p:cNvPr>
          <p:cNvSpPr/>
          <p:nvPr/>
        </p:nvSpPr>
        <p:spPr>
          <a:xfrm rot="16200000">
            <a:off x="3791744" y="3933056"/>
            <a:ext cx="828092" cy="252028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7" name="textruta 36">
            <a:extLst>
              <a:ext uri="{FF2B5EF4-FFF2-40B4-BE49-F238E27FC236}">
                <a16:creationId xmlns:a16="http://schemas.microsoft.com/office/drawing/2014/main" id="{47EA7DD4-F079-4BAF-E721-4F1AEE61A3CA}"/>
              </a:ext>
            </a:extLst>
          </p:cNvPr>
          <p:cNvSpPr txBox="1"/>
          <p:nvPr/>
        </p:nvSpPr>
        <p:spPr>
          <a:xfrm>
            <a:off x="6023992" y="3661567"/>
            <a:ext cx="4565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Ex. </a:t>
            </a:r>
            <a:r>
              <a:rPr lang="en-US" sz="2800" dirty="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Rankas</a:t>
            </a:r>
            <a:r>
              <a:rPr lang="en-US" sz="28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2800" dirty="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upp</a:t>
            </a:r>
            <a:r>
              <a:rPr lang="en-US" sz="28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2800" dirty="0" err="1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från</a:t>
            </a:r>
            <a:r>
              <a:rPr lang="en-US" sz="28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 till B</a:t>
            </a:r>
          </a:p>
        </p:txBody>
      </p:sp>
      <p:cxnSp>
        <p:nvCxnSpPr>
          <p:cNvPr id="39" name="Rak pilkoppling 38">
            <a:extLst>
              <a:ext uri="{FF2B5EF4-FFF2-40B4-BE49-F238E27FC236}">
                <a16:creationId xmlns:a16="http://schemas.microsoft.com/office/drawing/2014/main" id="{64B5D9BB-60C2-66E9-7CFC-F54CA141419E}"/>
              </a:ext>
            </a:extLst>
          </p:cNvPr>
          <p:cNvCxnSpPr>
            <a:cxnSpLocks/>
          </p:cNvCxnSpPr>
          <p:nvPr/>
        </p:nvCxnSpPr>
        <p:spPr>
          <a:xfrm>
            <a:off x="6384032" y="2060848"/>
            <a:ext cx="50405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Rak koppling 42">
            <a:extLst>
              <a:ext uri="{FF2B5EF4-FFF2-40B4-BE49-F238E27FC236}">
                <a16:creationId xmlns:a16="http://schemas.microsoft.com/office/drawing/2014/main" id="{36E35B63-7EEC-BFA9-9B5F-B5A3AB80E956}"/>
              </a:ext>
            </a:extLst>
          </p:cNvPr>
          <p:cNvCxnSpPr>
            <a:cxnSpLocks/>
          </p:cNvCxnSpPr>
          <p:nvPr/>
        </p:nvCxnSpPr>
        <p:spPr>
          <a:xfrm>
            <a:off x="3629064" y="3573016"/>
            <a:ext cx="95197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ak koppling 46">
            <a:extLst>
              <a:ext uri="{FF2B5EF4-FFF2-40B4-BE49-F238E27FC236}">
                <a16:creationId xmlns:a16="http://schemas.microsoft.com/office/drawing/2014/main" id="{E89F8F5F-8A48-1C60-86D2-C9F5497EC649}"/>
              </a:ext>
            </a:extLst>
          </p:cNvPr>
          <p:cNvCxnSpPr>
            <a:cxnSpLocks/>
          </p:cNvCxnSpPr>
          <p:nvPr/>
        </p:nvCxnSpPr>
        <p:spPr>
          <a:xfrm>
            <a:off x="3783731" y="4581128"/>
            <a:ext cx="95197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160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AF2FE1A7-3C9F-E1AC-097F-7EA59B79C959}"/>
              </a:ext>
            </a:extLst>
          </p:cNvPr>
          <p:cNvGrpSpPr/>
          <p:nvPr/>
        </p:nvGrpSpPr>
        <p:grpSpPr>
          <a:xfrm>
            <a:off x="1120296" y="2808945"/>
            <a:ext cx="9306305" cy="3646973"/>
            <a:chOff x="547420" y="1707932"/>
            <a:chExt cx="11568960" cy="4687072"/>
          </a:xfrm>
        </p:grpSpPr>
        <p:pic>
          <p:nvPicPr>
            <p:cNvPr id="5" name="Grafik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88756" y="2222582"/>
              <a:ext cx="3975304" cy="3930852"/>
            </a:xfrm>
            <a:prstGeom prst="rect">
              <a:avLst/>
            </a:prstGeom>
          </p:spPr>
        </p:pic>
        <p:sp>
          <p:nvSpPr>
            <p:cNvPr id="10" name="Textfeld 9"/>
            <p:cNvSpPr txBox="1"/>
            <p:nvPr/>
          </p:nvSpPr>
          <p:spPr>
            <a:xfrm>
              <a:off x="547420" y="2591720"/>
              <a:ext cx="1600571" cy="474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dirty="0"/>
                <a:t>ISO </a:t>
              </a:r>
              <a:r>
                <a:rPr lang="de-CH" dirty="0"/>
                <a:t>52120</a:t>
              </a:r>
              <a:endParaRPr lang="en-CH" dirty="0"/>
            </a:p>
          </p:txBody>
        </p:sp>
        <p:sp>
          <p:nvSpPr>
            <p:cNvPr id="4" name="Rechteck 3"/>
            <p:cNvSpPr/>
            <p:nvPr/>
          </p:nvSpPr>
          <p:spPr>
            <a:xfrm>
              <a:off x="7828156" y="5390934"/>
              <a:ext cx="3672408" cy="576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sz="1600" dirty="0"/>
                <a:t>HVAC </a:t>
              </a:r>
              <a:r>
                <a:rPr lang="sv-SE" sz="1600" dirty="0"/>
                <a:t>energianvändning</a:t>
              </a:r>
              <a:r>
                <a:rPr lang="en-CH" sz="1600" dirty="0"/>
                <a:t> (100%)</a:t>
              </a:r>
            </a:p>
          </p:txBody>
        </p:sp>
        <p:sp>
          <p:nvSpPr>
            <p:cNvPr id="6" name="Pfeil nach links 5"/>
            <p:cNvSpPr/>
            <p:nvPr/>
          </p:nvSpPr>
          <p:spPr>
            <a:xfrm>
              <a:off x="10300724" y="4212671"/>
              <a:ext cx="1199839" cy="890231"/>
            </a:xfrm>
            <a:prstGeom prst="leftArrow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sz="1600"/>
                <a:t>-29%</a:t>
              </a:r>
            </a:p>
          </p:txBody>
        </p:sp>
        <p:sp>
          <p:nvSpPr>
            <p:cNvPr id="11" name="Pfeil nach links 10"/>
            <p:cNvSpPr/>
            <p:nvPr/>
          </p:nvSpPr>
          <p:spPr>
            <a:xfrm>
              <a:off x="9795882" y="3220675"/>
              <a:ext cx="1704681" cy="890231"/>
            </a:xfrm>
            <a:prstGeom prst="leftArrow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sz="1600"/>
                <a:t>-41%</a:t>
              </a:r>
            </a:p>
          </p:txBody>
        </p:sp>
        <p:sp>
          <p:nvSpPr>
            <p:cNvPr id="12" name="Pfeil nach links 11"/>
            <p:cNvSpPr/>
            <p:nvPr/>
          </p:nvSpPr>
          <p:spPr>
            <a:xfrm>
              <a:off x="9340324" y="2222582"/>
              <a:ext cx="2160240" cy="890231"/>
            </a:xfrm>
            <a:prstGeom prst="leftArrow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sz="1600"/>
                <a:t>-55%</a:t>
              </a: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3085899" y="1709234"/>
              <a:ext cx="3806153" cy="395554"/>
            </a:xfrm>
            <a:prstGeom prst="rect">
              <a:avLst/>
            </a:prstGeom>
            <a:solidFill>
              <a:schemeClr val="folHlink"/>
            </a:solidFill>
          </p:spPr>
          <p:txBody>
            <a:bodyPr wrap="square" rtlCol="0">
              <a:spAutoFit/>
            </a:bodyPr>
            <a:lstStyle/>
            <a:p>
              <a:r>
                <a:rPr lang="en-CH" sz="1400" dirty="0"/>
                <a:t>BACS</a:t>
              </a:r>
              <a:r>
                <a:rPr lang="sv-SE" sz="1400" dirty="0"/>
                <a:t>-klassning</a:t>
              </a:r>
              <a:r>
                <a:rPr lang="en-CH" sz="1400" dirty="0"/>
                <a:t> / HVAC </a:t>
              </a:r>
              <a:r>
                <a:rPr lang="sv-SE" sz="1400" dirty="0"/>
                <a:t>system</a:t>
              </a:r>
              <a:r>
                <a:rPr lang="en-CH" sz="1400" dirty="0"/>
                <a:t> </a:t>
              </a:r>
            </a:p>
          </p:txBody>
        </p:sp>
        <p:sp>
          <p:nvSpPr>
            <p:cNvPr id="13" name="Textfeld 12"/>
            <p:cNvSpPr txBox="1"/>
            <p:nvPr/>
          </p:nvSpPr>
          <p:spPr>
            <a:xfrm>
              <a:off x="4731813" y="2366900"/>
              <a:ext cx="2218338" cy="949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1400" dirty="0"/>
                <a:t>Hög energieffektivitets-</a:t>
              </a:r>
              <a:r>
                <a:rPr lang="en-CH" sz="1400" dirty="0"/>
                <a:t>BACS</a:t>
              </a:r>
            </a:p>
          </p:txBody>
        </p:sp>
        <p:sp>
          <p:nvSpPr>
            <p:cNvPr id="14" name="Textfeld 13"/>
            <p:cNvSpPr txBox="1"/>
            <p:nvPr/>
          </p:nvSpPr>
          <p:spPr>
            <a:xfrm>
              <a:off x="5243625" y="3346741"/>
              <a:ext cx="1289625" cy="672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1400" dirty="0"/>
                <a:t>A</a:t>
              </a:r>
              <a:r>
                <a:rPr lang="sv-SE" sz="1400" dirty="0" err="1"/>
                <a:t>vancerad</a:t>
              </a:r>
              <a:endParaRPr lang="en-CH" sz="1400" dirty="0"/>
            </a:p>
            <a:p>
              <a:r>
                <a:rPr lang="en-CH" sz="1400" dirty="0"/>
                <a:t>BACS</a:t>
              </a:r>
            </a:p>
          </p:txBody>
        </p:sp>
        <p:sp>
          <p:nvSpPr>
            <p:cNvPr id="15" name="Textfeld 14"/>
            <p:cNvSpPr txBox="1"/>
            <p:nvPr/>
          </p:nvSpPr>
          <p:spPr>
            <a:xfrm>
              <a:off x="6042161" y="4310692"/>
              <a:ext cx="1132278" cy="672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1400"/>
                <a:t>Standard</a:t>
              </a:r>
            </a:p>
            <a:p>
              <a:r>
                <a:rPr lang="en-CH" sz="1400"/>
                <a:t>BACS</a:t>
              </a:r>
            </a:p>
          </p:txBody>
        </p:sp>
        <p:sp>
          <p:nvSpPr>
            <p:cNvPr id="16" name="Textfeld 15"/>
            <p:cNvSpPr txBox="1"/>
            <p:nvPr/>
          </p:nvSpPr>
          <p:spPr>
            <a:xfrm>
              <a:off x="6951433" y="5274642"/>
              <a:ext cx="839344" cy="672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400" dirty="0"/>
                <a:t>Ingen</a:t>
              </a:r>
              <a:endParaRPr lang="en-CH" sz="1400" dirty="0"/>
            </a:p>
            <a:p>
              <a:r>
                <a:rPr lang="en-CH" sz="1400" dirty="0"/>
                <a:t>BACS</a:t>
              </a:r>
            </a:p>
          </p:txBody>
        </p:sp>
        <p:cxnSp>
          <p:nvCxnSpPr>
            <p:cNvPr id="18" name="Gerader Verbinder 17"/>
            <p:cNvCxnSpPr/>
            <p:nvPr/>
          </p:nvCxnSpPr>
          <p:spPr>
            <a:xfrm>
              <a:off x="11500564" y="2180630"/>
              <a:ext cx="0" cy="38583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Grafik 2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71554" y="1707932"/>
              <a:ext cx="887137" cy="713258"/>
            </a:xfrm>
            <a:prstGeom prst="rect">
              <a:avLst/>
            </a:prstGeom>
          </p:spPr>
        </p:pic>
        <p:sp>
          <p:nvSpPr>
            <p:cNvPr id="24" name="Textfeld 23"/>
            <p:cNvSpPr txBox="1"/>
            <p:nvPr/>
          </p:nvSpPr>
          <p:spPr>
            <a:xfrm>
              <a:off x="7252093" y="1707932"/>
              <a:ext cx="4248470" cy="395554"/>
            </a:xfrm>
            <a:prstGeom prst="rect">
              <a:avLst/>
            </a:prstGeom>
            <a:solidFill>
              <a:schemeClr val="folHlink"/>
            </a:solidFill>
          </p:spPr>
          <p:txBody>
            <a:bodyPr wrap="square" rtlCol="0">
              <a:spAutoFit/>
            </a:bodyPr>
            <a:lstStyle/>
            <a:p>
              <a:r>
                <a:rPr lang="sv-SE" sz="1400" dirty="0"/>
                <a:t>Förväntad energibesparing i</a:t>
              </a:r>
              <a:r>
                <a:rPr lang="en-CH" sz="1400" dirty="0"/>
                <a:t> HVAC</a:t>
              </a:r>
            </a:p>
          </p:txBody>
        </p:sp>
        <p:sp>
          <p:nvSpPr>
            <p:cNvPr id="25" name="Textfeld 24"/>
            <p:cNvSpPr txBox="1"/>
            <p:nvPr/>
          </p:nvSpPr>
          <p:spPr>
            <a:xfrm rot="20290607">
              <a:off x="7609664" y="3419608"/>
              <a:ext cx="1757507" cy="593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200" b="1">
                  <a:solidFill>
                    <a:srgbClr val="FFFFFF"/>
                  </a:solidFill>
                </a:rPr>
                <a:t>Small Devices, Big Impact.</a:t>
              </a:r>
            </a:p>
          </p:txBody>
        </p:sp>
        <p:pic>
          <p:nvPicPr>
            <p:cNvPr id="2050" name="Picture 2" descr="Image result for EU logo">
              <a:extLst>
                <a:ext uri="{FF2B5EF4-FFF2-40B4-BE49-F238E27FC236}">
                  <a16:creationId xmlns:a16="http://schemas.microsoft.com/office/drawing/2014/main" id="{D217D090-BB24-4085-AD51-9F0ABB99B2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8786"/>
            <a:stretch/>
          </p:blipFill>
          <p:spPr bwMode="auto">
            <a:xfrm>
              <a:off x="691434" y="1707932"/>
              <a:ext cx="1080120" cy="713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A85DA4A-C5B5-4703-A352-6F9D3696B821}"/>
                </a:ext>
              </a:extLst>
            </p:cNvPr>
            <p:cNvSpPr txBox="1"/>
            <p:nvPr/>
          </p:nvSpPr>
          <p:spPr>
            <a:xfrm>
              <a:off x="7828156" y="6039006"/>
              <a:ext cx="4288224" cy="355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1200"/>
                <a:t>BACS = Building Automation &amp; Control Systems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DF76FD-A8C8-0660-DB0A-5EA668A4E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Betydelsen</a:t>
            </a:r>
            <a:r>
              <a:rPr lang="en-US" dirty="0"/>
              <a:t> av HVAC system</a:t>
            </a:r>
            <a:br>
              <a:rPr lang="en-US" dirty="0"/>
            </a:br>
            <a:r>
              <a:rPr lang="sv-SE" dirty="0">
                <a:solidFill>
                  <a:schemeClr val="bg2"/>
                </a:solidFill>
              </a:rPr>
              <a:t>Effektiviteten i din utrustning har stor inverkan på ditt VVS-system</a:t>
            </a:r>
            <a:endParaRPr lang="en-US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03C1D45-DC3F-8E20-C2AB-4BBCD327B1E0}"/>
              </a:ext>
            </a:extLst>
          </p:cNvPr>
          <p:cNvSpPr txBox="1"/>
          <p:nvPr/>
        </p:nvSpPr>
        <p:spPr>
          <a:xfrm>
            <a:off x="3975100" y="1889125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80000" indent="-180000" algn="l">
              <a:spcBef>
                <a:spcPts val="0"/>
              </a:spcBef>
              <a:spcAft>
                <a:spcPts val="600"/>
              </a:spcAft>
              <a:buClr>
                <a:srgbClr val="BD2429"/>
              </a:buClr>
              <a:buSzPct val="100000"/>
              <a:buFont typeface="Arial" panose="020B0604020202020204" pitchFamily="34" charset="0"/>
              <a:buChar char="•"/>
            </a:pPr>
            <a:endParaRPr lang="en-CH" sz="1400" kern="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B896292E-1B5E-E531-2633-BC268905E3D1}"/>
              </a:ext>
            </a:extLst>
          </p:cNvPr>
          <p:cNvSpPr/>
          <p:nvPr/>
        </p:nvSpPr>
        <p:spPr>
          <a:xfrm>
            <a:off x="3627484" y="2125228"/>
            <a:ext cx="1717644" cy="4267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 dirty="0"/>
              <a:t>Bättre kontroll</a:t>
            </a:r>
            <a:endParaRPr lang="en-CH" sz="1600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6B2CC11-5A07-E8F2-724E-69C23BC797E9}"/>
              </a:ext>
            </a:extLst>
          </p:cNvPr>
          <p:cNvSpPr/>
          <p:nvPr/>
        </p:nvSpPr>
        <p:spPr>
          <a:xfrm>
            <a:off x="6513670" y="1839502"/>
            <a:ext cx="3533405" cy="9092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000" dirty="0"/>
              <a:t>Effektivare HVAC </a:t>
            </a:r>
            <a:r>
              <a:rPr lang="en-CH" sz="2000" dirty="0"/>
              <a:t>System</a:t>
            </a:r>
          </a:p>
        </p:txBody>
      </p:sp>
      <p:sp>
        <p:nvSpPr>
          <p:cNvPr id="34" name="Pfeil: nach rechts 33">
            <a:extLst>
              <a:ext uri="{FF2B5EF4-FFF2-40B4-BE49-F238E27FC236}">
                <a16:creationId xmlns:a16="http://schemas.microsoft.com/office/drawing/2014/main" id="{9BD4B933-9741-E849-6EBD-81A84B0B3D3E}"/>
              </a:ext>
            </a:extLst>
          </p:cNvPr>
          <p:cNvSpPr/>
          <p:nvPr/>
        </p:nvSpPr>
        <p:spPr>
          <a:xfrm>
            <a:off x="5415143" y="2182521"/>
            <a:ext cx="1062507" cy="30777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282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A2EFB-6C5D-716A-EC9F-4ECF84A1D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5E3B-619A-89B0-24F9-1AB197C81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Vad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RetroFit</a:t>
            </a:r>
            <a:r>
              <a:rPr lang="en-US" dirty="0"/>
              <a:t>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D4C15D-B213-B2CA-FEA7-841DABAEC4E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 err="1"/>
              <a:t>Lösningen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skräddarsydd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AD56B32-89A0-5A71-BAF9-AC5FCE9D69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28" name="Grupp 27">
            <a:extLst>
              <a:ext uri="{FF2B5EF4-FFF2-40B4-BE49-F238E27FC236}">
                <a16:creationId xmlns:a16="http://schemas.microsoft.com/office/drawing/2014/main" id="{9C104835-4B91-1C36-540D-B2A30EA7CF7B}"/>
              </a:ext>
            </a:extLst>
          </p:cNvPr>
          <p:cNvGrpSpPr/>
          <p:nvPr/>
        </p:nvGrpSpPr>
        <p:grpSpPr>
          <a:xfrm>
            <a:off x="533922" y="3822714"/>
            <a:ext cx="1650200" cy="2312433"/>
            <a:chOff x="983432" y="4121715"/>
            <a:chExt cx="1650200" cy="2312433"/>
          </a:xfrm>
        </p:grpSpPr>
        <p:pic>
          <p:nvPicPr>
            <p:cNvPr id="4" name="Bild 3" descr="Sjukvård kontur">
              <a:extLst>
                <a:ext uri="{FF2B5EF4-FFF2-40B4-BE49-F238E27FC236}">
                  <a16:creationId xmlns:a16="http://schemas.microsoft.com/office/drawing/2014/main" id="{ED4224F7-CFC8-669A-022D-5C36389A41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03828" y="4121715"/>
              <a:ext cx="609408" cy="609408"/>
            </a:xfrm>
            <a:prstGeom prst="rect">
              <a:avLst/>
            </a:prstGeom>
          </p:spPr>
        </p:pic>
        <p:grpSp>
          <p:nvGrpSpPr>
            <p:cNvPr id="27" name="Grupp 26">
              <a:extLst>
                <a:ext uri="{FF2B5EF4-FFF2-40B4-BE49-F238E27FC236}">
                  <a16:creationId xmlns:a16="http://schemas.microsoft.com/office/drawing/2014/main" id="{8951FC80-DF00-CAD1-BBBF-7D051BC06857}"/>
                </a:ext>
              </a:extLst>
            </p:cNvPr>
            <p:cNvGrpSpPr/>
            <p:nvPr/>
          </p:nvGrpSpPr>
          <p:grpSpPr>
            <a:xfrm>
              <a:off x="983432" y="4602827"/>
              <a:ext cx="1650200" cy="1831321"/>
              <a:chOff x="983432" y="4602827"/>
              <a:chExt cx="1650200" cy="1831321"/>
            </a:xfrm>
          </p:grpSpPr>
          <p:pic>
            <p:nvPicPr>
              <p:cNvPr id="8" name="Bild 7" descr="Sjukhus kontur">
                <a:extLst>
                  <a:ext uri="{FF2B5EF4-FFF2-40B4-BE49-F238E27FC236}">
                    <a16:creationId xmlns:a16="http://schemas.microsoft.com/office/drawing/2014/main" id="{33F61C92-2003-8223-A4A6-BE4A4BBE81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83432" y="4602827"/>
                <a:ext cx="1650200" cy="1650200"/>
              </a:xfrm>
              <a:prstGeom prst="rect">
                <a:avLst/>
              </a:prstGeom>
            </p:spPr>
          </p:pic>
          <p:sp>
            <p:nvSpPr>
              <p:cNvPr id="23" name="textruta 22">
                <a:extLst>
                  <a:ext uri="{FF2B5EF4-FFF2-40B4-BE49-F238E27FC236}">
                    <a16:creationId xmlns:a16="http://schemas.microsoft.com/office/drawing/2014/main" id="{5B42BD70-E4A8-3D5B-84D7-96E8E5E6A96A}"/>
                  </a:ext>
                </a:extLst>
              </p:cNvPr>
              <p:cNvSpPr txBox="1"/>
              <p:nvPr/>
            </p:nvSpPr>
            <p:spPr>
              <a:xfrm>
                <a:off x="1265648" y="6064816"/>
                <a:ext cx="10054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Sjukhus</a:t>
                </a:r>
                <a:endParaRPr lang="en-US" dirty="0"/>
              </a:p>
            </p:txBody>
          </p:sp>
        </p:grpSp>
      </p:grpSp>
      <p:grpSp>
        <p:nvGrpSpPr>
          <p:cNvPr id="38" name="Grupp 37">
            <a:extLst>
              <a:ext uri="{FF2B5EF4-FFF2-40B4-BE49-F238E27FC236}">
                <a16:creationId xmlns:a16="http://schemas.microsoft.com/office/drawing/2014/main" id="{577B8A99-B33F-0CC2-CFA4-195076BAC6B3}"/>
              </a:ext>
            </a:extLst>
          </p:cNvPr>
          <p:cNvGrpSpPr/>
          <p:nvPr/>
        </p:nvGrpSpPr>
        <p:grpSpPr>
          <a:xfrm>
            <a:off x="2639616" y="3868117"/>
            <a:ext cx="2044149" cy="2299627"/>
            <a:chOff x="2639616" y="3868117"/>
            <a:chExt cx="2044149" cy="2299627"/>
          </a:xfrm>
        </p:grpSpPr>
        <p:sp>
          <p:nvSpPr>
            <p:cNvPr id="22" name="textruta 21">
              <a:extLst>
                <a:ext uri="{FF2B5EF4-FFF2-40B4-BE49-F238E27FC236}">
                  <a16:creationId xmlns:a16="http://schemas.microsoft.com/office/drawing/2014/main" id="{5752271E-AE94-9635-4B8A-5876A26D83E1}"/>
                </a:ext>
              </a:extLst>
            </p:cNvPr>
            <p:cNvSpPr txBox="1"/>
            <p:nvPr/>
          </p:nvSpPr>
          <p:spPr>
            <a:xfrm>
              <a:off x="2639616" y="5798412"/>
              <a:ext cx="2044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Utbildn.byggnader</a:t>
              </a:r>
              <a:endParaRPr lang="en-US" dirty="0"/>
            </a:p>
          </p:txBody>
        </p:sp>
        <p:pic>
          <p:nvPicPr>
            <p:cNvPr id="7" name="Bild 6" descr="Skola kontur">
              <a:extLst>
                <a:ext uri="{FF2B5EF4-FFF2-40B4-BE49-F238E27FC236}">
                  <a16:creationId xmlns:a16="http://schemas.microsoft.com/office/drawing/2014/main" id="{E892A1A0-BC20-1DBE-6818-0CB653DB8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751174" y="4303826"/>
              <a:ext cx="1549297" cy="1549297"/>
            </a:xfrm>
            <a:prstGeom prst="rect">
              <a:avLst/>
            </a:prstGeom>
          </p:spPr>
        </p:pic>
        <p:pic>
          <p:nvPicPr>
            <p:cNvPr id="11" name="Bild 10" descr="Läraren har kontur">
              <a:extLst>
                <a:ext uri="{FF2B5EF4-FFF2-40B4-BE49-F238E27FC236}">
                  <a16:creationId xmlns:a16="http://schemas.microsoft.com/office/drawing/2014/main" id="{3806A322-7B28-F9AB-2261-24AA275FD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218301" y="3868117"/>
              <a:ext cx="609407" cy="609407"/>
            </a:xfrm>
            <a:prstGeom prst="rect">
              <a:avLst/>
            </a:prstGeom>
          </p:spPr>
        </p:pic>
      </p:grpSp>
      <p:grpSp>
        <p:nvGrpSpPr>
          <p:cNvPr id="39" name="Grupp 38">
            <a:extLst>
              <a:ext uri="{FF2B5EF4-FFF2-40B4-BE49-F238E27FC236}">
                <a16:creationId xmlns:a16="http://schemas.microsoft.com/office/drawing/2014/main" id="{301FEE93-B3DB-9A7D-6EFB-9408B3D4AC44}"/>
              </a:ext>
            </a:extLst>
          </p:cNvPr>
          <p:cNvGrpSpPr/>
          <p:nvPr/>
        </p:nvGrpSpPr>
        <p:grpSpPr>
          <a:xfrm>
            <a:off x="4735562" y="4768826"/>
            <a:ext cx="1582484" cy="1366321"/>
            <a:chOff x="4735562" y="4768826"/>
            <a:chExt cx="1582484" cy="1366321"/>
          </a:xfrm>
        </p:grpSpPr>
        <p:sp>
          <p:nvSpPr>
            <p:cNvPr id="21" name="textruta 20">
              <a:extLst>
                <a:ext uri="{FF2B5EF4-FFF2-40B4-BE49-F238E27FC236}">
                  <a16:creationId xmlns:a16="http://schemas.microsoft.com/office/drawing/2014/main" id="{46CC7E88-F2B6-75E5-6F12-D57A207FC013}"/>
                </a:ext>
              </a:extLst>
            </p:cNvPr>
            <p:cNvSpPr txBox="1"/>
            <p:nvPr/>
          </p:nvSpPr>
          <p:spPr>
            <a:xfrm>
              <a:off x="4735562" y="5765815"/>
              <a:ext cx="1582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Restauranger</a:t>
              </a:r>
              <a:endParaRPr lang="en-US" dirty="0"/>
            </a:p>
          </p:txBody>
        </p:sp>
        <p:pic>
          <p:nvPicPr>
            <p:cNvPr id="15" name="Bild 14" descr="Kniv och gaffel kontur">
              <a:extLst>
                <a:ext uri="{FF2B5EF4-FFF2-40B4-BE49-F238E27FC236}">
                  <a16:creationId xmlns:a16="http://schemas.microsoft.com/office/drawing/2014/main" id="{CE29DA4F-A2AA-84C4-CBA8-071BBEB7A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920484" y="4768826"/>
              <a:ext cx="914400" cy="914400"/>
            </a:xfrm>
            <a:prstGeom prst="rect">
              <a:avLst/>
            </a:prstGeom>
          </p:spPr>
        </p:pic>
      </p:grpSp>
      <p:grpSp>
        <p:nvGrpSpPr>
          <p:cNvPr id="40" name="Grupp 39">
            <a:extLst>
              <a:ext uri="{FF2B5EF4-FFF2-40B4-BE49-F238E27FC236}">
                <a16:creationId xmlns:a16="http://schemas.microsoft.com/office/drawing/2014/main" id="{8EE9C457-EBA7-912B-9913-6DC4B300A527}"/>
              </a:ext>
            </a:extLst>
          </p:cNvPr>
          <p:cNvGrpSpPr/>
          <p:nvPr/>
        </p:nvGrpSpPr>
        <p:grpSpPr>
          <a:xfrm>
            <a:off x="6353171" y="4303827"/>
            <a:ext cx="1520837" cy="1827776"/>
            <a:chOff x="6353171" y="4303827"/>
            <a:chExt cx="1520837" cy="1827776"/>
          </a:xfrm>
        </p:grpSpPr>
        <p:grpSp>
          <p:nvGrpSpPr>
            <p:cNvPr id="31" name="Grupp 30">
              <a:extLst>
                <a:ext uri="{FF2B5EF4-FFF2-40B4-BE49-F238E27FC236}">
                  <a16:creationId xmlns:a16="http://schemas.microsoft.com/office/drawing/2014/main" id="{7453DF2D-00BB-7749-64D6-171D41794462}"/>
                </a:ext>
              </a:extLst>
            </p:cNvPr>
            <p:cNvGrpSpPr/>
            <p:nvPr/>
          </p:nvGrpSpPr>
          <p:grpSpPr>
            <a:xfrm>
              <a:off x="6353171" y="4303827"/>
              <a:ext cx="1520837" cy="1827776"/>
              <a:chOff x="6802682" y="4789044"/>
              <a:chExt cx="1159234" cy="1641559"/>
            </a:xfrm>
          </p:grpSpPr>
          <p:pic>
            <p:nvPicPr>
              <p:cNvPr id="16" name="Bild 15" descr="Hotellklocka kontur">
                <a:extLst>
                  <a:ext uri="{FF2B5EF4-FFF2-40B4-BE49-F238E27FC236}">
                    <a16:creationId xmlns:a16="http://schemas.microsoft.com/office/drawing/2014/main" id="{A1525F32-2F1A-0736-BB33-C697E49C9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802682" y="4789044"/>
                <a:ext cx="1159234" cy="1159234"/>
              </a:xfrm>
              <a:prstGeom prst="rect">
                <a:avLst/>
              </a:prstGeom>
            </p:spPr>
          </p:pic>
          <p:sp>
            <p:nvSpPr>
              <p:cNvPr id="24" name="textruta 23">
                <a:extLst>
                  <a:ext uri="{FF2B5EF4-FFF2-40B4-BE49-F238E27FC236}">
                    <a16:creationId xmlns:a16="http://schemas.microsoft.com/office/drawing/2014/main" id="{CD3BB16D-C186-2684-6A01-D6ECCF615E08}"/>
                  </a:ext>
                </a:extLst>
              </p:cNvPr>
              <p:cNvSpPr txBox="1"/>
              <p:nvPr/>
            </p:nvSpPr>
            <p:spPr>
              <a:xfrm>
                <a:off x="7000304" y="6061271"/>
                <a:ext cx="7745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Hotell</a:t>
                </a:r>
                <a:endParaRPr lang="en-US" dirty="0"/>
              </a:p>
            </p:txBody>
          </p:sp>
        </p:grpSp>
        <p:pic>
          <p:nvPicPr>
            <p:cNvPr id="19" name="Bild 18" descr="Hotellklocka kontur">
              <a:extLst>
                <a:ext uri="{FF2B5EF4-FFF2-40B4-BE49-F238E27FC236}">
                  <a16:creationId xmlns:a16="http://schemas.microsoft.com/office/drawing/2014/main" id="{1AD33CAD-38F9-8180-586D-9C8ADB410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398382" y="4600320"/>
              <a:ext cx="1094748" cy="1094748"/>
            </a:xfrm>
            <a:prstGeom prst="rect">
              <a:avLst/>
            </a:prstGeom>
          </p:spPr>
        </p:pic>
      </p:grpSp>
      <p:grpSp>
        <p:nvGrpSpPr>
          <p:cNvPr id="41" name="Grupp 40">
            <a:extLst>
              <a:ext uri="{FF2B5EF4-FFF2-40B4-BE49-F238E27FC236}">
                <a16:creationId xmlns:a16="http://schemas.microsoft.com/office/drawing/2014/main" id="{951CE2EE-C6BA-7533-6F6D-2D5CE03378A5}"/>
              </a:ext>
            </a:extLst>
          </p:cNvPr>
          <p:cNvGrpSpPr/>
          <p:nvPr/>
        </p:nvGrpSpPr>
        <p:grpSpPr>
          <a:xfrm>
            <a:off x="7874009" y="4542114"/>
            <a:ext cx="1612416" cy="1546621"/>
            <a:chOff x="7874009" y="4542114"/>
            <a:chExt cx="1612416" cy="1546621"/>
          </a:xfrm>
        </p:grpSpPr>
        <p:sp>
          <p:nvSpPr>
            <p:cNvPr id="25" name="textruta 24">
              <a:extLst>
                <a:ext uri="{FF2B5EF4-FFF2-40B4-BE49-F238E27FC236}">
                  <a16:creationId xmlns:a16="http://schemas.microsoft.com/office/drawing/2014/main" id="{4C6EB747-F523-CCB0-ACEE-E9042D701938}"/>
                </a:ext>
              </a:extLst>
            </p:cNvPr>
            <p:cNvSpPr txBox="1"/>
            <p:nvPr/>
          </p:nvSpPr>
          <p:spPr>
            <a:xfrm>
              <a:off x="7874009" y="5674286"/>
              <a:ext cx="1612416" cy="4144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Köpcentrum</a:t>
              </a:r>
              <a:endParaRPr lang="en-US" dirty="0"/>
            </a:p>
          </p:txBody>
        </p:sp>
        <p:pic>
          <p:nvPicPr>
            <p:cNvPr id="35" name="Bild 34" descr="Kasse med hel fyllning">
              <a:extLst>
                <a:ext uri="{FF2B5EF4-FFF2-40B4-BE49-F238E27FC236}">
                  <a16:creationId xmlns:a16="http://schemas.microsoft.com/office/drawing/2014/main" id="{CF9B60C2-0B6B-7FC4-70D3-444568723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146695" y="4542114"/>
              <a:ext cx="914400" cy="914400"/>
            </a:xfrm>
            <a:prstGeom prst="rect">
              <a:avLst/>
            </a:prstGeom>
          </p:spPr>
        </p:pic>
      </p:grpSp>
      <p:grpSp>
        <p:nvGrpSpPr>
          <p:cNvPr id="42" name="Grupp 41">
            <a:extLst>
              <a:ext uri="{FF2B5EF4-FFF2-40B4-BE49-F238E27FC236}">
                <a16:creationId xmlns:a16="http://schemas.microsoft.com/office/drawing/2014/main" id="{60C8EABA-2D06-8CA8-F2E0-9D974C510F2F}"/>
              </a:ext>
            </a:extLst>
          </p:cNvPr>
          <p:cNvGrpSpPr/>
          <p:nvPr/>
        </p:nvGrpSpPr>
        <p:grpSpPr>
          <a:xfrm>
            <a:off x="9672968" y="4600320"/>
            <a:ext cx="1103552" cy="1441141"/>
            <a:chOff x="9672968" y="4600320"/>
            <a:chExt cx="1103552" cy="1441141"/>
          </a:xfrm>
        </p:grpSpPr>
        <p:sp>
          <p:nvSpPr>
            <p:cNvPr id="26" name="textruta 25">
              <a:extLst>
                <a:ext uri="{FF2B5EF4-FFF2-40B4-BE49-F238E27FC236}">
                  <a16:creationId xmlns:a16="http://schemas.microsoft.com/office/drawing/2014/main" id="{678D4395-9E3D-9B85-723E-D7F4DC33A881}"/>
                </a:ext>
              </a:extLst>
            </p:cNvPr>
            <p:cNvSpPr txBox="1"/>
            <p:nvPr/>
          </p:nvSpPr>
          <p:spPr>
            <a:xfrm>
              <a:off x="9867304" y="5672129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Kontor</a:t>
              </a:r>
              <a:endParaRPr lang="en-US" dirty="0"/>
            </a:p>
          </p:txBody>
        </p:sp>
        <p:pic>
          <p:nvPicPr>
            <p:cNvPr id="37" name="Bild 36" descr="Stad kontur">
              <a:extLst>
                <a:ext uri="{FF2B5EF4-FFF2-40B4-BE49-F238E27FC236}">
                  <a16:creationId xmlns:a16="http://schemas.microsoft.com/office/drawing/2014/main" id="{E932673C-EF4B-95A8-E6BC-FC833FBAD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672968" y="4600320"/>
              <a:ext cx="1103552" cy="1103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75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0564EF2-281C-9732-6979-750AC64BE5D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564EF2-281C-9732-6979-750AC64BE5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hteck 17">
            <a:extLst>
              <a:ext uri="{FF2B5EF4-FFF2-40B4-BE49-F238E27FC236}">
                <a16:creationId xmlns:a16="http://schemas.microsoft.com/office/drawing/2014/main" id="{AB779E9D-66A6-50FB-E4B9-38BB8CA968FB}"/>
              </a:ext>
            </a:extLst>
          </p:cNvPr>
          <p:cNvSpPr/>
          <p:nvPr/>
        </p:nvSpPr>
        <p:spPr>
          <a:xfrm>
            <a:off x="2654764" y="3265270"/>
            <a:ext cx="1330655" cy="133065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F2BB8AC3-B253-CA3B-2717-A4FB6ED287E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8901" y="549274"/>
            <a:ext cx="807793" cy="317690"/>
          </a:xfrm>
          <a:prstGeom prst="rect">
            <a:avLst/>
          </a:prstGeom>
        </p:spPr>
      </p:pic>
      <p:sp>
        <p:nvSpPr>
          <p:cNvPr id="11" name="Foliennummernplatzhalter 2">
            <a:extLst>
              <a:ext uri="{FF2B5EF4-FFF2-40B4-BE49-F238E27FC236}">
                <a16:creationId xmlns:a16="http://schemas.microsoft.com/office/drawing/2014/main" id="{9E66E9F7-F592-4224-6C01-279E1D9320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76520" y="6476274"/>
            <a:ext cx="791064" cy="180114"/>
          </a:xfrm>
        </p:spPr>
        <p:txBody>
          <a:bodyPr lIns="0" tIns="0" rIns="0" bIns="0">
            <a:noAutofit/>
          </a:bodyPr>
          <a:lstStyle/>
          <a:p>
            <a:fld id="{7B06F2F6-E945-43FC-BABC-9B8B9FFB3384}" type="slidenum">
              <a:rPr lang="en-CH" sz="900" smtClean="0">
                <a:latin typeface="Arial Nova" panose="020B0504020202020204" pitchFamily="34" charset="0"/>
              </a:rPr>
              <a:pPr/>
              <a:t>8</a:t>
            </a:fld>
            <a:endParaRPr lang="en-CH" sz="900">
              <a:latin typeface="Arial Nova" panose="020B0504020202020204" pitchFamily="34" charset="0"/>
            </a:endParaRPr>
          </a:p>
        </p:txBody>
      </p:sp>
      <p:sp>
        <p:nvSpPr>
          <p:cNvPr id="2" name="Rectangle 51">
            <a:extLst>
              <a:ext uri="{FF2B5EF4-FFF2-40B4-BE49-F238E27FC236}">
                <a16:creationId xmlns:a16="http://schemas.microsoft.com/office/drawing/2014/main" id="{0FF56BED-EFB7-FFE6-EB1D-116E8F357016}"/>
              </a:ext>
            </a:extLst>
          </p:cNvPr>
          <p:cNvSpPr>
            <a:spLocks/>
          </p:cNvSpPr>
          <p:nvPr/>
        </p:nvSpPr>
        <p:spPr>
          <a:xfrm>
            <a:off x="798096" y="1779597"/>
            <a:ext cx="3401484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r>
              <a:rPr lang="en-CH" sz="1600" b="1" kern="0" dirty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HVAC / </a:t>
            </a:r>
            <a:r>
              <a:rPr lang="sv-SE" sz="1600" b="1" kern="0" dirty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utvärdering</a:t>
            </a:r>
            <a:br>
              <a:rPr lang="en-CH" sz="1600" b="1" kern="0" dirty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</a:br>
            <a:r>
              <a:rPr lang="en-CH" sz="1600" b="1" kern="0" dirty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ISO EN 52120</a:t>
            </a:r>
          </a:p>
        </p:txBody>
      </p:sp>
      <p:grpSp>
        <p:nvGrpSpPr>
          <p:cNvPr id="3" name="Group 56">
            <a:extLst>
              <a:ext uri="{FF2B5EF4-FFF2-40B4-BE49-F238E27FC236}">
                <a16:creationId xmlns:a16="http://schemas.microsoft.com/office/drawing/2014/main" id="{FC659E16-3E7A-FE6E-5A45-A22E7BBB12A7}"/>
              </a:ext>
            </a:extLst>
          </p:cNvPr>
          <p:cNvGrpSpPr>
            <a:grpSpLocks/>
          </p:cNvGrpSpPr>
          <p:nvPr/>
        </p:nvGrpSpPr>
        <p:grpSpPr>
          <a:xfrm>
            <a:off x="798096" y="3352321"/>
            <a:ext cx="3401484" cy="1999339"/>
            <a:chOff x="623888" y="2857200"/>
            <a:chExt cx="2806983" cy="1704530"/>
          </a:xfrm>
        </p:grpSpPr>
        <p:grpSp>
          <p:nvGrpSpPr>
            <p:cNvPr id="4" name="Group 57">
              <a:extLst>
                <a:ext uri="{FF2B5EF4-FFF2-40B4-BE49-F238E27FC236}">
                  <a16:creationId xmlns:a16="http://schemas.microsoft.com/office/drawing/2014/main" id="{EDE4D2CB-53DD-5E2F-CCC6-E61F56CFED16}"/>
                </a:ext>
              </a:extLst>
            </p:cNvPr>
            <p:cNvGrpSpPr/>
            <p:nvPr/>
          </p:nvGrpSpPr>
          <p:grpSpPr>
            <a:xfrm>
              <a:off x="623888" y="2857200"/>
              <a:ext cx="2806983" cy="1704530"/>
              <a:chOff x="919162" y="2924238"/>
              <a:chExt cx="2806983" cy="1704530"/>
            </a:xfrm>
          </p:grpSpPr>
          <p:pic>
            <p:nvPicPr>
              <p:cNvPr id="7" name="Picture 74">
                <a:extLst>
                  <a:ext uri="{FF2B5EF4-FFF2-40B4-BE49-F238E27FC236}">
                    <a16:creationId xmlns:a16="http://schemas.microsoft.com/office/drawing/2014/main" id="{E2A93E3B-95B9-D150-FB9E-BCE4A61418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3222" b="94988" l="3696" r="96232">
                            <a14:foregroundMark x1="11159" y1="6205" x2="13188" y2="34010"/>
                            <a14:foregroundMark x1="13188" y1="34010" x2="11667" y2="92840"/>
                            <a14:foregroundMark x1="11667" y1="92840" x2="6812" y2="92005"/>
                            <a14:foregroundMark x1="6812" y1="92005" x2="11014" y2="95227"/>
                            <a14:foregroundMark x1="11014" y1="95227" x2="18768" y2="95585"/>
                            <a14:foregroundMark x1="18768" y1="95585" x2="29855" y2="94511"/>
                            <a14:foregroundMark x1="29855" y1="94511" x2="22029" y2="91527"/>
                            <a14:foregroundMark x1="22029" y1="91527" x2="28696" y2="91408"/>
                            <a14:foregroundMark x1="28696" y1="91408" x2="72826" y2="92959"/>
                            <a14:foregroundMark x1="72826" y1="92959" x2="82754" y2="91766"/>
                            <a14:foregroundMark x1="82754" y1="91766" x2="88116" y2="94630"/>
                            <a14:foregroundMark x1="88116" y1="94630" x2="94565" y2="92840"/>
                            <a14:foregroundMark x1="94565" y1="92840" x2="96304" y2="93198"/>
                            <a14:foregroundMark x1="7826" y1="95823" x2="3768" y2="93079"/>
                            <a14:foregroundMark x1="3768" y1="93079" x2="6522" y2="92482"/>
                            <a14:foregroundMark x1="12246" y1="90453" x2="25652" y2="88305"/>
                            <a14:foregroundMark x1="25652" y1="88305" x2="16377" y2="88544"/>
                            <a14:foregroundMark x1="16377" y1="88544" x2="26159" y2="89976"/>
                            <a14:foregroundMark x1="26159" y1="89976" x2="44420" y2="87589"/>
                            <a14:foregroundMark x1="44420" y1="87589" x2="58768" y2="88902"/>
                            <a14:foregroundMark x1="58768" y1="88902" x2="76594" y2="87351"/>
                            <a14:foregroundMark x1="76594" y1="87351" x2="82029" y2="89737"/>
                            <a14:foregroundMark x1="82029" y1="89737" x2="88043" y2="89260"/>
                            <a14:foregroundMark x1="88043" y1="89260" x2="89275" y2="9189"/>
                            <a14:foregroundMark x1="89275" y1="9189" x2="87174" y2="4177"/>
                            <a14:foregroundMark x1="89058" y1="7160" x2="82609" y2="3699"/>
                            <a14:foregroundMark x1="82609" y1="3699" x2="11884" y2="3819"/>
                            <a14:foregroundMark x1="11884" y1="3819" x2="11377" y2="9189"/>
                            <a14:foregroundMark x1="83623" y1="3222" x2="88406" y2="4057"/>
                            <a14:foregroundMark x1="88406" y1="4057" x2="89420" y2="7518"/>
                            <a14:foregroundMark x1="11667" y1="25060" x2="10967" y2="35128"/>
                            <a14:foregroundMark x1="12609" y1="53341" x2="12246" y2="28520"/>
                            <a14:foregroundMark x1="89348" y1="60501" x2="88623" y2="94988"/>
                            <a14:foregroundMark x1="75290" y1="69093" x2="63406" y2="63962"/>
                            <a14:foregroundMark x1="63406" y1="63962" x2="77319" y2="63723"/>
                            <a14:foregroundMark x1="77319" y1="63723" x2="71522" y2="60024"/>
                            <a14:foregroundMark x1="71522" y1="60024" x2="71377" y2="60024"/>
                            <a14:foregroundMark x1="52174" y1="67900" x2="59928" y2="65513"/>
                            <a14:foregroundMark x1="59928" y1="65513" x2="61304" y2="64081"/>
                            <a14:backgroundMark x1="8333" y1="7041" x2="8623" y2="59905"/>
                            <a14:backgroundMark x1="10290" y1="35203" x2="10870" y2="494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162" y="2924238"/>
                <a:ext cx="2806983" cy="1704530"/>
              </a:xfrm>
              <a:prstGeom prst="rect">
                <a:avLst/>
              </a:prstGeom>
            </p:spPr>
          </p:pic>
          <p:pic>
            <p:nvPicPr>
              <p:cNvPr id="9" name="Picture 76">
                <a:extLst>
                  <a:ext uri="{FF2B5EF4-FFF2-40B4-BE49-F238E27FC236}">
                    <a16:creationId xmlns:a16="http://schemas.microsoft.com/office/drawing/2014/main" id="{B6F493DB-5567-1270-CA2C-041C83AE22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775" t="1017" r="775" b="1482"/>
              <a:stretch/>
            </p:blipFill>
            <p:spPr>
              <a:xfrm>
                <a:off x="1275245" y="3010902"/>
                <a:ext cx="2119494" cy="1416645"/>
              </a:xfrm>
              <a:prstGeom prst="rect">
                <a:avLst/>
              </a:prstGeom>
            </p:spPr>
          </p:pic>
          <p:sp>
            <p:nvSpPr>
              <p:cNvPr id="12" name="Rectangle 77">
                <a:extLst>
                  <a:ext uri="{FF2B5EF4-FFF2-40B4-BE49-F238E27FC236}">
                    <a16:creationId xmlns:a16="http://schemas.microsoft.com/office/drawing/2014/main" id="{52503803-75B9-DB9C-52EA-964313E7B84F}"/>
                  </a:ext>
                </a:extLst>
              </p:cNvPr>
              <p:cNvSpPr/>
              <p:nvPr/>
            </p:nvSpPr>
            <p:spPr>
              <a:xfrm>
                <a:off x="1669170" y="3095048"/>
                <a:ext cx="1369305" cy="97161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sz="120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sp>
          <p:nvSpPr>
            <p:cNvPr id="5" name="TextBox 59">
              <a:extLst>
                <a:ext uri="{FF2B5EF4-FFF2-40B4-BE49-F238E27FC236}">
                  <a16:creationId xmlns:a16="http://schemas.microsoft.com/office/drawing/2014/main" id="{ABC2C0DB-3BB0-38AF-BDA5-8FC28649D6D5}"/>
                </a:ext>
              </a:extLst>
            </p:cNvPr>
            <p:cNvSpPr txBox="1"/>
            <p:nvPr/>
          </p:nvSpPr>
          <p:spPr>
            <a:xfrm>
              <a:off x="1241048" y="3007767"/>
              <a:ext cx="1243845" cy="144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H" sz="500" b="1">
                  <a:solidFill>
                    <a:sysClr val="windowText" lastClr="000000"/>
                  </a:solidFill>
                  <a:latin typeface="Arial Nova" panose="020B0504020202020204" pitchFamily="34" charset="0"/>
                </a:rPr>
                <a:t>RetroFIT + Assessment Tool</a:t>
              </a:r>
            </a:p>
          </p:txBody>
        </p:sp>
      </p:grpSp>
      <p:sp>
        <p:nvSpPr>
          <p:cNvPr id="13" name="TextBox 2">
            <a:extLst>
              <a:ext uri="{FF2B5EF4-FFF2-40B4-BE49-F238E27FC236}">
                <a16:creationId xmlns:a16="http://schemas.microsoft.com/office/drawing/2014/main" id="{E3CAC6C5-2543-CCED-E81D-DFC049FCC6AD}"/>
              </a:ext>
            </a:extLst>
          </p:cNvPr>
          <p:cNvSpPr txBox="1">
            <a:spLocks/>
          </p:cNvSpPr>
          <p:nvPr/>
        </p:nvSpPr>
        <p:spPr>
          <a:xfrm>
            <a:off x="798096" y="2416040"/>
            <a:ext cx="3292469" cy="7386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lvl="1">
              <a:spcAft>
                <a:spcPts val="300"/>
              </a:spcAft>
              <a:buClr>
                <a:srgbClr val="FF6600"/>
              </a:buClr>
              <a:buSzPct val="80000"/>
            </a:pPr>
            <a:r>
              <a:rPr lang="sv-SE" sz="1200" kern="0" dirty="0"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Inledande bedömning av ditt byggnaders HVAC-system för att avslöja besparingspotential (1 – 2 dagar) med valfri installation av smarta enheter för visualisering av energiflöde</a:t>
            </a:r>
            <a:endParaRPr lang="en-CH" sz="1200" kern="0" dirty="0">
              <a:latin typeface="Arial Nova" panose="020B0504020202020204" pitchFamily="34" charset="0"/>
              <a:cs typeface="Arial" panose="020B0604020202020204" pitchFamily="34" charset="0"/>
              <a:sym typeface="Helvetica Neue Light"/>
            </a:endParaRPr>
          </a:p>
        </p:txBody>
      </p:sp>
      <p:sp>
        <p:nvSpPr>
          <p:cNvPr id="15" name="Rectangle 53">
            <a:extLst>
              <a:ext uri="{FF2B5EF4-FFF2-40B4-BE49-F238E27FC236}">
                <a16:creationId xmlns:a16="http://schemas.microsoft.com/office/drawing/2014/main" id="{0BD61E64-ED8C-07D9-F401-227BEDF53596}"/>
              </a:ext>
            </a:extLst>
          </p:cNvPr>
          <p:cNvSpPr>
            <a:spLocks/>
          </p:cNvSpPr>
          <p:nvPr/>
        </p:nvSpPr>
        <p:spPr>
          <a:xfrm>
            <a:off x="5071988" y="1779588"/>
            <a:ext cx="3401484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r>
              <a:rPr lang="en-CH" sz="1600" b="1" kern="0" dirty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Up</a:t>
            </a:r>
            <a:r>
              <a:rPr lang="sv-SE" sz="1600" b="1" kern="0" dirty="0" err="1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ppgradera</a:t>
            </a:r>
            <a:r>
              <a:rPr lang="en-CH" sz="1600" b="1" kern="0" dirty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 </a:t>
            </a:r>
            <a:br>
              <a:rPr lang="en-CH" sz="1600" b="1" kern="0" dirty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</a:br>
            <a:r>
              <a:rPr lang="sv-SE" sz="1600" b="1" kern="0" dirty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en byggnad</a:t>
            </a:r>
            <a:endParaRPr lang="en-CH" sz="1600" b="1" kern="0" dirty="0">
              <a:solidFill>
                <a:schemeClr val="tx1"/>
              </a:solidFill>
              <a:latin typeface="Arial Nova" panose="020B0504020202020204" pitchFamily="34" charset="0"/>
              <a:cs typeface="Arial" panose="020B0604020202020204" pitchFamily="34" charset="0"/>
              <a:sym typeface="Helvetica Neue Light"/>
            </a:endParaRP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8D9F752E-A73F-DF24-A0C1-A2A0FDE0AC34}"/>
              </a:ext>
            </a:extLst>
          </p:cNvPr>
          <p:cNvSpPr txBox="1">
            <a:spLocks/>
          </p:cNvSpPr>
          <p:nvPr/>
        </p:nvSpPr>
        <p:spPr>
          <a:xfrm>
            <a:off x="5071988" y="2416040"/>
            <a:ext cx="3443532" cy="55399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lvl="1">
              <a:spcAft>
                <a:spcPts val="300"/>
              </a:spcAft>
              <a:buClr>
                <a:srgbClr val="FF6600"/>
              </a:buClr>
              <a:buSzPct val="80000"/>
            </a:pPr>
            <a:r>
              <a:rPr lang="sv-SE" sz="1200" kern="0" dirty="0"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Uppgradera med smarta enheter på rör och kanaler med minimala avbrott i ditt fungerande VVS-system – projektet avslutat inom några dagar</a:t>
            </a:r>
            <a:endParaRPr lang="en-CH" sz="1200" kern="0" dirty="0">
              <a:latin typeface="Arial Nova" panose="020B0504020202020204" pitchFamily="34" charset="0"/>
              <a:cs typeface="Arial" panose="020B0604020202020204" pitchFamily="34" charset="0"/>
              <a:sym typeface="Helvetica Neue Light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4D22B00-C404-AC8D-7CAD-2718649C9109}"/>
              </a:ext>
            </a:extLst>
          </p:cNvPr>
          <p:cNvSpPr/>
          <p:nvPr/>
        </p:nvSpPr>
        <p:spPr>
          <a:xfrm>
            <a:off x="7255339" y="3265270"/>
            <a:ext cx="1330655" cy="133065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6E7E7D0-FAA5-8605-9E05-DB460ED3DFF0}"/>
              </a:ext>
            </a:extLst>
          </p:cNvPr>
          <p:cNvSpPr/>
          <p:nvPr/>
        </p:nvSpPr>
        <p:spPr>
          <a:xfrm>
            <a:off x="9392608" y="3975189"/>
            <a:ext cx="1330655" cy="1330655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200" b="1">
                <a:latin typeface="Arial Nova" panose="020B0504020202020204" pitchFamily="34" charset="0"/>
              </a:rPr>
              <a:t>Repeat</a:t>
            </a:r>
          </a:p>
        </p:txBody>
      </p:sp>
      <p:sp>
        <p:nvSpPr>
          <p:cNvPr id="14" name="Rechteck 19">
            <a:extLst>
              <a:ext uri="{FF2B5EF4-FFF2-40B4-BE49-F238E27FC236}">
                <a16:creationId xmlns:a16="http://schemas.microsoft.com/office/drawing/2014/main" id="{BA6FAE60-6D61-DB6E-42F5-1CBCAACBD924}"/>
              </a:ext>
            </a:extLst>
          </p:cNvPr>
          <p:cNvSpPr/>
          <p:nvPr/>
        </p:nvSpPr>
        <p:spPr>
          <a:xfrm>
            <a:off x="9772120" y="3596024"/>
            <a:ext cx="1330655" cy="1330655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200" b="1">
                <a:latin typeface="Arial Nova" panose="020B0504020202020204" pitchFamily="34" charset="0"/>
              </a:rPr>
              <a:t>Repeat</a:t>
            </a:r>
          </a:p>
        </p:txBody>
      </p:sp>
      <p:sp>
        <p:nvSpPr>
          <p:cNvPr id="22" name="Rechteck 19">
            <a:extLst>
              <a:ext uri="{FF2B5EF4-FFF2-40B4-BE49-F238E27FC236}">
                <a16:creationId xmlns:a16="http://schemas.microsoft.com/office/drawing/2014/main" id="{EE78BD90-53EC-05DC-6983-37D5CDE4FC62}"/>
              </a:ext>
            </a:extLst>
          </p:cNvPr>
          <p:cNvSpPr/>
          <p:nvPr/>
        </p:nvSpPr>
        <p:spPr>
          <a:xfrm>
            <a:off x="10151631" y="3265270"/>
            <a:ext cx="1330655" cy="1330655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200" b="1" dirty="0">
                <a:latin typeface="Arial Nova" panose="020B0504020202020204" pitchFamily="34" charset="0"/>
              </a:rPr>
              <a:t>Repeat</a:t>
            </a:r>
          </a:p>
        </p:txBody>
      </p:sp>
      <p:sp>
        <p:nvSpPr>
          <p:cNvPr id="23" name="Rectangle 53">
            <a:extLst>
              <a:ext uri="{FF2B5EF4-FFF2-40B4-BE49-F238E27FC236}">
                <a16:creationId xmlns:a16="http://schemas.microsoft.com/office/drawing/2014/main" id="{E03894D3-4943-70E6-4526-98D18763E097}"/>
              </a:ext>
            </a:extLst>
          </p:cNvPr>
          <p:cNvSpPr>
            <a:spLocks/>
          </p:cNvSpPr>
          <p:nvPr/>
        </p:nvSpPr>
        <p:spPr>
          <a:xfrm>
            <a:off x="9693162" y="1779588"/>
            <a:ext cx="2117838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r>
              <a:rPr lang="sv-SE" sz="1600" b="1" kern="0" dirty="0">
                <a:solidFill>
                  <a:schemeClr val="tx1"/>
                </a:solidFill>
                <a:latin typeface="Arial Nova" panose="020B0504020202020204" pitchFamily="34" charset="0"/>
                <a:cs typeface="Arial" panose="020B0604020202020204" pitchFamily="34" charset="0"/>
                <a:sym typeface="Helvetica Neue Light"/>
              </a:rPr>
              <a:t>Implementera i de andra byggnaderna</a:t>
            </a:r>
            <a:endParaRPr lang="en-CH" sz="1600" b="1" kern="0" dirty="0">
              <a:solidFill>
                <a:schemeClr val="tx1"/>
              </a:solidFill>
              <a:latin typeface="Arial Nova" panose="020B0504020202020204" pitchFamily="34" charset="0"/>
              <a:cs typeface="Arial" panose="020B0604020202020204" pitchFamily="34" charset="0"/>
              <a:sym typeface="Helvetica Neue Light"/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6EE30C0-1F4D-F9C2-53C4-B9C666AA4887}"/>
              </a:ext>
            </a:extLst>
          </p:cNvPr>
          <p:cNvSpPr/>
          <p:nvPr/>
        </p:nvSpPr>
        <p:spPr>
          <a:xfrm>
            <a:off x="381000" y="1780315"/>
            <a:ext cx="293193" cy="29368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600" b="1"/>
              <a:t>1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EA6A5E0-5A48-ECF7-2CD5-E7C81951304A}"/>
              </a:ext>
            </a:extLst>
          </p:cNvPr>
          <p:cNvSpPr/>
          <p:nvPr/>
        </p:nvSpPr>
        <p:spPr>
          <a:xfrm>
            <a:off x="4662828" y="1780315"/>
            <a:ext cx="293193" cy="29368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600" b="1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BE7DD51F-FAA8-E8AB-3260-17E3453EE54C}"/>
              </a:ext>
            </a:extLst>
          </p:cNvPr>
          <p:cNvSpPr/>
          <p:nvPr/>
        </p:nvSpPr>
        <p:spPr>
          <a:xfrm>
            <a:off x="9246011" y="1781042"/>
            <a:ext cx="293193" cy="293687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600" b="1"/>
              <a:t>3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AC5E1F85-9678-0B20-473D-187F63055E5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7861" y="5450360"/>
            <a:ext cx="1012937" cy="822646"/>
          </a:xfrm>
          <a:prstGeom prst="rect">
            <a:avLst/>
          </a:prstGeom>
        </p:spPr>
      </p:pic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FD15C3BE-DD07-84A7-C4AB-D528E8338027}"/>
              </a:ext>
            </a:extLst>
          </p:cNvPr>
          <p:cNvCxnSpPr>
            <a:cxnSpLocks/>
          </p:cNvCxnSpPr>
          <p:nvPr/>
        </p:nvCxnSpPr>
        <p:spPr>
          <a:xfrm flipH="1">
            <a:off x="2940794" y="5940364"/>
            <a:ext cx="316335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fik 30">
            <a:extLst>
              <a:ext uri="{FF2B5EF4-FFF2-40B4-BE49-F238E27FC236}">
                <a16:creationId xmlns:a16="http://schemas.microsoft.com/office/drawing/2014/main" id="{ACE2149B-E25A-6C5A-F3E3-023BC7B0CCCF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15" t="36626" r="1470"/>
          <a:stretch/>
        </p:blipFill>
        <p:spPr>
          <a:xfrm>
            <a:off x="5551056" y="3449886"/>
            <a:ext cx="2814769" cy="1855958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7398F62C-F2F0-16F2-14FD-9611C73F85F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4461" y="5509112"/>
            <a:ext cx="1012937" cy="822646"/>
          </a:xfrm>
          <a:prstGeom prst="rect">
            <a:avLst/>
          </a:prstGeom>
        </p:spPr>
      </p:pic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A801FC78-D9F7-F735-5076-4A1B352E4EE3}"/>
              </a:ext>
            </a:extLst>
          </p:cNvPr>
          <p:cNvCxnSpPr>
            <a:cxnSpLocks/>
          </p:cNvCxnSpPr>
          <p:nvPr/>
        </p:nvCxnSpPr>
        <p:spPr>
          <a:xfrm flipH="1">
            <a:off x="7255339" y="5605416"/>
            <a:ext cx="316335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3">
            <a:extLst>
              <a:ext uri="{FF2B5EF4-FFF2-40B4-BE49-F238E27FC236}">
                <a16:creationId xmlns:a16="http://schemas.microsoft.com/office/drawing/2014/main" id="{34CE9FA8-4B7A-3194-836F-F4A2E2587A4B}"/>
              </a:ext>
            </a:extLst>
          </p:cNvPr>
          <p:cNvSpPr txBox="1">
            <a:spLocks/>
          </p:cNvSpPr>
          <p:nvPr/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2900"/>
              </a:lnSpc>
              <a:spcBef>
                <a:spcPct val="0"/>
              </a:spcBef>
              <a:buNone/>
              <a:defRPr sz="2700" b="1" kern="1200" spc="-4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RetroFIT</a:t>
            </a:r>
            <a:r>
              <a:rPr lang="en-US" dirty="0"/>
              <a:t>+  – </a:t>
            </a:r>
            <a:r>
              <a:rPr lang="sv-SE" dirty="0"/>
              <a:t>Ett enkelt tillvägagångssätt.</a:t>
            </a:r>
          </a:p>
          <a:p>
            <a:r>
              <a:rPr lang="sv-SE" dirty="0">
                <a:solidFill>
                  <a:schemeClr val="lt2"/>
                </a:solidFill>
              </a:rPr>
              <a:t>Vi tar bort komplexiteten i ditt eftermonteringsprojekt.</a:t>
            </a:r>
            <a:endParaRPr lang="en-US" dirty="0">
              <a:solidFill>
                <a:schemeClr val="l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56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 animBg="1"/>
      <p:bldP spid="20" grpId="0" animBg="1"/>
      <p:bldP spid="14" grpId="0" animBg="1"/>
      <p:bldP spid="22" grpId="0" animBg="1"/>
      <p:bldP spid="23" grpId="0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30727B4-6D5D-7980-A3B5-30E7CE8FB1D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0727B4-6D5D-7980-A3B5-30E7CE8FB1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FBC33ED-8ACA-0F4D-3263-C5A01F5CE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" dirty="0"/>
              <a:t>RetroFIT + Utvärderingsverktyg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0DD27-A0FF-74A0-6E70-F33B38999A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125912-DBAF-4934-9993-DB331D78399A}" type="slidenum">
              <a:rPr lang="en-US" smtClean="0"/>
              <a:t>9</a:t>
            </a:fld>
            <a:r>
              <a:rPr lang="de"/>
              <a:t>/77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EC545CD-4583-39B3-498F-7E2F87799F2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4418" y="1890713"/>
            <a:ext cx="5352381" cy="4076190"/>
          </a:xfrm>
          <a:prstGeom prst="rect">
            <a:avLst/>
          </a:prstGeom>
        </p:spPr>
      </p:pic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20575C78-62A6-BA40-C16F-18896CEA4F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00" y="1890713"/>
            <a:ext cx="5684874" cy="381583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sv-SE" dirty="0"/>
              <a:t>Utvärderar byggnadens nuvarande skick enligt ISO 52120</a:t>
            </a:r>
          </a:p>
          <a:p>
            <a:pPr>
              <a:spcAft>
                <a:spcPts val="1200"/>
              </a:spcAft>
            </a:pPr>
            <a:r>
              <a:rPr lang="sv-SE" dirty="0"/>
              <a:t>Ger en vision av en framtida situation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dirty="0"/>
              <a:t>Information om </a:t>
            </a:r>
            <a:r>
              <a:rPr lang="en-US" dirty="0" err="1"/>
              <a:t>potentiell</a:t>
            </a:r>
            <a:r>
              <a:rPr lang="en-US" dirty="0"/>
              <a:t> CO2 </a:t>
            </a:r>
            <a:r>
              <a:rPr lang="en-US" dirty="0" err="1"/>
              <a:t>besparning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sv-SE" dirty="0"/>
              <a:t>Skapa ett beslutsunderlag för renoveringsprojektet (”break-even </a:t>
            </a:r>
            <a:r>
              <a:rPr lang="sv-SE" dirty="0" err="1"/>
              <a:t>point</a:t>
            </a:r>
            <a:r>
              <a:rPr lang="sv-SE" dirty="0"/>
              <a:t>”, avkastning på investeringen, intern avkastning)</a:t>
            </a:r>
            <a:endParaRPr lang="de" dirty="0"/>
          </a:p>
        </p:txBody>
      </p:sp>
    </p:spTree>
    <p:extLst>
      <p:ext uri="{BB962C8B-B14F-4D97-AF65-F5344CB8AC3E}">
        <p14:creationId xmlns:p14="http://schemas.microsoft.com/office/powerpoint/2010/main" val="413391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èche : chevron 15">
            <a:extLst>
              <a:ext uri="{FF2B5EF4-FFF2-40B4-BE49-F238E27FC236}">
                <a16:creationId xmlns:a16="http://schemas.microsoft.com/office/drawing/2014/main" id="{D5139561-CEE1-D890-D923-EBCA8C4899E8}"/>
              </a:ext>
            </a:extLst>
          </p:cNvPr>
          <p:cNvSpPr/>
          <p:nvPr/>
        </p:nvSpPr>
        <p:spPr>
          <a:xfrm>
            <a:off x="9460554" y="1942011"/>
            <a:ext cx="2423582" cy="1398389"/>
          </a:xfrm>
          <a:prstGeom prst="chevron">
            <a:avLst>
              <a:gd name="adj" fmla="val 2857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20" name="Flèche : chevron 19">
            <a:extLst>
              <a:ext uri="{FF2B5EF4-FFF2-40B4-BE49-F238E27FC236}">
                <a16:creationId xmlns:a16="http://schemas.microsoft.com/office/drawing/2014/main" id="{41CDF94D-F7E0-F839-B990-67270D1F2460}"/>
              </a:ext>
            </a:extLst>
          </p:cNvPr>
          <p:cNvSpPr/>
          <p:nvPr/>
        </p:nvSpPr>
        <p:spPr>
          <a:xfrm>
            <a:off x="5007215" y="1942011"/>
            <a:ext cx="2423582" cy="1398389"/>
          </a:xfrm>
          <a:prstGeom prst="chevron">
            <a:avLst>
              <a:gd name="adj" fmla="val 2857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21" name="Flèche : chevron 20">
            <a:extLst>
              <a:ext uri="{FF2B5EF4-FFF2-40B4-BE49-F238E27FC236}">
                <a16:creationId xmlns:a16="http://schemas.microsoft.com/office/drawing/2014/main" id="{F2F71AB3-7DE2-A001-B980-3B0E0A474E34}"/>
              </a:ext>
            </a:extLst>
          </p:cNvPr>
          <p:cNvSpPr/>
          <p:nvPr/>
        </p:nvSpPr>
        <p:spPr>
          <a:xfrm>
            <a:off x="7233884" y="1942011"/>
            <a:ext cx="2423582" cy="1398389"/>
          </a:xfrm>
          <a:prstGeom prst="chevron">
            <a:avLst>
              <a:gd name="adj" fmla="val 2857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9" name="Flèche : chevron 18">
            <a:extLst>
              <a:ext uri="{FF2B5EF4-FFF2-40B4-BE49-F238E27FC236}">
                <a16:creationId xmlns:a16="http://schemas.microsoft.com/office/drawing/2014/main" id="{B7C33BF1-14D2-A8C9-359A-E746620228C0}"/>
              </a:ext>
            </a:extLst>
          </p:cNvPr>
          <p:cNvSpPr/>
          <p:nvPr/>
        </p:nvSpPr>
        <p:spPr>
          <a:xfrm>
            <a:off x="2780546" y="1942011"/>
            <a:ext cx="2423582" cy="1398389"/>
          </a:xfrm>
          <a:prstGeom prst="chevron">
            <a:avLst>
              <a:gd name="adj" fmla="val 2857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A3D8BC-D250-A5E2-E66D-BEB5AE8A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modules for project management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BBAF81-6660-A7CD-8B5E-DC0BC59124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BAFBD85-A417-43FD-9D9B-6ABFF43C719F}" type="slidenum">
              <a:rPr lang="en-US" smtClean="0"/>
              <a:t>10</a:t>
            </a:fld>
            <a:r>
              <a:rPr lang="de"/>
              <a:t>/77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35A7F21-1DD4-3503-F3C2-940DC30E0540}"/>
              </a:ext>
            </a:extLst>
          </p:cNvPr>
          <p:cNvSpPr txBox="1"/>
          <p:nvPr/>
        </p:nvSpPr>
        <p:spPr>
          <a:xfrm>
            <a:off x="713978" y="3697443"/>
            <a:ext cx="2226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fr-FR" b="1" cap="all" dirty="0">
                <a:solidFill>
                  <a:srgbClr val="000000"/>
                </a:solidFill>
                <a:highlight>
                  <a:srgbClr val="FFFFFF"/>
                </a:highlight>
                <a:latin typeface="inherit"/>
              </a:rPr>
              <a:t>Rating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5D92312-921B-877D-6D26-0CE8F3CE4E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93836" y="2060908"/>
            <a:ext cx="1580959" cy="1144209"/>
          </a:xfrm>
          <a:prstGeom prst="rect">
            <a:avLst/>
          </a:prstGeom>
        </p:spPr>
      </p:pic>
      <p:sp>
        <p:nvSpPr>
          <p:cNvPr id="18" name="Flèche : chevron 17">
            <a:extLst>
              <a:ext uri="{FF2B5EF4-FFF2-40B4-BE49-F238E27FC236}">
                <a16:creationId xmlns:a16="http://schemas.microsoft.com/office/drawing/2014/main" id="{5E116762-43AB-56C7-3EAF-7A8285C2CE99}"/>
              </a:ext>
            </a:extLst>
          </p:cNvPr>
          <p:cNvSpPr/>
          <p:nvPr/>
        </p:nvSpPr>
        <p:spPr>
          <a:xfrm>
            <a:off x="553877" y="1942011"/>
            <a:ext cx="2423582" cy="1398389"/>
          </a:xfrm>
          <a:prstGeom prst="chevron">
            <a:avLst>
              <a:gd name="adj" fmla="val 2857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391681C-5F69-D5BA-3957-DF38AF113F2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1339" y="2086029"/>
            <a:ext cx="1460148" cy="1111789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ADBCAEDF-70DA-DE87-7418-CCFF16D1ECD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99061" y="2075343"/>
            <a:ext cx="1149551" cy="108448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CF8723B0-EB11-4BB4-616A-D38F39AB998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07138" y="2106039"/>
            <a:ext cx="1287952" cy="1030361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483BF20A-2FBE-47C8-B70A-8D3E61CAE589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49985" y="2096660"/>
            <a:ext cx="1580959" cy="1081172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F909B9A2-D3AD-6FE7-5FC1-017DB308DAC1}"/>
              </a:ext>
            </a:extLst>
          </p:cNvPr>
          <p:cNvSpPr txBox="1"/>
          <p:nvPr/>
        </p:nvSpPr>
        <p:spPr>
          <a:xfrm>
            <a:off x="2864445" y="3697443"/>
            <a:ext cx="19007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de-CH" b="1" cap="all" dirty="0">
                <a:solidFill>
                  <a:srgbClr val="000000"/>
                </a:solidFill>
                <a:latin typeface="inherit"/>
              </a:rPr>
              <a:t>BASIC BUILDINGS</a:t>
            </a:r>
          </a:p>
          <a:p>
            <a:pPr fontAlgn="base"/>
            <a:r>
              <a:rPr lang="de-CH" b="1" cap="all" dirty="0">
                <a:solidFill>
                  <a:srgbClr val="000000"/>
                </a:solidFill>
                <a:latin typeface="inherit"/>
              </a:rPr>
              <a:t>INFORMATION</a:t>
            </a:r>
            <a:endParaRPr lang="fr-FR" b="1" i="0" cap="all" dirty="0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989A3264-54A9-9784-8B9D-439740958385}"/>
              </a:ext>
            </a:extLst>
          </p:cNvPr>
          <p:cNvSpPr txBox="1"/>
          <p:nvPr/>
        </p:nvSpPr>
        <p:spPr>
          <a:xfrm>
            <a:off x="5102276" y="3697443"/>
            <a:ext cx="21316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b="1" cap="all" dirty="0">
                <a:solidFill>
                  <a:srgbClr val="000000"/>
                </a:solidFill>
                <a:latin typeface="inherit"/>
              </a:rPr>
              <a:t>HVAC ASSESSMENT BASED ON</a:t>
            </a:r>
          </a:p>
          <a:p>
            <a:pPr fontAlgn="base"/>
            <a:r>
              <a:rPr lang="en-US" b="1" cap="all" dirty="0">
                <a:solidFill>
                  <a:srgbClr val="000000"/>
                </a:solidFill>
                <a:latin typeface="inherit"/>
              </a:rPr>
              <a:t>ISO 52120</a:t>
            </a:r>
            <a:endParaRPr lang="en-US" b="1" i="0" cap="all" dirty="0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C6002A2D-0AD6-36FA-BC13-CE0FFD1C6730}"/>
              </a:ext>
            </a:extLst>
          </p:cNvPr>
          <p:cNvSpPr txBox="1"/>
          <p:nvPr/>
        </p:nvSpPr>
        <p:spPr>
          <a:xfrm>
            <a:off x="7328946" y="3697443"/>
            <a:ext cx="2007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de-CH" b="1" cap="all" dirty="0">
                <a:solidFill>
                  <a:srgbClr val="000000"/>
                </a:solidFill>
                <a:latin typeface="inherit"/>
              </a:rPr>
              <a:t>SIMPLIFIED DIAGRAMS</a:t>
            </a:r>
            <a:endParaRPr lang="fr-FR" b="1" i="0" cap="all" dirty="0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31AD6AC0-1F95-1C60-CF72-D471A619E886}"/>
              </a:ext>
            </a:extLst>
          </p:cNvPr>
          <p:cNvSpPr txBox="1"/>
          <p:nvPr/>
        </p:nvSpPr>
        <p:spPr>
          <a:xfrm>
            <a:off x="9633626" y="3697443"/>
            <a:ext cx="2250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de-CH" b="1" cap="all" dirty="0">
                <a:solidFill>
                  <a:srgbClr val="000000"/>
                </a:solidFill>
                <a:latin typeface="inherit"/>
              </a:rPr>
              <a:t>REPORT + MEASURES</a:t>
            </a:r>
            <a:endParaRPr lang="fr-FR" b="1" i="0" cap="all" dirty="0">
              <a:solidFill>
                <a:srgbClr val="00000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7530E76-5D72-8310-446D-C05F8D0AA3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RetroFIT+ 07/2024</a:t>
            </a:r>
            <a:endParaRPr lang="de"/>
          </a:p>
        </p:txBody>
      </p:sp>
    </p:spTree>
    <p:extLst>
      <p:ext uri="{BB962C8B-B14F-4D97-AF65-F5344CB8AC3E}">
        <p14:creationId xmlns:p14="http://schemas.microsoft.com/office/powerpoint/2010/main" val="45913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21" grpId="0" animBg="1"/>
      <p:bldP spid="19" grpId="0" animBg="1"/>
      <p:bldP spid="8" grpId="0"/>
      <p:bldP spid="18" grpId="0" animBg="1"/>
      <p:bldP spid="34" grpId="0"/>
      <p:bldP spid="36" grpId="0"/>
      <p:bldP spid="38" grpId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A2A47-1B04-5B62-8B34-52E857885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1E81E-9F8E-C70F-6B72-0FE88BFC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Vad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RetroFit</a:t>
            </a:r>
            <a:r>
              <a:rPr lang="en-US" dirty="0"/>
              <a:t>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34A4AE-4D76-D507-B406-AEE4E86713A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 err="1"/>
              <a:t>Lösningen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skräddarsydd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874AB27-A07B-948E-649E-404984107E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28" name="Grupp 27">
            <a:extLst>
              <a:ext uri="{FF2B5EF4-FFF2-40B4-BE49-F238E27FC236}">
                <a16:creationId xmlns:a16="http://schemas.microsoft.com/office/drawing/2014/main" id="{16B0436D-BE7F-22EA-C90F-C5EDC8261D3B}"/>
              </a:ext>
            </a:extLst>
          </p:cNvPr>
          <p:cNvGrpSpPr/>
          <p:nvPr/>
        </p:nvGrpSpPr>
        <p:grpSpPr>
          <a:xfrm>
            <a:off x="533922" y="3822714"/>
            <a:ext cx="1650200" cy="2312433"/>
            <a:chOff x="983432" y="4121715"/>
            <a:chExt cx="1650200" cy="2312433"/>
          </a:xfrm>
        </p:grpSpPr>
        <p:pic>
          <p:nvPicPr>
            <p:cNvPr id="4" name="Bild 3" descr="Sjukvård kontur">
              <a:extLst>
                <a:ext uri="{FF2B5EF4-FFF2-40B4-BE49-F238E27FC236}">
                  <a16:creationId xmlns:a16="http://schemas.microsoft.com/office/drawing/2014/main" id="{D0AF4A1A-FA76-E7E6-C3B9-743E7EEDA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03828" y="4121715"/>
              <a:ext cx="609408" cy="609408"/>
            </a:xfrm>
            <a:prstGeom prst="rect">
              <a:avLst/>
            </a:prstGeom>
          </p:spPr>
        </p:pic>
        <p:grpSp>
          <p:nvGrpSpPr>
            <p:cNvPr id="27" name="Grupp 26">
              <a:extLst>
                <a:ext uri="{FF2B5EF4-FFF2-40B4-BE49-F238E27FC236}">
                  <a16:creationId xmlns:a16="http://schemas.microsoft.com/office/drawing/2014/main" id="{B9118D67-8E3A-D2FC-4D96-9997C9F0DBD1}"/>
                </a:ext>
              </a:extLst>
            </p:cNvPr>
            <p:cNvGrpSpPr/>
            <p:nvPr/>
          </p:nvGrpSpPr>
          <p:grpSpPr>
            <a:xfrm>
              <a:off x="983432" y="4602827"/>
              <a:ext cx="1650200" cy="1831321"/>
              <a:chOff x="983432" y="4602827"/>
              <a:chExt cx="1650200" cy="1831321"/>
            </a:xfrm>
          </p:grpSpPr>
          <p:pic>
            <p:nvPicPr>
              <p:cNvPr id="8" name="Bild 7" descr="Sjukhus kontur">
                <a:extLst>
                  <a:ext uri="{FF2B5EF4-FFF2-40B4-BE49-F238E27FC236}">
                    <a16:creationId xmlns:a16="http://schemas.microsoft.com/office/drawing/2014/main" id="{C07F35C7-0BCF-466F-0B55-4896F1272D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83432" y="4602827"/>
                <a:ext cx="1650200" cy="1650200"/>
              </a:xfrm>
              <a:prstGeom prst="rect">
                <a:avLst/>
              </a:prstGeom>
            </p:spPr>
          </p:pic>
          <p:sp>
            <p:nvSpPr>
              <p:cNvPr id="23" name="textruta 22">
                <a:extLst>
                  <a:ext uri="{FF2B5EF4-FFF2-40B4-BE49-F238E27FC236}">
                    <a16:creationId xmlns:a16="http://schemas.microsoft.com/office/drawing/2014/main" id="{8C870595-F1C8-608D-77CE-CF16A0FF8B5C}"/>
                  </a:ext>
                </a:extLst>
              </p:cNvPr>
              <p:cNvSpPr txBox="1"/>
              <p:nvPr/>
            </p:nvSpPr>
            <p:spPr>
              <a:xfrm>
                <a:off x="1265648" y="6064816"/>
                <a:ext cx="10054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Sjukhus</a:t>
                </a:r>
                <a:endParaRPr lang="en-US" dirty="0"/>
              </a:p>
            </p:txBody>
          </p:sp>
        </p:grpSp>
      </p:grpSp>
      <p:grpSp>
        <p:nvGrpSpPr>
          <p:cNvPr id="31" name="Grupp 30">
            <a:extLst>
              <a:ext uri="{FF2B5EF4-FFF2-40B4-BE49-F238E27FC236}">
                <a16:creationId xmlns:a16="http://schemas.microsoft.com/office/drawing/2014/main" id="{3C64CF66-67C3-2177-9234-9B62D0E981F2}"/>
              </a:ext>
            </a:extLst>
          </p:cNvPr>
          <p:cNvGrpSpPr/>
          <p:nvPr/>
        </p:nvGrpSpPr>
        <p:grpSpPr>
          <a:xfrm>
            <a:off x="6353171" y="4303827"/>
            <a:ext cx="1520837" cy="1827776"/>
            <a:chOff x="6802682" y="4789044"/>
            <a:chExt cx="1159234" cy="1641559"/>
          </a:xfrm>
        </p:grpSpPr>
        <p:pic>
          <p:nvPicPr>
            <p:cNvPr id="16" name="Bild 15" descr="Hotellklocka kontur">
              <a:extLst>
                <a:ext uri="{FF2B5EF4-FFF2-40B4-BE49-F238E27FC236}">
                  <a16:creationId xmlns:a16="http://schemas.microsoft.com/office/drawing/2014/main" id="{D97B5A79-88A8-B511-B4A5-6924CF2FA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802682" y="4789044"/>
              <a:ext cx="1159234" cy="1159234"/>
            </a:xfrm>
            <a:prstGeom prst="rect">
              <a:avLst/>
            </a:prstGeom>
          </p:spPr>
        </p:pic>
        <p:sp>
          <p:nvSpPr>
            <p:cNvPr id="24" name="textruta 23">
              <a:extLst>
                <a:ext uri="{FF2B5EF4-FFF2-40B4-BE49-F238E27FC236}">
                  <a16:creationId xmlns:a16="http://schemas.microsoft.com/office/drawing/2014/main" id="{1902487A-61FC-8CDA-42E7-854C5024BE1A}"/>
                </a:ext>
              </a:extLst>
            </p:cNvPr>
            <p:cNvSpPr txBox="1"/>
            <p:nvPr/>
          </p:nvSpPr>
          <p:spPr>
            <a:xfrm>
              <a:off x="7000304" y="6061271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Hotell</a:t>
              </a:r>
              <a:endParaRPr lang="en-US" dirty="0"/>
            </a:p>
          </p:txBody>
        </p:sp>
      </p:grpSp>
      <p:sp>
        <p:nvSpPr>
          <p:cNvPr id="3" name="textruta 2">
            <a:extLst>
              <a:ext uri="{FF2B5EF4-FFF2-40B4-BE49-F238E27FC236}">
                <a16:creationId xmlns:a16="http://schemas.microsoft.com/office/drawing/2014/main" id="{66C69F66-1574-BF1D-24CB-2CC2DBFA0272}"/>
              </a:ext>
            </a:extLst>
          </p:cNvPr>
          <p:cNvSpPr txBox="1"/>
          <p:nvPr/>
        </p:nvSpPr>
        <p:spPr>
          <a:xfrm>
            <a:off x="937245" y="3276870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-14%</a:t>
            </a: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7CFE304A-196F-4F78-625F-E383E78C147C}"/>
              </a:ext>
            </a:extLst>
          </p:cNvPr>
          <p:cNvSpPr txBox="1"/>
          <p:nvPr/>
        </p:nvSpPr>
        <p:spPr>
          <a:xfrm>
            <a:off x="3119517" y="3276870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- 20%</a:t>
            </a: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98E439BB-7589-5EC2-6609-60227C8D0970}"/>
              </a:ext>
            </a:extLst>
          </p:cNvPr>
          <p:cNvSpPr txBox="1"/>
          <p:nvPr/>
        </p:nvSpPr>
        <p:spPr>
          <a:xfrm>
            <a:off x="5094396" y="3276870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-32%</a:t>
            </a: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C6789B02-61BA-C2B8-969D-05ECA5F256F1}"/>
              </a:ext>
            </a:extLst>
          </p:cNvPr>
          <p:cNvSpPr txBox="1"/>
          <p:nvPr/>
        </p:nvSpPr>
        <p:spPr>
          <a:xfrm>
            <a:off x="6744110" y="3277294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-32 %</a:t>
            </a:r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C61A74CE-EF0E-8C83-5C9A-00DF47DDEF5F}"/>
              </a:ext>
            </a:extLst>
          </p:cNvPr>
          <p:cNvSpPr txBox="1"/>
          <p:nvPr/>
        </p:nvSpPr>
        <p:spPr>
          <a:xfrm>
            <a:off x="8164188" y="3276870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-40%</a:t>
            </a:r>
          </a:p>
        </p:txBody>
      </p:sp>
      <p:sp>
        <p:nvSpPr>
          <p:cNvPr id="15" name="textruta 14">
            <a:extLst>
              <a:ext uri="{FF2B5EF4-FFF2-40B4-BE49-F238E27FC236}">
                <a16:creationId xmlns:a16="http://schemas.microsoft.com/office/drawing/2014/main" id="{11C1EA55-061F-9F13-7949-EE4BE3B2E29C}"/>
              </a:ext>
            </a:extLst>
          </p:cNvPr>
          <p:cNvSpPr txBox="1"/>
          <p:nvPr/>
        </p:nvSpPr>
        <p:spPr>
          <a:xfrm>
            <a:off x="9768408" y="3271306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-30%</a:t>
            </a:r>
          </a:p>
        </p:txBody>
      </p:sp>
      <p:grpSp>
        <p:nvGrpSpPr>
          <p:cNvPr id="17" name="Grupp 16">
            <a:extLst>
              <a:ext uri="{FF2B5EF4-FFF2-40B4-BE49-F238E27FC236}">
                <a16:creationId xmlns:a16="http://schemas.microsoft.com/office/drawing/2014/main" id="{403EFD3D-B4F2-A619-1D1E-11D8BFECAD53}"/>
              </a:ext>
            </a:extLst>
          </p:cNvPr>
          <p:cNvGrpSpPr/>
          <p:nvPr/>
        </p:nvGrpSpPr>
        <p:grpSpPr>
          <a:xfrm>
            <a:off x="533922" y="3822714"/>
            <a:ext cx="1650200" cy="2312433"/>
            <a:chOff x="983432" y="4121715"/>
            <a:chExt cx="1650200" cy="2312433"/>
          </a:xfrm>
        </p:grpSpPr>
        <p:pic>
          <p:nvPicPr>
            <p:cNvPr id="19" name="Bild 18" descr="Sjukvård kontur">
              <a:extLst>
                <a:ext uri="{FF2B5EF4-FFF2-40B4-BE49-F238E27FC236}">
                  <a16:creationId xmlns:a16="http://schemas.microsoft.com/office/drawing/2014/main" id="{D9B1F8FF-D8C8-9274-AA60-945EA3EE6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03828" y="4121715"/>
              <a:ext cx="609408" cy="609408"/>
            </a:xfrm>
            <a:prstGeom prst="rect">
              <a:avLst/>
            </a:prstGeom>
          </p:spPr>
        </p:pic>
        <p:grpSp>
          <p:nvGrpSpPr>
            <p:cNvPr id="34" name="Grupp 33">
              <a:extLst>
                <a:ext uri="{FF2B5EF4-FFF2-40B4-BE49-F238E27FC236}">
                  <a16:creationId xmlns:a16="http://schemas.microsoft.com/office/drawing/2014/main" id="{64A70846-18C3-FE3B-6795-33F3A2CCC1D8}"/>
                </a:ext>
              </a:extLst>
            </p:cNvPr>
            <p:cNvGrpSpPr/>
            <p:nvPr/>
          </p:nvGrpSpPr>
          <p:grpSpPr>
            <a:xfrm>
              <a:off x="983432" y="4602827"/>
              <a:ext cx="1650200" cy="1831321"/>
              <a:chOff x="983432" y="4602827"/>
              <a:chExt cx="1650200" cy="1831321"/>
            </a:xfrm>
          </p:grpSpPr>
          <p:pic>
            <p:nvPicPr>
              <p:cNvPr id="35" name="Bild 34" descr="Sjukhus kontur">
                <a:extLst>
                  <a:ext uri="{FF2B5EF4-FFF2-40B4-BE49-F238E27FC236}">
                    <a16:creationId xmlns:a16="http://schemas.microsoft.com/office/drawing/2014/main" id="{B636D3CF-BA64-D385-610C-880A0C6DE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83432" y="4602827"/>
                <a:ext cx="1650200" cy="1650200"/>
              </a:xfrm>
              <a:prstGeom prst="rect">
                <a:avLst/>
              </a:prstGeom>
            </p:spPr>
          </p:pic>
          <p:sp>
            <p:nvSpPr>
              <p:cNvPr id="36" name="textruta 35">
                <a:extLst>
                  <a:ext uri="{FF2B5EF4-FFF2-40B4-BE49-F238E27FC236}">
                    <a16:creationId xmlns:a16="http://schemas.microsoft.com/office/drawing/2014/main" id="{DDEC33CE-3337-B1E6-9F97-211E5246BB95}"/>
                  </a:ext>
                </a:extLst>
              </p:cNvPr>
              <p:cNvSpPr txBox="1"/>
              <p:nvPr/>
            </p:nvSpPr>
            <p:spPr>
              <a:xfrm>
                <a:off x="1265648" y="6064816"/>
                <a:ext cx="10054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Sjukhus</a:t>
                </a:r>
                <a:endParaRPr lang="en-US" dirty="0"/>
              </a:p>
            </p:txBody>
          </p:sp>
        </p:grpSp>
      </p:grpSp>
      <p:grpSp>
        <p:nvGrpSpPr>
          <p:cNvPr id="37" name="Grupp 36">
            <a:extLst>
              <a:ext uri="{FF2B5EF4-FFF2-40B4-BE49-F238E27FC236}">
                <a16:creationId xmlns:a16="http://schemas.microsoft.com/office/drawing/2014/main" id="{DE8E25F8-DC9E-7596-7FB8-F4F5DB821D6E}"/>
              </a:ext>
            </a:extLst>
          </p:cNvPr>
          <p:cNvGrpSpPr/>
          <p:nvPr/>
        </p:nvGrpSpPr>
        <p:grpSpPr>
          <a:xfrm>
            <a:off x="2639616" y="3868117"/>
            <a:ext cx="2044149" cy="2299627"/>
            <a:chOff x="2639616" y="3868117"/>
            <a:chExt cx="2044149" cy="2299627"/>
          </a:xfrm>
        </p:grpSpPr>
        <p:sp>
          <p:nvSpPr>
            <p:cNvPr id="38" name="textruta 37">
              <a:extLst>
                <a:ext uri="{FF2B5EF4-FFF2-40B4-BE49-F238E27FC236}">
                  <a16:creationId xmlns:a16="http://schemas.microsoft.com/office/drawing/2014/main" id="{F125C050-5BFA-1DFA-A2A1-175A871DEF46}"/>
                </a:ext>
              </a:extLst>
            </p:cNvPr>
            <p:cNvSpPr txBox="1"/>
            <p:nvPr/>
          </p:nvSpPr>
          <p:spPr>
            <a:xfrm>
              <a:off x="2639616" y="5798412"/>
              <a:ext cx="2044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Utbildn.byggnader</a:t>
              </a:r>
              <a:endParaRPr lang="en-US" dirty="0"/>
            </a:p>
          </p:txBody>
        </p:sp>
        <p:pic>
          <p:nvPicPr>
            <p:cNvPr id="39" name="Bild 38" descr="Skola kontur">
              <a:extLst>
                <a:ext uri="{FF2B5EF4-FFF2-40B4-BE49-F238E27FC236}">
                  <a16:creationId xmlns:a16="http://schemas.microsoft.com/office/drawing/2014/main" id="{E462F380-DB93-29F2-AB6B-6022B32A8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51174" y="4303826"/>
              <a:ext cx="1549297" cy="1549297"/>
            </a:xfrm>
            <a:prstGeom prst="rect">
              <a:avLst/>
            </a:prstGeom>
          </p:spPr>
        </p:pic>
        <p:pic>
          <p:nvPicPr>
            <p:cNvPr id="40" name="Bild 39" descr="Läraren har kontur">
              <a:extLst>
                <a:ext uri="{FF2B5EF4-FFF2-40B4-BE49-F238E27FC236}">
                  <a16:creationId xmlns:a16="http://schemas.microsoft.com/office/drawing/2014/main" id="{3468CFA0-25D1-E1F5-04BF-82B15B192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18301" y="3868117"/>
              <a:ext cx="609407" cy="609407"/>
            </a:xfrm>
            <a:prstGeom prst="rect">
              <a:avLst/>
            </a:prstGeom>
          </p:spPr>
        </p:pic>
      </p:grpSp>
      <p:grpSp>
        <p:nvGrpSpPr>
          <p:cNvPr id="41" name="Grupp 40">
            <a:extLst>
              <a:ext uri="{FF2B5EF4-FFF2-40B4-BE49-F238E27FC236}">
                <a16:creationId xmlns:a16="http://schemas.microsoft.com/office/drawing/2014/main" id="{9103E8FD-A854-EB75-99D4-F9C63322E3C0}"/>
              </a:ext>
            </a:extLst>
          </p:cNvPr>
          <p:cNvGrpSpPr/>
          <p:nvPr/>
        </p:nvGrpSpPr>
        <p:grpSpPr>
          <a:xfrm>
            <a:off x="4735562" y="4768826"/>
            <a:ext cx="1582484" cy="1366321"/>
            <a:chOff x="4735562" y="4768826"/>
            <a:chExt cx="1582484" cy="1366321"/>
          </a:xfrm>
        </p:grpSpPr>
        <p:sp>
          <p:nvSpPr>
            <p:cNvPr id="42" name="textruta 41">
              <a:extLst>
                <a:ext uri="{FF2B5EF4-FFF2-40B4-BE49-F238E27FC236}">
                  <a16:creationId xmlns:a16="http://schemas.microsoft.com/office/drawing/2014/main" id="{EC2FA340-70D8-CA39-106C-4E023AE438FC}"/>
                </a:ext>
              </a:extLst>
            </p:cNvPr>
            <p:cNvSpPr txBox="1"/>
            <p:nvPr/>
          </p:nvSpPr>
          <p:spPr>
            <a:xfrm>
              <a:off x="4735562" y="5765815"/>
              <a:ext cx="1582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Restauranger</a:t>
              </a:r>
              <a:endParaRPr lang="en-US" dirty="0"/>
            </a:p>
          </p:txBody>
        </p:sp>
        <p:pic>
          <p:nvPicPr>
            <p:cNvPr id="43" name="Bild 42" descr="Kniv och gaffel kontur">
              <a:extLst>
                <a:ext uri="{FF2B5EF4-FFF2-40B4-BE49-F238E27FC236}">
                  <a16:creationId xmlns:a16="http://schemas.microsoft.com/office/drawing/2014/main" id="{10007B1B-95BF-B338-586B-586C843A7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20484" y="4768826"/>
              <a:ext cx="914400" cy="914400"/>
            </a:xfrm>
            <a:prstGeom prst="rect">
              <a:avLst/>
            </a:prstGeom>
          </p:spPr>
        </p:pic>
      </p:grpSp>
      <p:grpSp>
        <p:nvGrpSpPr>
          <p:cNvPr id="44" name="Grupp 43">
            <a:extLst>
              <a:ext uri="{FF2B5EF4-FFF2-40B4-BE49-F238E27FC236}">
                <a16:creationId xmlns:a16="http://schemas.microsoft.com/office/drawing/2014/main" id="{CAD8487C-0D27-3649-6271-E26A9CF024B1}"/>
              </a:ext>
            </a:extLst>
          </p:cNvPr>
          <p:cNvGrpSpPr/>
          <p:nvPr/>
        </p:nvGrpSpPr>
        <p:grpSpPr>
          <a:xfrm>
            <a:off x="6353171" y="4303827"/>
            <a:ext cx="1520837" cy="1827776"/>
            <a:chOff x="6353171" y="4303827"/>
            <a:chExt cx="1520837" cy="1827776"/>
          </a:xfrm>
        </p:grpSpPr>
        <p:grpSp>
          <p:nvGrpSpPr>
            <p:cNvPr id="45" name="Grupp 44">
              <a:extLst>
                <a:ext uri="{FF2B5EF4-FFF2-40B4-BE49-F238E27FC236}">
                  <a16:creationId xmlns:a16="http://schemas.microsoft.com/office/drawing/2014/main" id="{2D58CB85-6FC6-FF30-E5DF-718FBEA5FA76}"/>
                </a:ext>
              </a:extLst>
            </p:cNvPr>
            <p:cNvGrpSpPr/>
            <p:nvPr/>
          </p:nvGrpSpPr>
          <p:grpSpPr>
            <a:xfrm>
              <a:off x="6353171" y="4303827"/>
              <a:ext cx="1520837" cy="1827776"/>
              <a:chOff x="6802682" y="4789044"/>
              <a:chExt cx="1159234" cy="1641559"/>
            </a:xfrm>
          </p:grpSpPr>
          <p:pic>
            <p:nvPicPr>
              <p:cNvPr id="47" name="Bild 46" descr="Hotellklocka kontur">
                <a:extLst>
                  <a:ext uri="{FF2B5EF4-FFF2-40B4-BE49-F238E27FC236}">
                    <a16:creationId xmlns:a16="http://schemas.microsoft.com/office/drawing/2014/main" id="{42CC8393-7BF2-C48E-7EFF-F63BB9D518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802682" y="4789044"/>
                <a:ext cx="1159234" cy="1159234"/>
              </a:xfrm>
              <a:prstGeom prst="rect">
                <a:avLst/>
              </a:prstGeom>
            </p:spPr>
          </p:pic>
          <p:sp>
            <p:nvSpPr>
              <p:cNvPr id="48" name="textruta 47">
                <a:extLst>
                  <a:ext uri="{FF2B5EF4-FFF2-40B4-BE49-F238E27FC236}">
                    <a16:creationId xmlns:a16="http://schemas.microsoft.com/office/drawing/2014/main" id="{5E8BE234-DC6F-85A6-5B98-9BD4557A5231}"/>
                  </a:ext>
                </a:extLst>
              </p:cNvPr>
              <p:cNvSpPr txBox="1"/>
              <p:nvPr/>
            </p:nvSpPr>
            <p:spPr>
              <a:xfrm>
                <a:off x="7000304" y="6061271"/>
                <a:ext cx="7745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Hotell</a:t>
                </a:r>
                <a:endParaRPr lang="en-US" dirty="0"/>
              </a:p>
            </p:txBody>
          </p:sp>
        </p:grpSp>
        <p:pic>
          <p:nvPicPr>
            <p:cNvPr id="46" name="Bild 45" descr="Hotellklocka kontur">
              <a:extLst>
                <a:ext uri="{FF2B5EF4-FFF2-40B4-BE49-F238E27FC236}">
                  <a16:creationId xmlns:a16="http://schemas.microsoft.com/office/drawing/2014/main" id="{EAE8A9EB-2A59-6A86-4059-19AA3DC48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398382" y="4600320"/>
              <a:ext cx="1094748" cy="1094748"/>
            </a:xfrm>
            <a:prstGeom prst="rect">
              <a:avLst/>
            </a:prstGeom>
          </p:spPr>
        </p:pic>
      </p:grpSp>
      <p:grpSp>
        <p:nvGrpSpPr>
          <p:cNvPr id="49" name="Grupp 48">
            <a:extLst>
              <a:ext uri="{FF2B5EF4-FFF2-40B4-BE49-F238E27FC236}">
                <a16:creationId xmlns:a16="http://schemas.microsoft.com/office/drawing/2014/main" id="{897DF458-2373-3B0A-D721-07325DC4F231}"/>
              </a:ext>
            </a:extLst>
          </p:cNvPr>
          <p:cNvGrpSpPr/>
          <p:nvPr/>
        </p:nvGrpSpPr>
        <p:grpSpPr>
          <a:xfrm>
            <a:off x="7874009" y="4542114"/>
            <a:ext cx="1612416" cy="1546621"/>
            <a:chOff x="7874009" y="4542114"/>
            <a:chExt cx="1612416" cy="1546621"/>
          </a:xfrm>
        </p:grpSpPr>
        <p:sp>
          <p:nvSpPr>
            <p:cNvPr id="50" name="textruta 49">
              <a:extLst>
                <a:ext uri="{FF2B5EF4-FFF2-40B4-BE49-F238E27FC236}">
                  <a16:creationId xmlns:a16="http://schemas.microsoft.com/office/drawing/2014/main" id="{16555938-D65D-3DAC-C0E8-E61BCAC00494}"/>
                </a:ext>
              </a:extLst>
            </p:cNvPr>
            <p:cNvSpPr txBox="1"/>
            <p:nvPr/>
          </p:nvSpPr>
          <p:spPr>
            <a:xfrm>
              <a:off x="7874009" y="5674286"/>
              <a:ext cx="1612416" cy="4144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Köpcentrum</a:t>
              </a:r>
              <a:endParaRPr lang="en-US" dirty="0"/>
            </a:p>
          </p:txBody>
        </p:sp>
        <p:pic>
          <p:nvPicPr>
            <p:cNvPr id="51" name="Bild 50" descr="Kasse med hel fyllning">
              <a:extLst>
                <a:ext uri="{FF2B5EF4-FFF2-40B4-BE49-F238E27FC236}">
                  <a16:creationId xmlns:a16="http://schemas.microsoft.com/office/drawing/2014/main" id="{8267F8C1-FA1F-4ECC-1ECE-CD3B21C0F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146695" y="4542114"/>
              <a:ext cx="914400" cy="914400"/>
            </a:xfrm>
            <a:prstGeom prst="rect">
              <a:avLst/>
            </a:prstGeom>
          </p:spPr>
        </p:pic>
      </p:grpSp>
      <p:grpSp>
        <p:nvGrpSpPr>
          <p:cNvPr id="52" name="Grupp 51">
            <a:extLst>
              <a:ext uri="{FF2B5EF4-FFF2-40B4-BE49-F238E27FC236}">
                <a16:creationId xmlns:a16="http://schemas.microsoft.com/office/drawing/2014/main" id="{1D684838-6703-D6C4-1B15-FA4105F37996}"/>
              </a:ext>
            </a:extLst>
          </p:cNvPr>
          <p:cNvGrpSpPr/>
          <p:nvPr/>
        </p:nvGrpSpPr>
        <p:grpSpPr>
          <a:xfrm>
            <a:off x="9672968" y="4600320"/>
            <a:ext cx="1103552" cy="1441141"/>
            <a:chOff x="9672968" y="4600320"/>
            <a:chExt cx="1103552" cy="1441141"/>
          </a:xfrm>
        </p:grpSpPr>
        <p:sp>
          <p:nvSpPr>
            <p:cNvPr id="53" name="textruta 52">
              <a:extLst>
                <a:ext uri="{FF2B5EF4-FFF2-40B4-BE49-F238E27FC236}">
                  <a16:creationId xmlns:a16="http://schemas.microsoft.com/office/drawing/2014/main" id="{E011B6F2-CA97-BA66-0EF7-44A953D715BA}"/>
                </a:ext>
              </a:extLst>
            </p:cNvPr>
            <p:cNvSpPr txBox="1"/>
            <p:nvPr/>
          </p:nvSpPr>
          <p:spPr>
            <a:xfrm>
              <a:off x="9867304" y="5672129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Kontor</a:t>
              </a:r>
              <a:endParaRPr lang="en-US" dirty="0"/>
            </a:p>
          </p:txBody>
        </p:sp>
        <p:pic>
          <p:nvPicPr>
            <p:cNvPr id="54" name="Bild 53" descr="Stad kontur">
              <a:extLst>
                <a:ext uri="{FF2B5EF4-FFF2-40B4-BE49-F238E27FC236}">
                  <a16:creationId xmlns:a16="http://schemas.microsoft.com/office/drawing/2014/main" id="{455084CC-2CB5-5D49-B29D-226CF4D27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672968" y="4600320"/>
              <a:ext cx="1103552" cy="1103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5554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0564EF2-281C-9732-6979-750AC64BE5D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564EF2-281C-9732-6979-750AC64BE5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Picture 2">
            <a:extLst>
              <a:ext uri="{FF2B5EF4-FFF2-40B4-BE49-F238E27FC236}">
                <a16:creationId xmlns:a16="http://schemas.microsoft.com/office/drawing/2014/main" id="{F2BB8AC3-B253-CA3B-2717-A4FB6ED287E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8901" y="549274"/>
            <a:ext cx="807793" cy="317690"/>
          </a:xfrm>
          <a:prstGeom prst="rect">
            <a:avLst/>
          </a:prstGeom>
        </p:spPr>
      </p:pic>
      <p:sp>
        <p:nvSpPr>
          <p:cNvPr id="10" name="Fußzeilenplatzhalter 1">
            <a:extLst>
              <a:ext uri="{FF2B5EF4-FFF2-40B4-BE49-F238E27FC236}">
                <a16:creationId xmlns:a16="http://schemas.microsoft.com/office/drawing/2014/main" id="{8836A6EB-2923-1373-3B5F-5706F828C5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4418" y="6476274"/>
            <a:ext cx="7127765" cy="180114"/>
          </a:xfrm>
        </p:spPr>
        <p:txBody>
          <a:bodyPr lIns="0" tIns="0" rIns="0" bIns="0">
            <a:noAutofit/>
          </a:bodyPr>
          <a:lstStyle/>
          <a:p>
            <a:r>
              <a:rPr lang="en-US" sz="900">
                <a:latin typeface="Arial Nova" panose="020B0504020202020204" pitchFamily="34" charset="0"/>
              </a:rPr>
              <a:t>Effective levers for CO</a:t>
            </a:r>
            <a:r>
              <a:rPr lang="en-US" sz="900" baseline="-25000">
                <a:latin typeface="Arial Nova" panose="020B0504020202020204" pitchFamily="34" charset="0"/>
              </a:rPr>
              <a:t>2</a:t>
            </a:r>
            <a:r>
              <a:rPr lang="en-US" sz="900">
                <a:latin typeface="Arial Nova" panose="020B0504020202020204" pitchFamily="34" charset="0"/>
              </a:rPr>
              <a:t> reduction in existing buildings, April 17, 2024</a:t>
            </a:r>
          </a:p>
        </p:txBody>
      </p:sp>
      <p:sp>
        <p:nvSpPr>
          <p:cNvPr id="11" name="Foliennummernplatzhalter 2">
            <a:extLst>
              <a:ext uri="{FF2B5EF4-FFF2-40B4-BE49-F238E27FC236}">
                <a16:creationId xmlns:a16="http://schemas.microsoft.com/office/drawing/2014/main" id="{9E66E9F7-F592-4224-6C01-279E1D9320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76520" y="6476274"/>
            <a:ext cx="791064" cy="180114"/>
          </a:xfrm>
        </p:spPr>
        <p:txBody>
          <a:bodyPr lIns="0" tIns="0" rIns="0" bIns="0">
            <a:noAutofit/>
          </a:bodyPr>
          <a:lstStyle/>
          <a:p>
            <a:fld id="{7B06F2F6-E945-43FC-BABC-9B8B9FFB3384}" type="slidenum">
              <a:rPr lang="en-US" sz="900" smtClean="0">
                <a:latin typeface="Arial Nova" panose="020B0504020202020204" pitchFamily="34" charset="0"/>
              </a:rPr>
              <a:pPr/>
              <a:t>12</a:t>
            </a:fld>
            <a:endParaRPr lang="en-US" sz="900">
              <a:latin typeface="Arial Nova" panose="020B0504020202020204" pitchFamily="34" charset="0"/>
            </a:endParaRPr>
          </a:p>
        </p:txBody>
      </p:sp>
      <p:pic>
        <p:nvPicPr>
          <p:cNvPr id="2" name="Picture 11">
            <a:extLst>
              <a:ext uri="{FF2B5EF4-FFF2-40B4-BE49-F238E27FC236}">
                <a16:creationId xmlns:a16="http://schemas.microsoft.com/office/drawing/2014/main" id="{27CB1F24-B0B1-B809-DE7F-9CDA010832F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4313" y="4836569"/>
            <a:ext cx="4216410" cy="1457556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AC19C43-489D-3533-73DC-A45A03A05107}"/>
              </a:ext>
            </a:extLst>
          </p:cNvPr>
          <p:cNvSpPr txBox="1"/>
          <p:nvPr/>
        </p:nvSpPr>
        <p:spPr>
          <a:xfrm>
            <a:off x="8386274" y="4564758"/>
            <a:ext cx="3190865" cy="1743968"/>
          </a:xfrm>
          <a:prstGeom prst="rect">
            <a:avLst/>
          </a:prstGeom>
          <a:solidFill>
            <a:schemeClr val="bg2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715963" indent="-715963" algn="ctr">
              <a:tabLst>
                <a:tab pos="1252538" algn="l"/>
              </a:tabLst>
            </a:pPr>
            <a:r>
              <a:rPr lang="en-CH" sz="2800" b="1" dirty="0">
                <a:solidFill>
                  <a:schemeClr val="bg1"/>
                </a:solidFill>
                <a:latin typeface="Arial Nova" panose="020B0504020202020204" pitchFamily="34" charset="0"/>
              </a:rPr>
              <a:t>7 months</a:t>
            </a:r>
          </a:p>
          <a:p>
            <a:pPr marL="715963" indent="-715963" algn="ctr">
              <a:tabLst>
                <a:tab pos="1252538" algn="l"/>
              </a:tabLst>
            </a:pPr>
            <a:r>
              <a:rPr lang="en-CH" sz="2000" dirty="0">
                <a:latin typeface="Arial Nova" panose="020B0504020202020204" pitchFamily="34" charset="0"/>
              </a:rPr>
              <a:t>break-even was reached</a:t>
            </a:r>
          </a:p>
          <a:p>
            <a:pPr marL="715963" indent="-715963" algn="ctr">
              <a:tabLst>
                <a:tab pos="1252538" algn="l"/>
              </a:tabLst>
            </a:pPr>
            <a:r>
              <a:rPr lang="en-CH" sz="2800" b="1" dirty="0">
                <a:solidFill>
                  <a:schemeClr val="bg1"/>
                </a:solidFill>
                <a:latin typeface="Arial Nova" panose="020B0504020202020204" pitchFamily="34" charset="0"/>
              </a:rPr>
              <a:t>2500 tCO</a:t>
            </a:r>
            <a:r>
              <a:rPr lang="en-CH" sz="2800" b="1" baseline="-25000" dirty="0">
                <a:solidFill>
                  <a:schemeClr val="bg1"/>
                </a:solidFill>
                <a:latin typeface="Arial Nova" panose="020B0504020202020204" pitchFamily="34" charset="0"/>
              </a:rPr>
              <a:t>2</a:t>
            </a:r>
            <a:endParaRPr lang="en-CH" sz="2800" b="1" dirty="0">
              <a:solidFill>
                <a:schemeClr val="bg1"/>
              </a:solidFill>
              <a:latin typeface="Arial Nova" panose="020B0504020202020204" pitchFamily="34" charset="0"/>
            </a:endParaRPr>
          </a:p>
          <a:p>
            <a:pPr marL="715963" indent="-715963" algn="ctr">
              <a:tabLst>
                <a:tab pos="1252538" algn="l"/>
              </a:tabLst>
            </a:pPr>
            <a:r>
              <a:rPr lang="en-CH" sz="2000" dirty="0">
                <a:latin typeface="Arial Nova" panose="020B0504020202020204" pitchFamily="34" charset="0"/>
              </a:rPr>
              <a:t>savings</a:t>
            </a:r>
          </a:p>
        </p:txBody>
      </p:sp>
      <p:pic>
        <p:nvPicPr>
          <p:cNvPr id="4" name="Picture Placeholder 6" descr="A group of pipes in a room&#10;&#10;Description automatically generated">
            <a:extLst>
              <a:ext uri="{FF2B5EF4-FFF2-40B4-BE49-F238E27FC236}">
                <a16:creationId xmlns:a16="http://schemas.microsoft.com/office/drawing/2014/main" id="{A2CAFECE-042E-5338-E456-267D9FE67AE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4" t="-781" b="498"/>
          <a:stretch/>
        </p:blipFill>
        <p:spPr>
          <a:xfrm>
            <a:off x="3962400" y="1897757"/>
            <a:ext cx="4216410" cy="238059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031D9C9-4368-3F09-373B-626DF948C37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678" t="1678" r="1678" b="1678"/>
          <a:stretch/>
        </p:blipFill>
        <p:spPr>
          <a:xfrm>
            <a:off x="8386274" y="1897757"/>
            <a:ext cx="3200420" cy="2380591"/>
          </a:xfrm>
          <a:prstGeom prst="rect">
            <a:avLst/>
          </a:prstGeom>
          <a:ln>
            <a:noFill/>
          </a:ln>
        </p:spPr>
      </p:pic>
      <p:pic>
        <p:nvPicPr>
          <p:cNvPr id="12" name="Resim Yer Tutucusu 11">
            <a:extLst>
              <a:ext uri="{FF2B5EF4-FFF2-40B4-BE49-F238E27FC236}">
                <a16:creationId xmlns:a16="http://schemas.microsoft.com/office/drawing/2014/main" id="{CF0B9A34-A927-D868-269B-4E5D4C95EB0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0672" r="5692"/>
          <a:stretch/>
        </p:blipFill>
        <p:spPr>
          <a:xfrm>
            <a:off x="639449" y="1897757"/>
            <a:ext cx="3200420" cy="2382490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DCC380F1-A943-DD14-C0FF-B5BB9D968290}"/>
              </a:ext>
            </a:extLst>
          </p:cNvPr>
          <p:cNvSpPr txBox="1"/>
          <p:nvPr/>
        </p:nvSpPr>
        <p:spPr>
          <a:xfrm>
            <a:off x="3962400" y="4434348"/>
            <a:ext cx="453391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715963" indent="-715963">
              <a:tabLst>
                <a:tab pos="1252538" algn="l"/>
              </a:tabLst>
            </a:pPr>
            <a:r>
              <a:rPr lang="en-CH" sz="1600" b="1" dirty="0">
                <a:solidFill>
                  <a:schemeClr val="bg2"/>
                </a:solidFill>
                <a:latin typeface="Arial Nova" panose="020B0504020202020204" pitchFamily="34" charset="0"/>
              </a:rPr>
              <a:t>200</a:t>
            </a:r>
            <a:r>
              <a:rPr lang="de-DE" sz="1600" dirty="0"/>
              <a:t> </a:t>
            </a:r>
            <a:r>
              <a:rPr lang="en-CH" sz="1600" dirty="0">
                <a:latin typeface="Arial Nova" panose="020B0504020202020204" pitchFamily="34" charset="0"/>
              </a:rPr>
              <a:t>Belimo EnergyValves</a:t>
            </a:r>
            <a:r>
              <a:rPr lang="de-CH" sz="1600" dirty="0">
                <a:latin typeface="Arial Nova" panose="020B0504020202020204" pitchFamily="34" charset="0"/>
              </a:rPr>
              <a:t>™</a:t>
            </a:r>
            <a:r>
              <a:rPr lang="en-CH" sz="1600" dirty="0">
                <a:latin typeface="Arial Nova" panose="020B0504020202020204" pitchFamily="34" charset="0"/>
              </a:rPr>
              <a:t> installed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80B5B9-8DBF-C1D6-89CB-B03EC3AE915F}"/>
              </a:ext>
            </a:extLst>
          </p:cNvPr>
          <p:cNvGrpSpPr/>
          <p:nvPr/>
        </p:nvGrpSpPr>
        <p:grpSpPr>
          <a:xfrm>
            <a:off x="-3901172" y="3996357"/>
            <a:ext cx="6161772" cy="1029935"/>
            <a:chOff x="-3901172" y="3996357"/>
            <a:chExt cx="6161772" cy="1029935"/>
          </a:xfrm>
        </p:grpSpPr>
        <p:pic>
          <p:nvPicPr>
            <p:cNvPr id="15" name="Picture 14" descr="A car in a factory&#10;&#10;Description automatically generated">
              <a:extLst>
                <a:ext uri="{FF2B5EF4-FFF2-40B4-BE49-F238E27FC236}">
                  <a16:creationId xmlns:a16="http://schemas.microsoft.com/office/drawing/2014/main" id="{834B1562-DB9D-F8E1-3664-F348A5317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7376" y="3996357"/>
              <a:ext cx="1543224" cy="1029935"/>
            </a:xfrm>
            <a:prstGeom prst="rect">
              <a:avLst/>
            </a:prstGeom>
            <a:ln w="12700">
              <a:solidFill>
                <a:schemeClr val="bg1"/>
              </a:solidFill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864663F-22CD-CCA4-80BF-BFC20FE55A0B}"/>
                </a:ext>
              </a:extLst>
            </p:cNvPr>
            <p:cNvSpPr txBox="1"/>
            <p:nvPr/>
          </p:nvSpPr>
          <p:spPr>
            <a:xfrm>
              <a:off x="-3901172" y="4210816"/>
              <a:ext cx="3153107" cy="507831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00"/>
                </a:spcAft>
                <a:buClr>
                  <a:srgbClr val="BD2429"/>
                </a:buClr>
                <a:buSzPct val="100000"/>
              </a:pPr>
              <a:r>
                <a:rPr lang="en-US" sz="1400" kern="0">
                  <a:solidFill>
                    <a:schemeClr val="tx1"/>
                  </a:solidFill>
                  <a:latin typeface="Arial Nova" panose="020B0504020202020204" pitchFamily="34" charset="0"/>
                </a:rPr>
                <a:t>Carlos Aranda</a:t>
              </a:r>
            </a:p>
            <a:p>
              <a:pPr algn="l">
                <a:spcBef>
                  <a:spcPts val="0"/>
                </a:spcBef>
                <a:spcAft>
                  <a:spcPts val="600"/>
                </a:spcAft>
                <a:buClr>
                  <a:srgbClr val="BD2429"/>
                </a:buClr>
                <a:buSzPct val="100000"/>
              </a:pPr>
              <a:r>
                <a:rPr lang="en-US" sz="1400" kern="0">
                  <a:solidFill>
                    <a:schemeClr val="tx1"/>
                  </a:solidFill>
                  <a:latin typeface="Arial Nova" panose="020B0504020202020204" pitchFamily="34" charset="0"/>
                </a:rPr>
                <a:t>Free to use under the </a:t>
              </a:r>
              <a:r>
                <a:rPr lang="en-US" sz="1400" kern="0" err="1">
                  <a:solidFill>
                    <a:schemeClr val="tx1"/>
                  </a:solidFill>
                  <a:latin typeface="Arial Nova" panose="020B0504020202020204" pitchFamily="34" charset="0"/>
                </a:rPr>
                <a:t>Unsplash</a:t>
              </a:r>
              <a:r>
                <a:rPr lang="en-US" sz="1400" kern="0">
                  <a:solidFill>
                    <a:schemeClr val="tx1"/>
                  </a:solidFill>
                  <a:latin typeface="Arial Nova" panose="020B0504020202020204" pitchFamily="34" charset="0"/>
                </a:rPr>
                <a:t> License</a:t>
              </a:r>
            </a:p>
          </p:txBody>
        </p:sp>
      </p:grpSp>
      <p:sp>
        <p:nvSpPr>
          <p:cNvPr id="7" name="Textfeld 6">
            <a:extLst>
              <a:ext uri="{FF2B5EF4-FFF2-40B4-BE49-F238E27FC236}">
                <a16:creationId xmlns:a16="http://schemas.microsoft.com/office/drawing/2014/main" id="{6B671AEA-455E-73A3-0795-7F3C61435DC8}"/>
              </a:ext>
            </a:extLst>
          </p:cNvPr>
          <p:cNvSpPr txBox="1"/>
          <p:nvPr/>
        </p:nvSpPr>
        <p:spPr>
          <a:xfrm>
            <a:off x="605306" y="1624185"/>
            <a:ext cx="1692905" cy="35265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Clr>
                <a:srgbClr val="BD2429"/>
              </a:buClr>
              <a:buSzPct val="100000"/>
            </a:pPr>
            <a:r>
              <a:rPr lang="en-US" sz="1600" b="1" kern="0" dirty="0">
                <a:solidFill>
                  <a:schemeClr val="tx1"/>
                </a:solidFill>
                <a:latin typeface="Arial Nova" panose="020B0504020202020204" pitchFamily="34" charset="0"/>
              </a:rPr>
              <a:t>The existing plant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17CA41C-717C-AD01-0906-6BF304080531}"/>
              </a:ext>
            </a:extLst>
          </p:cNvPr>
          <p:cNvSpPr txBox="1"/>
          <p:nvPr/>
        </p:nvSpPr>
        <p:spPr>
          <a:xfrm>
            <a:off x="3944313" y="1624185"/>
            <a:ext cx="1692905" cy="35265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Clr>
                <a:srgbClr val="BD2429"/>
              </a:buClr>
              <a:buSzPct val="100000"/>
            </a:pPr>
            <a:r>
              <a:rPr lang="en-US" sz="1600" b="1" kern="0">
                <a:solidFill>
                  <a:schemeClr val="bg2"/>
                </a:solidFill>
                <a:latin typeface="Arial Nova" panose="020B0504020202020204" pitchFamily="34" charset="0"/>
              </a:rPr>
              <a:t>Targeted retrofit with smart devices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CC3C3F2-ABCA-AD78-654A-91BE824CDF5E}"/>
              </a:ext>
            </a:extLst>
          </p:cNvPr>
          <p:cNvSpPr txBox="1"/>
          <p:nvPr/>
        </p:nvSpPr>
        <p:spPr>
          <a:xfrm>
            <a:off x="8368187" y="1634626"/>
            <a:ext cx="1692905" cy="35265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Clr>
                <a:srgbClr val="BD2429"/>
              </a:buClr>
              <a:buSzPct val="100000"/>
            </a:pPr>
            <a:r>
              <a:rPr lang="en-US" sz="1600" b="1" kern="0">
                <a:solidFill>
                  <a:schemeClr val="tx1"/>
                </a:solidFill>
                <a:latin typeface="Arial Nova" panose="020B0504020202020204" pitchFamily="34" charset="0"/>
              </a:rPr>
              <a:t>The payback</a:t>
            </a:r>
          </a:p>
        </p:txBody>
      </p:sp>
      <p:sp>
        <p:nvSpPr>
          <p:cNvPr id="17" name="Title 13">
            <a:extLst>
              <a:ext uri="{FF2B5EF4-FFF2-40B4-BE49-F238E27FC236}">
                <a16:creationId xmlns:a16="http://schemas.microsoft.com/office/drawing/2014/main" id="{D0C51ED8-E2BF-420C-6DCE-5D759A418692}"/>
              </a:ext>
            </a:extLst>
          </p:cNvPr>
          <p:cNvSpPr txBox="1">
            <a:spLocks/>
          </p:cNvSpPr>
          <p:nvPr/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2900"/>
              </a:lnSpc>
              <a:spcBef>
                <a:spcPct val="0"/>
              </a:spcBef>
              <a:buNone/>
              <a:defRPr sz="2700" b="1" kern="1200" spc="-4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Targeted HVAC controls retrofit</a:t>
            </a:r>
          </a:p>
          <a:p>
            <a:r>
              <a:rPr lang="en-US" sz="2400" dirty="0">
                <a:solidFill>
                  <a:schemeClr val="bg2"/>
                </a:solidFill>
              </a:rPr>
              <a:t>Example of an international automotive manufacturer</a:t>
            </a:r>
          </a:p>
        </p:txBody>
      </p:sp>
    </p:spTree>
    <p:extLst>
      <p:ext uri="{BB962C8B-B14F-4D97-AF65-F5344CB8AC3E}">
        <p14:creationId xmlns:p14="http://schemas.microsoft.com/office/powerpoint/2010/main" val="3749871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C5B8-0883-C3B2-9C7B-2FEE1477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607C-9413-CA10-8AC3-CDE9DAEBD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lang="en-US" dirty="0" err="1"/>
              <a:t>steg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optimera</a:t>
            </a:r>
            <a:r>
              <a:rPr lang="en-US" dirty="0"/>
              <a:t>  </a:t>
            </a:r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217AF632-78E3-5B07-00E3-4E25B69A446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68894" y="1679603"/>
            <a:ext cx="1111307" cy="1104957"/>
          </a:xfrm>
        </p:spPr>
      </p:pic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CA1E068-96F8-55FC-8269-B176A75609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13</a:t>
            </a:fld>
            <a:endParaRPr lang="en-US" dirty="0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FCB8B95E-C751-406F-3842-9D7201816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18" y="4049848"/>
            <a:ext cx="933498" cy="1073205"/>
          </a:xfrm>
          <a:prstGeom prst="rect">
            <a:avLst/>
          </a:prstGeom>
        </p:spPr>
      </p:pic>
      <p:pic>
        <p:nvPicPr>
          <p:cNvPr id="20" name="Bildobjekt 19">
            <a:extLst>
              <a:ext uri="{FF2B5EF4-FFF2-40B4-BE49-F238E27FC236}">
                <a16:creationId xmlns:a16="http://schemas.microsoft.com/office/drawing/2014/main" id="{9F5BCBEE-AA11-9905-51FD-DF65C8119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94" y="2890127"/>
            <a:ext cx="1054154" cy="1054154"/>
          </a:xfrm>
          <a:prstGeom prst="rect">
            <a:avLst/>
          </a:prstGeom>
        </p:spPr>
      </p:pic>
      <p:pic>
        <p:nvPicPr>
          <p:cNvPr id="22" name="Bildobjekt 21">
            <a:extLst>
              <a:ext uri="{FF2B5EF4-FFF2-40B4-BE49-F238E27FC236}">
                <a16:creationId xmlns:a16="http://schemas.microsoft.com/office/drawing/2014/main" id="{717D3779-7F59-036D-322A-FB86CFDF4C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25" y="5241282"/>
            <a:ext cx="1200212" cy="1098606"/>
          </a:xfrm>
          <a:prstGeom prst="rect">
            <a:avLst/>
          </a:prstGeom>
        </p:spPr>
      </p:pic>
      <p:sp>
        <p:nvSpPr>
          <p:cNvPr id="23" name="textruta 22">
            <a:extLst>
              <a:ext uri="{FF2B5EF4-FFF2-40B4-BE49-F238E27FC236}">
                <a16:creationId xmlns:a16="http://schemas.microsoft.com/office/drawing/2014/main" id="{506E27C9-122C-FBDF-7F48-6D7834206DA9}"/>
              </a:ext>
            </a:extLst>
          </p:cNvPr>
          <p:cNvSpPr txBox="1"/>
          <p:nvPr/>
        </p:nvSpPr>
        <p:spPr>
          <a:xfrm>
            <a:off x="2135560" y="1862749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Mätning och övervakning</a:t>
            </a:r>
            <a:endParaRPr lang="en-US" b="1" dirty="0"/>
          </a:p>
        </p:txBody>
      </p:sp>
      <p:sp>
        <p:nvSpPr>
          <p:cNvPr id="24" name="textruta 23">
            <a:extLst>
              <a:ext uri="{FF2B5EF4-FFF2-40B4-BE49-F238E27FC236}">
                <a16:creationId xmlns:a16="http://schemas.microsoft.com/office/drawing/2014/main" id="{B2A4AEC0-395D-6679-07B7-C76216A3FAD8}"/>
              </a:ext>
            </a:extLst>
          </p:cNvPr>
          <p:cNvSpPr txBox="1"/>
          <p:nvPr/>
        </p:nvSpPr>
        <p:spPr>
          <a:xfrm>
            <a:off x="2135558" y="3039513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Identifiera utgångsläget</a:t>
            </a:r>
            <a:endParaRPr lang="en-US" b="1" dirty="0"/>
          </a:p>
        </p:txBody>
      </p:sp>
      <p:sp>
        <p:nvSpPr>
          <p:cNvPr id="25" name="textruta 24">
            <a:extLst>
              <a:ext uri="{FF2B5EF4-FFF2-40B4-BE49-F238E27FC236}">
                <a16:creationId xmlns:a16="http://schemas.microsoft.com/office/drawing/2014/main" id="{D4BA096B-52CB-FB15-9AB4-08C73382ABEC}"/>
              </a:ext>
            </a:extLst>
          </p:cNvPr>
          <p:cNvSpPr txBox="1"/>
          <p:nvPr/>
        </p:nvSpPr>
        <p:spPr>
          <a:xfrm>
            <a:off x="2154401" y="4194330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Optimering</a:t>
            </a:r>
            <a:endParaRPr lang="en-US" b="1" dirty="0"/>
          </a:p>
        </p:txBody>
      </p:sp>
      <p:sp>
        <p:nvSpPr>
          <p:cNvPr id="26" name="textruta 25">
            <a:extLst>
              <a:ext uri="{FF2B5EF4-FFF2-40B4-BE49-F238E27FC236}">
                <a16:creationId xmlns:a16="http://schemas.microsoft.com/office/drawing/2014/main" id="{211D7B43-86CA-D70F-C789-65E34B01B37B}"/>
              </a:ext>
            </a:extLst>
          </p:cNvPr>
          <p:cNvSpPr txBox="1"/>
          <p:nvPr/>
        </p:nvSpPr>
        <p:spPr>
          <a:xfrm>
            <a:off x="2158785" y="5356097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Energiåtervinning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1906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5D37C15-EC55-678D-D466-A817AAC0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3EE1-6D75-B818-6F22-AE234830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lang="en-US" dirty="0" err="1"/>
              <a:t>steg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optimera</a:t>
            </a:r>
            <a:r>
              <a:rPr lang="en-US" dirty="0"/>
              <a:t>  </a:t>
            </a:r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C5525E9F-1AE7-6D1A-8569-D293C4FFB1DC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68894" y="1679603"/>
            <a:ext cx="1111307" cy="1104957"/>
          </a:xfrm>
        </p:spPr>
      </p:pic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CDECFAB-4223-FC3F-F0B7-919854B69B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14</a:t>
            </a:fld>
            <a:endParaRPr lang="en-US" dirty="0"/>
          </a:p>
        </p:txBody>
      </p:sp>
      <p:sp>
        <p:nvSpPr>
          <p:cNvPr id="23" name="textruta 22">
            <a:extLst>
              <a:ext uri="{FF2B5EF4-FFF2-40B4-BE49-F238E27FC236}">
                <a16:creationId xmlns:a16="http://schemas.microsoft.com/office/drawing/2014/main" id="{E118455F-1D02-9248-174E-05D15C597288}"/>
              </a:ext>
            </a:extLst>
          </p:cNvPr>
          <p:cNvSpPr txBox="1"/>
          <p:nvPr/>
        </p:nvSpPr>
        <p:spPr>
          <a:xfrm>
            <a:off x="2135560" y="1862749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Mätning och övervakning</a:t>
            </a:r>
            <a:endParaRPr lang="en-US" b="1" dirty="0"/>
          </a:p>
        </p:txBody>
      </p:sp>
      <p:sp>
        <p:nvSpPr>
          <p:cNvPr id="27" name="textruta 26">
            <a:extLst>
              <a:ext uri="{FF2B5EF4-FFF2-40B4-BE49-F238E27FC236}">
                <a16:creationId xmlns:a16="http://schemas.microsoft.com/office/drawing/2014/main" id="{32407E7B-4C3C-E636-2692-2C152A5B5F99}"/>
              </a:ext>
            </a:extLst>
          </p:cNvPr>
          <p:cNvSpPr txBox="1"/>
          <p:nvPr/>
        </p:nvSpPr>
        <p:spPr>
          <a:xfrm>
            <a:off x="1127448" y="3247582"/>
            <a:ext cx="4464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Kontroll kräver mätning. Kommunikativa ställdon, ventiler och sensorer tillhandahålla ytterligare data för att optimera anläggningens drift.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1517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6FF980-0BEA-A3BE-F16A-B7054DA62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C5B8-B69F-F581-C8C6-28D94143C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lang="en-US" dirty="0" err="1"/>
              <a:t>steg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optimera</a:t>
            </a:r>
            <a:r>
              <a:rPr lang="en-US" dirty="0"/>
              <a:t>  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1525058-B02D-E2D9-38F3-75D98ECE07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15</a:t>
            </a:fld>
            <a:endParaRPr lang="en-US" dirty="0"/>
          </a:p>
        </p:txBody>
      </p:sp>
      <p:pic>
        <p:nvPicPr>
          <p:cNvPr id="20" name="Bildobjekt 19">
            <a:extLst>
              <a:ext uri="{FF2B5EF4-FFF2-40B4-BE49-F238E27FC236}">
                <a16:creationId xmlns:a16="http://schemas.microsoft.com/office/drawing/2014/main" id="{B08E67EA-4B0D-09D5-80B9-F2B9F25B0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18" y="1688391"/>
            <a:ext cx="1054154" cy="1054154"/>
          </a:xfrm>
          <a:prstGeom prst="rect">
            <a:avLst/>
          </a:prstGeom>
        </p:spPr>
      </p:pic>
      <p:sp>
        <p:nvSpPr>
          <p:cNvPr id="24" name="textruta 23">
            <a:extLst>
              <a:ext uri="{FF2B5EF4-FFF2-40B4-BE49-F238E27FC236}">
                <a16:creationId xmlns:a16="http://schemas.microsoft.com/office/drawing/2014/main" id="{BBE655BB-06EB-AA93-8EFB-E1F032CF1C52}"/>
              </a:ext>
            </a:extLst>
          </p:cNvPr>
          <p:cNvSpPr txBox="1"/>
          <p:nvPr/>
        </p:nvSpPr>
        <p:spPr>
          <a:xfrm>
            <a:off x="2191082" y="1837777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Identifiera utgångsläget</a:t>
            </a:r>
            <a:endParaRPr lang="en-US" b="1" dirty="0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541673F0-B062-BFA0-5551-E98224EB5A42}"/>
              </a:ext>
            </a:extLst>
          </p:cNvPr>
          <p:cNvSpPr txBox="1"/>
          <p:nvPr/>
        </p:nvSpPr>
        <p:spPr>
          <a:xfrm>
            <a:off x="1151494" y="3284984"/>
            <a:ext cx="71047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– </a:t>
            </a:r>
            <a:r>
              <a:rPr lang="en-US" b="1" dirty="0" err="1"/>
              <a:t>Jämför</a:t>
            </a:r>
            <a:r>
              <a:rPr lang="en-US" b="1" dirty="0"/>
              <a:t> </a:t>
            </a:r>
            <a:r>
              <a:rPr lang="en-US" b="1" dirty="0" err="1"/>
              <a:t>och</a:t>
            </a:r>
            <a:r>
              <a:rPr lang="en-US" b="1" dirty="0"/>
              <a:t> </a:t>
            </a:r>
            <a:r>
              <a:rPr lang="en-US" b="1" dirty="0" err="1"/>
              <a:t>förbättra</a:t>
            </a:r>
            <a:r>
              <a:rPr lang="en-US" b="1" dirty="0"/>
              <a:t> </a:t>
            </a:r>
            <a:r>
              <a:rPr lang="en-US" b="1" dirty="0" err="1"/>
              <a:t>energihanteringen</a:t>
            </a:r>
            <a:endParaRPr lang="en-US" b="1" dirty="0"/>
          </a:p>
          <a:p>
            <a:r>
              <a:rPr lang="en-US" b="1" dirty="0"/>
              <a:t>– </a:t>
            </a:r>
            <a:r>
              <a:rPr lang="en-US" b="1" dirty="0" err="1"/>
              <a:t>Jämför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byggnad</a:t>
            </a:r>
            <a:r>
              <a:rPr lang="en-US" b="1" dirty="0"/>
              <a:t> med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referens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888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E8005B7-CD78-BD6D-5E7A-DCAFD7D2A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F8FF6-9F73-7773-ED89-6C4616FCE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lang="en-US" dirty="0" err="1"/>
              <a:t>steg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optimera</a:t>
            </a:r>
            <a:r>
              <a:rPr lang="en-US" dirty="0"/>
              <a:t>  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E43FD8A-63A3-BC14-9D45-0EBC666764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16</a:t>
            </a:fld>
            <a:endParaRPr lang="en-US" dirty="0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BDC8839B-F8FD-B5E5-7EE5-04A0180D8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25" y="1556792"/>
            <a:ext cx="933498" cy="1073205"/>
          </a:xfrm>
          <a:prstGeom prst="rect">
            <a:avLst/>
          </a:prstGeom>
        </p:spPr>
      </p:pic>
      <p:sp>
        <p:nvSpPr>
          <p:cNvPr id="25" name="textruta 24">
            <a:extLst>
              <a:ext uri="{FF2B5EF4-FFF2-40B4-BE49-F238E27FC236}">
                <a16:creationId xmlns:a16="http://schemas.microsoft.com/office/drawing/2014/main" id="{D88E8F5B-35F3-33E7-83D0-B2275452E8F5}"/>
              </a:ext>
            </a:extLst>
          </p:cNvPr>
          <p:cNvSpPr txBox="1"/>
          <p:nvPr/>
        </p:nvSpPr>
        <p:spPr>
          <a:xfrm>
            <a:off x="2053308" y="1701274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Optimering</a:t>
            </a:r>
            <a:endParaRPr lang="en-US" b="1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12012093-ECAF-1BDB-C318-22B3475FC050}"/>
              </a:ext>
            </a:extLst>
          </p:cNvPr>
          <p:cNvSpPr txBox="1"/>
          <p:nvPr/>
        </p:nvSpPr>
        <p:spPr>
          <a:xfrm>
            <a:off x="995910" y="3244334"/>
            <a:ext cx="71047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- </a:t>
            </a:r>
            <a:r>
              <a:rPr lang="en-US" b="1" dirty="0" err="1"/>
              <a:t>Hantera</a:t>
            </a:r>
            <a:r>
              <a:rPr lang="en-US" b="1" dirty="0"/>
              <a:t> delta-T för </a:t>
            </a:r>
            <a:r>
              <a:rPr lang="en-US" b="1" dirty="0" err="1"/>
              <a:t>att</a:t>
            </a:r>
            <a:r>
              <a:rPr lang="en-US" b="1" dirty="0"/>
              <a:t> </a:t>
            </a:r>
            <a:r>
              <a:rPr lang="en-US" b="1" dirty="0" err="1"/>
              <a:t>sänka</a:t>
            </a:r>
            <a:r>
              <a:rPr lang="en-US" b="1" dirty="0"/>
              <a:t> </a:t>
            </a:r>
            <a:r>
              <a:rPr lang="en-US" b="1" dirty="0" err="1"/>
              <a:t>flöden</a:t>
            </a:r>
            <a:r>
              <a:rPr lang="en-US" b="1" dirty="0"/>
              <a:t>, </a:t>
            </a:r>
            <a:r>
              <a:rPr lang="en-US" b="1" dirty="0" err="1"/>
              <a:t>temperaturer</a:t>
            </a:r>
            <a:r>
              <a:rPr lang="en-US" b="1" dirty="0"/>
              <a:t> </a:t>
            </a:r>
            <a:r>
              <a:rPr lang="en-US" b="1" dirty="0" err="1"/>
              <a:t>och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slutändan</a:t>
            </a:r>
            <a:r>
              <a:rPr lang="en-US" b="1" dirty="0"/>
              <a:t> </a:t>
            </a:r>
            <a:r>
              <a:rPr lang="en-US" b="1" dirty="0" err="1"/>
              <a:t>optimera</a:t>
            </a:r>
            <a:r>
              <a:rPr lang="en-US" b="1" dirty="0"/>
              <a:t> </a:t>
            </a:r>
            <a:r>
              <a:rPr lang="en-US" b="1" dirty="0" err="1"/>
              <a:t>effektuttaget</a:t>
            </a:r>
            <a:r>
              <a:rPr lang="en-US" b="1" dirty="0"/>
              <a:t>. </a:t>
            </a:r>
            <a:r>
              <a:rPr lang="en-US" b="1" dirty="0" err="1"/>
              <a:t>Zonreglering</a:t>
            </a:r>
            <a:r>
              <a:rPr lang="en-US" b="1" dirty="0"/>
              <a:t> </a:t>
            </a:r>
            <a:r>
              <a:rPr lang="en-US" b="1" dirty="0" err="1"/>
              <a:t>och</a:t>
            </a:r>
            <a:r>
              <a:rPr lang="en-US" b="1" dirty="0"/>
              <a:t> </a:t>
            </a:r>
            <a:r>
              <a:rPr lang="en-US" b="1" dirty="0" err="1"/>
              <a:t>optimering</a:t>
            </a:r>
            <a:r>
              <a:rPr lang="en-US" b="1" dirty="0"/>
              <a:t> </a:t>
            </a:r>
            <a:r>
              <a:rPr lang="en-US" b="1" dirty="0" err="1"/>
              <a:t>efter</a:t>
            </a:r>
            <a:r>
              <a:rPr lang="en-US" b="1" dirty="0"/>
              <a:t> </a:t>
            </a:r>
            <a:r>
              <a:rPr lang="en-US" b="1" dirty="0" err="1"/>
              <a:t>exakt</a:t>
            </a:r>
            <a:r>
              <a:rPr lang="en-US" b="1" dirty="0"/>
              <a:t> </a:t>
            </a:r>
            <a:r>
              <a:rPr lang="en-US" b="1" dirty="0" err="1"/>
              <a:t>behov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055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BA6CD54-07FA-1210-1D5C-FCCB3E46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EABEA-E3D9-00E2-C1F1-9AA2E3AF6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lang="en-US" dirty="0" err="1"/>
              <a:t>steg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optimera</a:t>
            </a:r>
            <a:r>
              <a:rPr lang="en-US" dirty="0"/>
              <a:t>  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B068B43-1B19-6CCC-B0C9-CBF8B100F1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17</a:t>
            </a:fld>
            <a:endParaRPr lang="en-US" dirty="0"/>
          </a:p>
        </p:txBody>
      </p:sp>
      <p:pic>
        <p:nvPicPr>
          <p:cNvPr id="22" name="Bildobjekt 21">
            <a:extLst>
              <a:ext uri="{FF2B5EF4-FFF2-40B4-BE49-F238E27FC236}">
                <a16:creationId xmlns:a16="http://schemas.microsoft.com/office/drawing/2014/main" id="{14A8B69B-293F-B82E-F920-B77572DEB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75" y="1658001"/>
            <a:ext cx="1200212" cy="1098606"/>
          </a:xfrm>
          <a:prstGeom prst="rect">
            <a:avLst/>
          </a:prstGeom>
        </p:spPr>
      </p:pic>
      <p:sp>
        <p:nvSpPr>
          <p:cNvPr id="26" name="textruta 25">
            <a:extLst>
              <a:ext uri="{FF2B5EF4-FFF2-40B4-BE49-F238E27FC236}">
                <a16:creationId xmlns:a16="http://schemas.microsoft.com/office/drawing/2014/main" id="{6DA0DA3D-48EC-B892-A3CE-BCC70E29CD43}"/>
              </a:ext>
            </a:extLst>
          </p:cNvPr>
          <p:cNvSpPr txBox="1"/>
          <p:nvPr/>
        </p:nvSpPr>
        <p:spPr>
          <a:xfrm>
            <a:off x="2262535" y="1772816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Energiåtervinning</a:t>
            </a:r>
            <a:endParaRPr lang="en-US" b="1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05FED97A-46AC-61AF-40BD-B15E94DC5E22}"/>
              </a:ext>
            </a:extLst>
          </p:cNvPr>
          <p:cNvSpPr txBox="1"/>
          <p:nvPr/>
        </p:nvSpPr>
        <p:spPr>
          <a:xfrm>
            <a:off x="995911" y="3244334"/>
            <a:ext cx="49560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- </a:t>
            </a:r>
            <a:r>
              <a:rPr lang="en-US" b="1" dirty="0" err="1"/>
              <a:t>Försöka</a:t>
            </a:r>
            <a:r>
              <a:rPr lang="en-US" b="1" dirty="0"/>
              <a:t> </a:t>
            </a:r>
            <a:r>
              <a:rPr lang="en-US" b="1" dirty="0" err="1"/>
              <a:t>dra</a:t>
            </a:r>
            <a:r>
              <a:rPr lang="en-US" b="1" dirty="0"/>
              <a:t> </a:t>
            </a:r>
            <a:r>
              <a:rPr lang="en-US" b="1" dirty="0" err="1"/>
              <a:t>nytta</a:t>
            </a:r>
            <a:r>
              <a:rPr lang="en-US" b="1" dirty="0"/>
              <a:t> av/</a:t>
            </a:r>
            <a:r>
              <a:rPr lang="en-US" b="1" dirty="0" err="1"/>
              <a:t>återvinna</a:t>
            </a:r>
            <a:r>
              <a:rPr lang="en-US" b="1" dirty="0"/>
              <a:t> </a:t>
            </a:r>
            <a:r>
              <a:rPr lang="en-US" b="1" dirty="0" err="1"/>
              <a:t>energi</a:t>
            </a:r>
            <a:r>
              <a:rPr lang="en-US" b="1" dirty="0"/>
              <a:t> </a:t>
            </a:r>
            <a:r>
              <a:rPr lang="en-US" b="1" dirty="0" err="1"/>
              <a:t>från</a:t>
            </a:r>
            <a:r>
              <a:rPr lang="en-US" b="1" dirty="0"/>
              <a:t> </a:t>
            </a:r>
            <a:r>
              <a:rPr lang="en-US" b="1" dirty="0" err="1"/>
              <a:t>kyl</a:t>
            </a:r>
            <a:r>
              <a:rPr lang="en-US" b="1" dirty="0"/>
              <a:t>-/</a:t>
            </a:r>
            <a:r>
              <a:rPr lang="en-US" b="1" dirty="0" err="1"/>
              <a:t>värmesystem</a:t>
            </a:r>
            <a:r>
              <a:rPr lang="en-US" b="1" dirty="0"/>
              <a:t>.</a:t>
            </a:r>
          </a:p>
          <a:p>
            <a:r>
              <a:rPr lang="en-US" b="1" dirty="0"/>
              <a:t>		 </a:t>
            </a:r>
          </a:p>
        </p:txBody>
      </p:sp>
    </p:spTree>
    <p:extLst>
      <p:ext uri="{BB962C8B-B14F-4D97-AF65-F5344CB8AC3E}">
        <p14:creationId xmlns:p14="http://schemas.microsoft.com/office/powerpoint/2010/main" val="148312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4A3DC-2BE6-68C2-067E-94D112E7A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8A04A-BF22-D2F4-08CC-C0FBF5D10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Sammanfattning</a:t>
            </a:r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8075F21-22D1-5861-D5F1-077801A08F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D6AFF-F4BF-4DB6-9311-2DAAF2B7A94E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116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B584D-9EA2-4380-8A95-0136AAF2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3014AC7-AE6E-56D1-12A4-831394EE31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02038-365C-AFA5-85DC-B99DD0A70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Frågor</a:t>
            </a:r>
            <a:endParaRPr lang="en-US" dirty="0"/>
          </a:p>
          <a:p>
            <a:r>
              <a:rPr lang="en-US" dirty="0" err="1"/>
              <a:t>och</a:t>
            </a:r>
            <a:endParaRPr lang="en-US" dirty="0"/>
          </a:p>
          <a:p>
            <a:r>
              <a:rPr lang="en-US" dirty="0" err="1"/>
              <a:t>diskussion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771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00624-AB7C-9BCA-A0E1-983442FA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8957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BEL1002"/>
  <p:tag name="TEMPLATEID" val="Belimo169Logo"/>
  <p:tag name="LANGUAGEID" val="1033"/>
  <p:tag name="COLORTHEMEID" val="1"/>
  <p:tag name="BRANDID" val="Belimo"/>
  <p:tag name="CLIENT" val="BEL"/>
  <p:tag name="VERSION" val="1001"/>
  <p:tag name="REFERENCEDATE" val="4536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extbo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UPLICATEONIMAGE" val="True"/>
  <p:tag name="SHAPETYPE" val="TransparentOrangeShap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CHARTCOLOR_0" val="-15552166"/>
  <p:tag name="ARS_CHARTCOLOR_1" val="-62438"/>
  <p:tag name="ARS_CHARTCOLOR_2" val="-141460"/>
  <p:tag name="ARS_CHARTCOLOR_3" val="-16759603"/>
  <p:tag name="ARS_CHARTCOLOR_4" val="-16728643"/>
  <p:tag name="ARS_CHARTCOLOR_5" val="-970509"/>
  <p:tag name="ARS_CHARTCOLOR_6" val="-10040012"/>
  <p:tag name="ARS_CHARTCOLOR_7" val="-6593024"/>
  <p:tag name="ARS_CHARTCOLOR_8" val="-16456731"/>
  <p:tag name="ARS_CHARTCOLOR_9" val="-575355"/>
  <p:tag name="ARS_RESPONSETYPE" val="Slid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SLIDE_DUENO" val="100"/>
  <p:tag name="ARS_SLIDE_PARTICIPANTNUM_MEN" val="100"/>
  <p:tag name="ARS_SLIDE_SUBMITNUM_MEN" val="0"/>
  <p:tag name="ARS_SLIDE_PARTICIPANTNUM" val="100"/>
  <p:tag name="ARS_SLIDE_SUBMITNUM" val="0"/>
  <p:tag name="ARS_SLIDE_CORRECTNUM" val="0"/>
  <p:tag name="ARS_SLIDE_VOTEMEAN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heme/theme1.xml><?xml version="1.0" encoding="utf-8"?>
<a:theme xmlns:a="http://schemas.openxmlformats.org/drawingml/2006/main" name="Office-tema">
  <a:themeElements>
    <a:clrScheme name="Belimo">
      <a:dk1>
        <a:srgbClr val="000000"/>
      </a:dk1>
      <a:lt1>
        <a:srgbClr val="FFFFFF"/>
      </a:lt1>
      <a:dk2>
        <a:srgbClr val="C4C4C4"/>
      </a:dk2>
      <a:lt2>
        <a:srgbClr val="FF6600"/>
      </a:lt2>
      <a:accent1>
        <a:srgbClr val="787878"/>
      </a:accent1>
      <a:accent2>
        <a:srgbClr val="C4C4C4"/>
      </a:accent2>
      <a:accent3>
        <a:srgbClr val="437FA3"/>
      </a:accent3>
      <a:accent4>
        <a:srgbClr val="BBDEF0"/>
      </a:accent4>
      <a:accent5>
        <a:srgbClr val="6B2A5E"/>
      </a:accent5>
      <a:accent6>
        <a:srgbClr val="B063A0"/>
      </a:accent6>
      <a:hlink>
        <a:srgbClr val="000000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elimo_169.potx" id="{2D17F227-6A39-464E-9000-1C3955AB9EF9}" vid="{0269C04D-5BD7-41D5-BE18-06E2332DEA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600842-2569-4614-9b46-18c9378b41bb" xsi:nil="true"/>
    <lcf76f155ced4ddcb4097134ff3c332f xmlns="f96aa2d0-cd7f-4655-84c2-9d0c20ea0d26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E80B2AA239B8498F8C40C2DC4633EE" ma:contentTypeVersion="11" ma:contentTypeDescription="Skapa ett nytt dokument." ma:contentTypeScope="" ma:versionID="fc87b651a1074e16e573547b51d64514">
  <xsd:schema xmlns:xsd="http://www.w3.org/2001/XMLSchema" xmlns:xs="http://www.w3.org/2001/XMLSchema" xmlns:p="http://schemas.microsoft.com/office/2006/metadata/properties" xmlns:ns2="f96aa2d0-cd7f-4655-84c2-9d0c20ea0d26" xmlns:ns3="49600842-2569-4614-9b46-18c9378b41bb" targetNamespace="http://schemas.microsoft.com/office/2006/metadata/properties" ma:root="true" ma:fieldsID="f5f1b2a8307683b35a1e550cb2efbf64" ns2:_="" ns3:_="">
    <xsd:import namespace="f96aa2d0-cd7f-4655-84c2-9d0c20ea0d26"/>
    <xsd:import namespace="49600842-2569-4614-9b46-18c9378b4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aa2d0-cd7f-4655-84c2-9d0c20ea0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eringar" ma:readOnly="false" ma:fieldId="{5cf76f15-5ced-4ddc-b409-7134ff3c332f}" ma:taxonomyMulti="true" ma:sspId="6eef0083-667e-4374-ac25-8a5cf9d057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00842-2569-4614-9b46-18c9378b41b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79c40-6216-4d94-9ee9-c884dd6a0a4f}" ma:internalName="TaxCatchAll" ma:showField="CatchAllData" ma:web="49600842-2569-4614-9b46-18c9378b4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9C783E-406D-46E0-8194-9A764FA1A0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47604A-AC66-4F09-997A-B8995B25EC17}">
  <ds:schemaRefs>
    <ds:schemaRef ds:uri="http://schemas.microsoft.com/office/2006/metadata/properties"/>
    <ds:schemaRef ds:uri="http://schemas.microsoft.com/office/infopath/2007/PartnerControls"/>
    <ds:schemaRef ds:uri="f2cf1b0a-023d-431e-a166-c16457bccf9d"/>
    <ds:schemaRef ds:uri="d549b9d6-181e-4214-b341-950143c64e1a"/>
    <ds:schemaRef ds:uri="49600842-2569-4614-9b46-18c9378b41bb"/>
    <ds:schemaRef ds:uri="f96aa2d0-cd7f-4655-84c2-9d0c20ea0d26"/>
  </ds:schemaRefs>
</ds:datastoreItem>
</file>

<file path=customXml/itemProps3.xml><?xml version="1.0" encoding="utf-8"?>
<ds:datastoreItem xmlns:ds="http://schemas.openxmlformats.org/officeDocument/2006/customXml" ds:itemID="{9FB6E113-83E9-4578-8FB5-CF49CCDD43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6aa2d0-cd7f-4655-84c2-9d0c20ea0d26"/>
    <ds:schemaRef ds:uri="49600842-2569-4614-9b46-18c9378b41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Belimo_169</Template>
  <TotalTime>673</TotalTime>
  <Words>992</Words>
  <Application>Microsoft Office PowerPoint</Application>
  <PresentationFormat>Bredbild</PresentationFormat>
  <Paragraphs>183</Paragraphs>
  <Slides>20</Slides>
  <Notes>7</Notes>
  <HiddenSlides>4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20</vt:i4>
      </vt:variant>
    </vt:vector>
  </HeadingPairs>
  <TitlesOfParts>
    <vt:vector size="21" baseType="lpstr">
      <vt:lpstr>Office-tema</vt:lpstr>
      <vt:lpstr>Workshop: VAV i energibesparings- projekt </vt:lpstr>
      <vt:lpstr>PowerPoint-presentation</vt:lpstr>
      <vt:lpstr>Vad är RetroFit+</vt:lpstr>
      <vt:lpstr>Vad är RetroFit+</vt:lpstr>
      <vt:lpstr>Vad är RetroFit+</vt:lpstr>
      <vt:lpstr>Betydelsen av HVAC system Effektiviteten i din utrustning har stor inverkan på ditt VVS-system</vt:lpstr>
      <vt:lpstr>Vad är RetroFit+</vt:lpstr>
      <vt:lpstr>PowerPoint-presentation</vt:lpstr>
      <vt:lpstr>RetroFIT + Utvärderingsverktyg</vt:lpstr>
      <vt:lpstr>5 modules for project management</vt:lpstr>
      <vt:lpstr>Vad är RetroFit+</vt:lpstr>
      <vt:lpstr>PowerPoint-presentation</vt:lpstr>
      <vt:lpstr>4 steg för att optimera  </vt:lpstr>
      <vt:lpstr>4 steg för att optimera  </vt:lpstr>
      <vt:lpstr>4 steg för att optimera  </vt:lpstr>
      <vt:lpstr>4 steg för att optimera  </vt:lpstr>
      <vt:lpstr>4 steg för att optimera  </vt:lpstr>
      <vt:lpstr>Sammanfattning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Belimo Education  RetroFit+</dc:title>
  <dc:creator>Abdo Zaki</dc:creator>
  <cp:lastModifiedBy>Abdo Zaki</cp:lastModifiedBy>
  <cp:revision>19</cp:revision>
  <dcterms:created xsi:type="dcterms:W3CDTF">2024-03-18T16:49:58Z</dcterms:created>
  <dcterms:modified xsi:type="dcterms:W3CDTF">2026-02-16T11:32:04Z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0x0101002DE80B2AA239B8498F8C40C2DC4633EE</vt:lpwstr>
  </property>
  <property fmtid="{D5CDD505-2E9C-101B-9397-08002B2CF9AE}" pid="3" name="Order">
    <vt:r8>13900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MediaServiceImageTags">
    <vt:lpwstr/>
  </property>
</Properties>
</file>