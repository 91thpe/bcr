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1.xml" ContentType="application/vnd.openxmlformats-officedocument.theme+xml"/>
  <Override PartName="/ppt/theme/themeOverride6.xml" ContentType="application/vnd.openxmlformats-officedocument.themeOverride+xml"/>
  <Override PartName="/ppt/theme/themeOverride17.xml" ContentType="application/vnd.openxmlformats-officedocument.themeOverride+xml"/>
  <Override PartName="/ppt/theme/themeOverride10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1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7.xml" ContentType="application/vnd.openxmlformats-officedocument.themeOverride+xml"/>
  <Override PartName="/ppt/theme/themeOverride2.xml" ContentType="application/vnd.openxmlformats-officedocument.themeOverride+xml"/>
  <Override PartName="/ppt/theme/themeOverride5.xml" ContentType="application/vnd.openxmlformats-officedocument.themeOverride+xml"/>
  <Override PartName="/ppt/theme/themeOverride8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Override3.xml" ContentType="application/vnd.openxmlformats-officedocument.themeOverride+xml"/>
  <Override PartName="/ppt/theme/themeOverride9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6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15.xml" ContentType="application/vnd.openxmlformats-officedocument.presentationml.tags+xml"/>
  <Override PartName="/ppt/tags/tag17.xml" ContentType="application/vnd.openxmlformats-officedocument.presentationml.tags+xml"/>
  <Override PartName="/ppt/tags/tag3.xml" ContentType="application/vnd.openxmlformats-officedocument.presentationml.tags+xml"/>
  <Override PartName="/ppt/tags/tag1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521" r:id="rId3"/>
    <p:sldId id="2471" r:id="rId4"/>
    <p:sldId id="258" r:id="rId5"/>
    <p:sldId id="259" r:id="rId6"/>
    <p:sldId id="260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D673A"/>
    <a:srgbClr val="CC5300"/>
    <a:srgbClr val="DA5800"/>
    <a:srgbClr val="E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6618">
              <a:defRPr/>
            </a:pPr>
            <a:fld id="{1116F115-DBCC-407A-A507-B7321B48F516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66618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207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3FB733-73DB-4A67-9FFF-99F5323F55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571EC8-019F-46DF-A354-667DA8F94A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BAA965-9996-440C-9FB0-723CE99CCF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BE46FA-3A48-4A43-99C0-46199B64D8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56CE2-5254-4610-8D54-9D76AF0967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EAE78D-950F-49C7-BDA5-508681A110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BC7523-8A4C-4110-B75B-B3077E4DD0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327D9E-BE73-4D4C-AFE3-58A38304E2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293336-FA09-471C-8A15-D21D13479B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5B6CF-79A1-47F8-A1ED-517486AA62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83F01-F523-417C-B9FE-E2843E2BD1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FB0A9-8738-4A88-87A4-A3610FBE80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89B3A4-76C7-4552-A246-03C89E52D0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E1944F-DF07-4CE5-B37F-003A9A10CF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7BBE49-6490-46B5-B10B-230E51800D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BCC482FB-B64B-4D89-B933-10962CC4B6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sldNum="0"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belimo.com/se/shop/sv_SE/registe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www.belimo.se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 err="1">
                <a:solidFill>
                  <a:schemeClr val="bg1"/>
                </a:solidFill>
              </a:rPr>
              <a:t>Nyckeltal</a:t>
            </a:r>
            <a:r>
              <a:rPr lang="en-US" sz="2000" dirty="0">
                <a:solidFill>
                  <a:schemeClr val="bg1"/>
                </a:solidFill>
              </a:rPr>
              <a:t>: 2361 </a:t>
            </a:r>
            <a:r>
              <a:rPr lang="en-US" sz="2000" dirty="0" err="1">
                <a:solidFill>
                  <a:schemeClr val="bg1"/>
                </a:solidFill>
              </a:rPr>
              <a:t>anställda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verksamma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80 </a:t>
            </a:r>
            <a:r>
              <a:rPr lang="en-US" sz="2000" dirty="0" err="1">
                <a:solidFill>
                  <a:schemeClr val="bg1"/>
                </a:solidFill>
              </a:rPr>
              <a:t>länder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Omsätter</a:t>
            </a:r>
            <a:r>
              <a:rPr lang="en-US" dirty="0">
                <a:solidFill>
                  <a:schemeClr val="bg1"/>
                </a:solidFill>
              </a:rPr>
              <a:t> 943,9 </a:t>
            </a:r>
            <a:r>
              <a:rPr lang="en-US" dirty="0" err="1">
                <a:solidFill>
                  <a:schemeClr val="bg1"/>
                </a:solidFill>
              </a:rPr>
              <a:t>miljoner</a:t>
            </a:r>
            <a:r>
              <a:rPr lang="en-US" dirty="0">
                <a:solidFill>
                  <a:schemeClr val="bg1"/>
                </a:solidFill>
              </a:rPr>
              <a:t> CHF</a:t>
            </a:r>
          </a:p>
          <a:p>
            <a:r>
              <a:rPr lang="en-US" dirty="0">
                <a:solidFill>
                  <a:schemeClr val="bg1"/>
                </a:solidFill>
              </a:rPr>
              <a:t>Lager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Schweiz, </a:t>
            </a:r>
            <a:r>
              <a:rPr lang="en-US" dirty="0" err="1">
                <a:solidFill>
                  <a:schemeClr val="bg1"/>
                </a:solidFill>
              </a:rPr>
              <a:t>Tyskland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Sverige</a:t>
            </a:r>
          </a:p>
          <a:p>
            <a:r>
              <a:rPr lang="en-US" dirty="0" err="1">
                <a:solidFill>
                  <a:schemeClr val="bg1"/>
                </a:solidFill>
              </a:rPr>
              <a:t>Produkter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lösningar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värme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ventilation.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Belimo Automation AG</a:t>
            </a:r>
            <a:br>
              <a:rPr lang="en-US" dirty="0"/>
            </a:br>
            <a:br>
              <a:rPr lang="en-US" dirty="0"/>
            </a:br>
            <a:br>
              <a:rPr lang="en-US" sz="2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2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856" y="677539"/>
            <a:ext cx="10050648" cy="627459"/>
          </a:xfrm>
          <a:noFill/>
        </p:spPr>
        <p:txBody>
          <a:bodyPr/>
          <a:lstStyle/>
          <a:p>
            <a:r>
              <a:rPr lang="sv-SE" dirty="0"/>
              <a:t>Applikationer – Värme, kyla, ventilation</a:t>
            </a:r>
            <a:br>
              <a:rPr lang="sv-SE" dirty="0"/>
            </a:br>
            <a:endParaRPr lang="sv-SE" dirty="0"/>
          </a:p>
        </p:txBody>
      </p:sp>
      <p:sp>
        <p:nvSpPr>
          <p:cNvPr id="38" name="Rechteck 37"/>
          <p:cNvSpPr/>
          <p:nvPr/>
        </p:nvSpPr>
        <p:spPr>
          <a:xfrm>
            <a:off x="1559496" y="4722670"/>
            <a:ext cx="317874" cy="193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6" name="Bildobjekt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1" y="1415816"/>
            <a:ext cx="8638543" cy="3932610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31875A3C-6869-FACD-8FC1-B68207ECA1B4}"/>
              </a:ext>
            </a:extLst>
          </p:cNvPr>
          <p:cNvSpPr txBox="1"/>
          <p:nvPr/>
        </p:nvSpPr>
        <p:spPr>
          <a:xfrm>
            <a:off x="581856" y="5301208"/>
            <a:ext cx="40139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Spjällställdon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Ventiler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Ventilställdon</a:t>
            </a:r>
            <a:r>
              <a:rPr lang="en-US" dirty="0"/>
              <a:t> – </a:t>
            </a:r>
            <a:r>
              <a:rPr lang="en-US" dirty="0" err="1"/>
              <a:t>vridande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linjära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Givare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rumsenheter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9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1E787416-9445-0795-C20C-D5606CB2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153002"/>
            <a:ext cx="4045459" cy="2827310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2C4E3785-9E63-1B5E-5D1E-B2E3C9B15C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495" r="63402" b="18181"/>
          <a:stretch/>
        </p:blipFill>
        <p:spPr>
          <a:xfrm>
            <a:off x="380183" y="1296099"/>
            <a:ext cx="3583787" cy="243257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Belimo </a:t>
            </a:r>
            <a:r>
              <a:rPr lang="en-US" dirty="0" err="1"/>
              <a:t>i</a:t>
            </a:r>
            <a:r>
              <a:rPr lang="en-US" dirty="0"/>
              <a:t> Sverige</a:t>
            </a: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E218F461-DE73-B8CF-1355-AC1595774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48" y="2566657"/>
            <a:ext cx="3467868" cy="3212976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9EFDD6A1-0B23-E8CC-9583-60CB20B1C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166" y="3612000"/>
            <a:ext cx="3383286" cy="2795327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61A26F0D-FC17-48A4-6631-180376DA9B9C}"/>
              </a:ext>
            </a:extLst>
          </p:cNvPr>
          <p:cNvSpPr txBox="1"/>
          <p:nvPr/>
        </p:nvSpPr>
        <p:spPr>
          <a:xfrm>
            <a:off x="501245" y="4399542"/>
            <a:ext cx="3214341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accent3"/>
                </a:solidFill>
                <a:hlinkClick r:id="rId6"/>
              </a:rPr>
              <a:t>www.belimo.se</a:t>
            </a:r>
            <a:endParaRPr lang="en-US" i="1" dirty="0">
              <a:solidFill>
                <a:schemeClr val="accent3"/>
              </a:solidFill>
            </a:endParaRPr>
          </a:p>
          <a:p>
            <a:pPr algn="ctr"/>
            <a:r>
              <a:rPr lang="en-US" i="1" dirty="0"/>
              <a:t>info@belimo.se</a:t>
            </a:r>
          </a:p>
          <a:p>
            <a:pPr algn="ctr"/>
            <a:r>
              <a:rPr lang="en-US" i="1" dirty="0"/>
              <a:t>+46 (0)8 464 0700</a:t>
            </a:r>
          </a:p>
          <a:p>
            <a:pPr algn="ctr"/>
            <a:endParaRPr lang="en-US" i="1" dirty="0"/>
          </a:p>
          <a:p>
            <a:pPr algn="ctr"/>
            <a:r>
              <a:rPr lang="en-US" sz="1400" i="1" dirty="0" err="1"/>
              <a:t>Registrera</a:t>
            </a:r>
            <a:r>
              <a:rPr lang="en-US" sz="1400" i="1" dirty="0"/>
              <a:t> dig </a:t>
            </a:r>
            <a:r>
              <a:rPr lang="en-US" sz="1400" i="1" dirty="0" err="1"/>
              <a:t>på</a:t>
            </a:r>
            <a:r>
              <a:rPr lang="en-US" sz="1400" i="1" dirty="0"/>
              <a:t> </a:t>
            </a:r>
            <a:r>
              <a:rPr lang="en-US" sz="1400" i="1" dirty="0" err="1"/>
              <a:t>vår</a:t>
            </a:r>
            <a:r>
              <a:rPr lang="en-US" sz="1400" i="1" dirty="0"/>
              <a:t> </a:t>
            </a:r>
            <a:r>
              <a:rPr lang="en-US" sz="1400" i="1" dirty="0" err="1"/>
              <a:t>webbshop</a:t>
            </a:r>
            <a:endParaRPr lang="en-US" sz="1400" i="1" dirty="0"/>
          </a:p>
          <a:p>
            <a:r>
              <a:rPr lang="en-US" sz="1400" i="1" dirty="0"/>
              <a:t>	</a:t>
            </a:r>
            <a:r>
              <a:rPr lang="en-US" sz="1400" i="1" dirty="0" err="1"/>
              <a:t>och</a:t>
            </a:r>
            <a:r>
              <a:rPr lang="en-US" sz="1400" i="1" dirty="0"/>
              <a:t> </a:t>
            </a:r>
            <a:r>
              <a:rPr lang="en-US" sz="1400" i="1" dirty="0" err="1"/>
              <a:t>få</a:t>
            </a:r>
            <a:r>
              <a:rPr lang="en-US" sz="1400" i="1" dirty="0"/>
              <a:t> </a:t>
            </a:r>
            <a:r>
              <a:rPr lang="en-US" sz="1400" i="1" dirty="0" err="1"/>
              <a:t>ytterligare</a:t>
            </a:r>
            <a:r>
              <a:rPr lang="en-US" sz="1400" i="1" dirty="0"/>
              <a:t> 2% </a:t>
            </a:r>
            <a:r>
              <a:rPr lang="en-US" sz="1400" i="1" dirty="0" err="1"/>
              <a:t>rabatt</a:t>
            </a:r>
            <a:r>
              <a:rPr lang="en-US" sz="1400" i="1" dirty="0"/>
              <a:t>.</a:t>
            </a:r>
          </a:p>
          <a:p>
            <a:r>
              <a:rPr lang="en-US" sz="1100" i="1" dirty="0">
                <a:hlinkClick r:id="rId7"/>
              </a:rPr>
              <a:t>https://www.belimo.com/se/shop/sv_SE/register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82001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Rabattstruktur</a:t>
            </a:r>
            <a:endParaRPr lang="en-US" dirty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AA586E06-6D46-37C4-0A1B-EBD7857133DD}"/>
              </a:ext>
            </a:extLst>
          </p:cNvPr>
          <p:cNvSpPr txBox="1"/>
          <p:nvPr/>
        </p:nvSpPr>
        <p:spPr>
          <a:xfrm>
            <a:off x="624418" y="1674674"/>
            <a:ext cx="60975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Annual Sales Target	Base discount</a:t>
            </a:r>
            <a:r>
              <a:rPr lang="en-US" sz="1400" dirty="0"/>
              <a:t>*</a:t>
            </a:r>
            <a:endParaRPr lang="en-US" dirty="0"/>
          </a:p>
          <a:p>
            <a:r>
              <a:rPr lang="en-US" dirty="0"/>
              <a:t> ≥ 500 000 					55%</a:t>
            </a:r>
          </a:p>
          <a:p>
            <a:r>
              <a:rPr lang="en-US" dirty="0"/>
              <a:t> ≥ 1 000 000 					58%</a:t>
            </a:r>
          </a:p>
          <a:p>
            <a:r>
              <a:rPr lang="en-US" dirty="0"/>
              <a:t> ≥ 2 000 000 					61%</a:t>
            </a:r>
          </a:p>
          <a:p>
            <a:r>
              <a:rPr lang="en-US" sz="1400" dirty="0"/>
              <a:t>*)Annual base discount based on previous year's total revenue. </a:t>
            </a:r>
          </a:p>
          <a:p>
            <a:r>
              <a:rPr lang="en-US" sz="1400" dirty="0"/>
              <a:t>Additional project discounts may apply for inquiries (RFQ</a:t>
            </a:r>
            <a:r>
              <a:rPr lang="en-US" sz="1400"/>
              <a:t>) exceeding</a:t>
            </a:r>
          </a:p>
          <a:p>
            <a:r>
              <a:rPr lang="en-US" sz="1400"/>
              <a:t>SEK 250 000.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	</a:t>
            </a:r>
          </a:p>
        </p:txBody>
      </p:sp>
      <p:cxnSp>
        <p:nvCxnSpPr>
          <p:cNvPr id="12" name="Rak koppling 11">
            <a:extLst>
              <a:ext uri="{FF2B5EF4-FFF2-40B4-BE49-F238E27FC236}">
                <a16:creationId xmlns:a16="http://schemas.microsoft.com/office/drawing/2014/main" id="{92F32CA2-6CC8-A76D-1C5D-F31E1F2C9C0A}"/>
              </a:ext>
            </a:extLst>
          </p:cNvPr>
          <p:cNvCxnSpPr>
            <a:cxnSpLocks/>
          </p:cNvCxnSpPr>
          <p:nvPr/>
        </p:nvCxnSpPr>
        <p:spPr>
          <a:xfrm>
            <a:off x="2855640" y="2060848"/>
            <a:ext cx="0" cy="57606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7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4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4623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7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Skapa ett nytt dokument." ma:contentTypeScope="" ma:versionID="a52d255dd140e09b9b599b2859d5bb74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dfbe635513f7f889ae7b240fcc6cc589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EC382C-48ED-41FB-AA02-DC8525585C04}"/>
</file>

<file path=customXml/itemProps2.xml><?xml version="1.0" encoding="utf-8"?>
<ds:datastoreItem xmlns:ds="http://schemas.openxmlformats.org/officeDocument/2006/customXml" ds:itemID="{27A0E535-7AEE-484B-8514-49BFB8ECE837}"/>
</file>

<file path=customXml/itemProps3.xml><?xml version="1.0" encoding="utf-8"?>
<ds:datastoreItem xmlns:ds="http://schemas.openxmlformats.org/officeDocument/2006/customXml" ds:itemID="{841C3E97-FCB6-4C27-B870-306977D15330}"/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134</TotalTime>
  <Words>173</Words>
  <Application>Microsoft Office PowerPoint</Application>
  <PresentationFormat>Bredbild</PresentationFormat>
  <Paragraphs>32</Paragraphs>
  <Slides>6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Office-tema</vt:lpstr>
      <vt:lpstr>Belimo Automation AG   </vt:lpstr>
      <vt:lpstr>Applikationer – Värme, kyla, ventilation </vt:lpstr>
      <vt:lpstr>Belimo i Sverige</vt:lpstr>
      <vt:lpstr>Rabattstruktur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Sverige</dc:title>
  <dc:creator>Abdo Zaki</dc:creator>
  <cp:lastModifiedBy>Abdo Zaki</cp:lastModifiedBy>
  <cp:revision>6</cp:revision>
  <dcterms:created xsi:type="dcterms:W3CDTF">2025-04-15T07:20:43Z</dcterms:created>
  <dcterms:modified xsi:type="dcterms:W3CDTF">2025-04-15T09:43:05Z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</Properties>
</file>